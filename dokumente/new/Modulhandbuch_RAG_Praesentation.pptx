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ink/ink1.xml" ContentType="application/inkml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9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40" d="100"/>
          <a:sy n="40" d="100"/>
        </p:scale>
        <p:origin x="312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Hit@1</c:v>
          </c:tx>
          <c:spPr>
            <a:solidFill>
              <a:srgbClr val="2F69D3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900" b="1">
                    <a:solidFill>
                      <a:srgbClr val="111827"/>
                    </a:solidFill>
                  </a:defRPr>
                </a:pPr>
                <a:endParaRPr lang="tr-T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Plain</c:v>
              </c:pt>
              <c:pt idx="1">
                <c:v>+ Query Expansion</c:v>
              </c:pt>
              <c:pt idx="2">
                <c:v>+ Section Boost</c:v>
              </c:pt>
            </c:strLit>
          </c:cat>
          <c:val>
            <c:numLit>
              <c:formatCode>0%</c:formatCode>
              <c:ptCount val="3"/>
              <c:pt idx="0">
                <c:v>0.28000000000000003</c:v>
              </c:pt>
              <c:pt idx="1">
                <c:v>0.56000000000000005</c:v>
              </c:pt>
              <c:pt idx="2">
                <c:v>0.68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571-425C-B7E5-19EB7F502CA2}"/>
            </c:ext>
          </c:extLst>
        </c:ser>
        <c:ser>
          <c:idx val="1"/>
          <c:order val="1"/>
          <c:tx>
            <c:v>Recall@3</c:v>
          </c:tx>
          <c:spPr>
            <a:solidFill>
              <a:srgbClr val="0B8F6A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900" b="1">
                    <a:solidFill>
                      <a:srgbClr val="111827"/>
                    </a:solidFill>
                  </a:defRPr>
                </a:pPr>
                <a:endParaRPr lang="tr-T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Plain</c:v>
              </c:pt>
              <c:pt idx="1">
                <c:v>+ Query Expansion</c:v>
              </c:pt>
              <c:pt idx="2">
                <c:v>+ Section Boost</c:v>
              </c:pt>
            </c:strLit>
          </c:cat>
          <c:val>
            <c:numLit>
              <c:formatCode>0%</c:formatCode>
              <c:ptCount val="3"/>
              <c:pt idx="0">
                <c:v>0.28000000000000003</c:v>
              </c:pt>
              <c:pt idx="1">
                <c:v>0.8</c:v>
              </c:pt>
              <c:pt idx="2">
                <c:v>0.78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0571-425C-B7E5-19EB7F502CA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DE3E6"/>
            </a:solidFill>
            <a:prstDash val="solid"/>
          </a:ln>
        </c:spPr>
        <c:txPr>
          <a:bodyPr anchorCtr="1"/>
          <a:lstStyle/>
          <a:p>
            <a:pPr>
              <a:defRPr sz="900" b="1">
                <a:solidFill>
                  <a:srgbClr val="111827"/>
                </a:solidFill>
              </a:defRPr>
            </a:pPr>
            <a:endParaRPr lang="tr-T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DE3E6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67085"/>
                </a:solidFill>
              </a:defRPr>
            </a:pPr>
            <a:endParaRPr lang="tr-TR"/>
          </a:p>
        </c:txPr>
        <c:crossAx val="48650112"/>
        <c:crosses val="autoZero"/>
        <c:crossBetween val="between"/>
        <c:majorUnit val="0.2"/>
      </c:valAx>
      <c:spPr>
        <a:noFill/>
      </c:spPr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667085"/>
              </a:solidFill>
            </a:defRPr>
          </a:pPr>
          <a:endParaRPr lang="tr-TR"/>
        </a:p>
      </c:txPr>
    </c:legend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Hit@1</c:v>
          </c:tx>
          <c:spPr>
            <a:solidFill>
              <a:srgbClr val="2F69D3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25" b="1">
                    <a:solidFill>
                      <a:srgbClr val="111827"/>
                    </a:solidFill>
                  </a:defRPr>
                </a:pPr>
                <a:endParaRPr lang="tr-T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Dense</c:v>
              </c:pt>
              <c:pt idx="1">
                <c:v>BM25</c:v>
              </c:pt>
              <c:pt idx="2">
                <c:v>Hybrid α=.25</c:v>
              </c:pt>
              <c:pt idx="3">
                <c:v>Hybrid α=.50</c:v>
              </c:pt>
            </c:strLit>
          </c:cat>
          <c:val>
            <c:numLit>
              <c:formatCode>0%</c:formatCode>
              <c:ptCount val="4"/>
              <c:pt idx="0">
                <c:v>0.28000000000000003</c:v>
              </c:pt>
              <c:pt idx="1">
                <c:v>0.68</c:v>
              </c:pt>
              <c:pt idx="2">
                <c:v>0.72</c:v>
              </c:pt>
              <c:pt idx="3">
                <c:v>0.64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9FE-4B38-890D-663CA4C8C523}"/>
            </c:ext>
          </c:extLst>
        </c:ser>
        <c:ser>
          <c:idx val="1"/>
          <c:order val="1"/>
          <c:tx>
            <c:v>Recall@3</c:v>
          </c:tx>
          <c:spPr>
            <a:solidFill>
              <a:srgbClr val="0B8F6A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25" b="1">
                    <a:solidFill>
                      <a:srgbClr val="111827"/>
                    </a:solidFill>
                  </a:defRPr>
                </a:pPr>
                <a:endParaRPr lang="tr-T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Dense</c:v>
              </c:pt>
              <c:pt idx="1">
                <c:v>BM25</c:v>
              </c:pt>
              <c:pt idx="2">
                <c:v>Hybrid α=.25</c:v>
              </c:pt>
              <c:pt idx="3">
                <c:v>Hybrid α=.50</c:v>
              </c:pt>
            </c:strLit>
          </c:cat>
          <c:val>
            <c:numLit>
              <c:formatCode>0%</c:formatCode>
              <c:ptCount val="4"/>
              <c:pt idx="0">
                <c:v>0.4</c:v>
              </c:pt>
              <c:pt idx="1">
                <c:v>0.78</c:v>
              </c:pt>
              <c:pt idx="2">
                <c:v>0.88</c:v>
              </c:pt>
              <c:pt idx="3">
                <c:v>0.9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9FE-4B38-890D-663CA4C8C52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DE3E6"/>
            </a:solidFill>
            <a:prstDash val="solid"/>
          </a:ln>
        </c:spPr>
        <c:txPr>
          <a:bodyPr anchorCtr="1"/>
          <a:lstStyle/>
          <a:p>
            <a:pPr>
              <a:defRPr sz="825" b="1">
                <a:solidFill>
                  <a:srgbClr val="111827"/>
                </a:solidFill>
              </a:defRPr>
            </a:pPr>
            <a:endParaRPr lang="tr-T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DE3E6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67085"/>
                </a:solidFill>
              </a:defRPr>
            </a:pPr>
            <a:endParaRPr lang="tr-TR"/>
          </a:p>
        </c:txPr>
        <c:crossAx val="48650112"/>
        <c:crosses val="autoZero"/>
        <c:crossBetween val="between"/>
        <c:majorUnit val="0.2"/>
      </c:valAx>
      <c:spPr>
        <a:noFill/>
      </c:spPr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667085"/>
              </a:solidFill>
            </a:defRPr>
          </a:pPr>
          <a:endParaRPr lang="tr-TR"/>
        </a:p>
      </c:txPr>
    </c:legend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Hit@1</c:v>
          </c:tx>
          <c:spPr>
            <a:solidFill>
              <a:srgbClr val="2F69D3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900" b="1">
                    <a:solidFill>
                      <a:srgbClr val="111827"/>
                    </a:solidFill>
                  </a:defRPr>
                </a:pPr>
                <a:endParaRPr lang="tr-T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Dense</c:v>
              </c:pt>
              <c:pt idx="1">
                <c:v>BM25</c:v>
              </c:pt>
              <c:pt idx="2">
                <c:v>Hybrid α=.25</c:v>
              </c:pt>
            </c:strLit>
          </c:cat>
          <c:val>
            <c:numLit>
              <c:formatCode>0%</c:formatCode>
              <c:ptCount val="3"/>
              <c:pt idx="0">
                <c:v>0.222</c:v>
              </c:pt>
              <c:pt idx="1">
                <c:v>0.66700000000000004</c:v>
              </c:pt>
              <c:pt idx="2">
                <c:v>0.83299999999999996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790-4376-AD1A-32F41014B0BF}"/>
            </c:ext>
          </c:extLst>
        </c:ser>
        <c:ser>
          <c:idx val="1"/>
          <c:order val="1"/>
          <c:tx>
            <c:v>Recall@3</c:v>
          </c:tx>
          <c:spPr>
            <a:solidFill>
              <a:srgbClr val="0B8F6A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900" b="1">
                    <a:solidFill>
                      <a:srgbClr val="111827"/>
                    </a:solidFill>
                  </a:defRPr>
                </a:pPr>
                <a:endParaRPr lang="tr-T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Dense</c:v>
              </c:pt>
              <c:pt idx="1">
                <c:v>BM25</c:v>
              </c:pt>
              <c:pt idx="2">
                <c:v>Hybrid α=.25</c:v>
              </c:pt>
            </c:strLit>
          </c:cat>
          <c:val>
            <c:numLit>
              <c:formatCode>0%</c:formatCode>
              <c:ptCount val="3"/>
              <c:pt idx="0">
                <c:v>0.44400000000000001</c:v>
              </c:pt>
              <c:pt idx="1">
                <c:v>0.94399999999999995</c:v>
              </c:pt>
              <c:pt idx="2">
                <c:v>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790-4376-AD1A-32F41014B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DE3E6"/>
            </a:solidFill>
            <a:prstDash val="solid"/>
          </a:ln>
        </c:spPr>
        <c:txPr>
          <a:bodyPr anchorCtr="1"/>
          <a:lstStyle/>
          <a:p>
            <a:pPr>
              <a:defRPr sz="900" b="1">
                <a:solidFill>
                  <a:srgbClr val="111827"/>
                </a:solidFill>
              </a:defRPr>
            </a:pPr>
            <a:endParaRPr lang="tr-T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DE3E6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67085"/>
                </a:solidFill>
              </a:defRPr>
            </a:pPr>
            <a:endParaRPr lang="tr-TR"/>
          </a:p>
        </c:txPr>
        <c:crossAx val="48650112"/>
        <c:crosses val="autoZero"/>
        <c:crossBetween val="between"/>
        <c:majorUnit val="0.2"/>
      </c:valAx>
      <c:spPr>
        <a:noFill/>
      </c:spPr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667085"/>
              </a:solidFill>
            </a:defRPr>
          </a:pPr>
          <a:endParaRPr lang="tr-TR"/>
        </a:p>
      </c:txPr>
    </c:legend>
    <c:plotVisOnly val="1"/>
    <c:dispBlanksAs val="zero"/>
    <c:showDLblsOverMax val="1"/>
  </c:chart>
  <c:spPr>
    <a:noFill/>
    <a:ln w="0">
      <a:noFill/>
      <a:prstDash val="solid"/>
    </a:ln>
  </c:spPr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A83FABD6-F28C-26D6-AB25-EC2A471833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D9FB0F5-C16C-F44D-7F1A-689C9338E4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8CBD4-104E-46F8-889D-D04108782B36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71A61D-0DA3-91DE-AC93-2A62337B24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Modulhandbuch-RAG · Selvinaz Tiryaki &amp; Salem Debebe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F8D31F6-94E6-DD19-39FD-1986A6E41E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12BBE4-9D91-4900-B02C-4B2244BA3B9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246602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5T08:10:13.0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24575,'14'0'0,"21"0"0,17 0 0,16 0 0,-3 15 0,0 4 0,6 0 0,4-4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/>
              <a:t>Modulhandbuch-RAG · Selvinaz Tiryaki &amp; Salem Debebe</a:t>
            </a:r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Selvi eröffnet: Ausgangspunkt ist eine einfache Frage mit einer schwierigen Evidenzkette. Danach kurz den Umfang nennen: sieben PDFs technisch verarbeitet, 43 Gold-Anfragen, drei Sprachen.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BD0478-1DBF-CCA5-AEE4-31A1FFF7F97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Beispielanfrage laut vorlesen. Dann die vier Stationen zeigen: PDF, Modul, Abschnitt und Beleg. Der zentrale Punkt: Ein sprachlich plausibler Treffer kann strukturell falsch sein.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93BE8A-0B46-E1BE-BB25-6532A3658E5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Diese Folie trennt bewusst Retrieval und Generierung. Jeder frühe Fehler kann später nur noch schön formuliert werden. Deshalb messen wir zuerst, ob Dokument, Modul und Abschnitt stimmen.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040DBB-24DE-FBEE-A108-04DB94F187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drei Forschungsfragen knapp ankündigen. Erst Chunking, dann Retriever, dann Antwortverhalten. Damit ist zugleich die Struktur der restlichen Präsentation erklärt.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CAF148-75EC-2C38-FFDC-032BBB4FEF6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wissenschaftliche Grenze ausdrücklich sagen: Alle sieben PDFs laufen durch die Pipeline. Qualitätsmetriken stammen aber nur aus dem manuell gelabelten CL-Bachelor-Handbuch. Für die übrigen sechs erfinden wir keine Goldwerte.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B8633-A727-5AE1-259D-DBCE773DC93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Pipeline nur einmal von links nach rechts erklären. Wichtig ist die Policy zwischen Retrieval und Beleg: Nicht jede Anfrage darf direkt an das Sprachmodell weitergegeben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037F08-6A97-2830-4EDF-1A03C4C13B2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Hier die frühere Angabe korrigieren: Naive Chunking verwendet 900 Zeichen mit 120 Zeichen Überlappung, nicht 180 Wörter. Danach den Zielkonflikt erklären: Modulkontext versus feldgenaue Evidenz.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21DD3F-D7FE-3A90-37ED-F965979595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Zuerst das Suchziel wiederholen: Nur das richtige Modul zählt. Dann 96 Prozent Hit@1 hervorheben. Field Chunking bleibt mit 84 Prozent gut, ist aber für die nächste, strengere Aufgabe gedacht.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4A5243-78E2-67AF-BF0D-1AB909D6B8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Dieses Beispiel löst den scheinbaren Widerspruch zwischen hohen Modulwerten und niedrigeren Feldwerten auf. WP3 ist richtig, aber der relevante Abschnitt Inhalte steht erst auf Rang zwei.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47430A-5717-47A7-E31F-0D4D3BA324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Alpha eindeutig definieren: Es ist der Dense-Anteil. Bei alpha 0,25 kommen also 75 Prozent des kombinierten Scores aus BM25. Damit vermeiden wir eine häufige Fehlinterpretation der Ergebnisse.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047B87-28F0-68BE-C093-6210B78F01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Relaxed und strict sind keine zwei Versionen derselben Zahl. Sie prüfen unterschiedliche Ziele. Wir zeigen deshalb strukturell ungeeignete Kombinationen nicht als Nullwerte.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9C3F43-3915-0A28-07DD-0D742829A6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Ablation zeigt, woher die BM25-Leistung kommt. Query Expansion bringt den großen Sprung. Der Section Boost sortiert Rang eins besser, kostet aber zwei Punkte Recall@3 – ein echter Trade-off, kein Fehler.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C3C925-0EB7-42DF-F7C9-C57C808B17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beiden Ziele auseinanderhalten: alpha 0,25 ist die beste Wahl für Rang eins; alpha 0,50 findet mit 90 Prozent etwas mehr in den Top drei. Die korrigierten finalen Werte stammen aus dem deterministischen Release-Lauf.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AEFCAD-E7CD-0105-75F5-2E9C1E456E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Wir vergleichen nicht verschiedene Fragen, sondern dieselben sechs Intentionen in Deutsch, Englisch und Türkisch. Dokument, Modul und Abschnitt im Gold bleiben identisch.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831AC3-A07D-AD0C-4046-E5077780D68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Den vollständigen Recall hervorheben, aber die kleine Stichprobe nennen. BM25 erzielt schon 94,4 Prozent Recall@3. Hybrid verbessert Rang eins und schließt die letzte Recall-Lücke.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180CA7-DC45-C08F-436C-9886BCB5D8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Nicht nur Fehler zeigen: q07 ist bei Hit@1 falsch, hat aber vollständigen Recall@3. q10 ist bei zwei relevanten Goldfeldern nur teilweise vollständig. Rechts den Stresstest strikt als Integritätsprüfung abgrenzen.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A6387C-3D98-BF03-2492-325D7D6737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Diese Auswertung nicht als allgemeine LLM-Qualität verkaufen. Geprüft wird die kontrollierte Systempolitik in sechs Fällen mit je drei Wiederholungen. Die Werte gelten genau für diesen Pilotaufbau.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E7B4D9-058D-3D41-8277-4BDE77EC00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Vor dem Wechsel den Ablauf ankündigen. Genau diese drei Fragen in dieser Reihenfolge eingeben. Falls die Oberfläche nicht startet, sofort auf das Excel-Dashboard und den Antwortpilot wechseln; nicht live debuggen.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9FA954-42C9-0824-093E-89F4D5DB644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1C746-9DB0-3035-B5B8-121788E1E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141AF-A288-C1D6-45A2-DABC6D78E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3BC0E4-A7EA-29F1-5B16-EC96DA42D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Vor dem Wechsel den Ablauf ankündigen. Genau diese drei Fragen in dieser Reihenfolge eingeben. Falls die Oberfläche nicht startet, sofort auf das Excel-Dashboard und den Antwortpilot wechseln; nicht live debuggen.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127A6-798F-0F44-27E2-9CD4FF0A600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FAF7E3-75AB-46E0-2C77-FDB8767FD47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  <p:extLst>
      <p:ext uri="{BB962C8B-B14F-4D97-AF65-F5344CB8AC3E}">
        <p14:creationId xmlns:p14="http://schemas.microsoft.com/office/powerpoint/2010/main" val="14383817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Mit drei belastbaren Befunden schließen. Dann die Grenzen offen nennen. Der letzte Satz ist die gemeinsame Leitidee und eignet sich als Übergang zu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1C07AC-EFCC-0296-2E75-967A5138BA9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Nur bei Nachfrage öffnen. Hit@1 und Recall@3 sind die Hauptmetriken; MRR und nDCG erklären Rangposition und Reihenfolge genauer.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0BC8D3-4C7A-BC3D-B925-22EB073CD3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Nur bei Reproduktionsfragen öffnen. Den einen Release-Befehl, den Commit und 13 bestandene Tests zeigen. Offline bedeutet hier nicht ein anderes Modell, sondern ausschließlich keine externe Versionsprüfung.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A84E4A-EC44-BFF6-0385-FEBA3D12FB1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Salem schließt: Vielen Dank für Ihre Aufmerksamkeit. Wir freuen uns auf Ihre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917BAF-F7EF-8E23-D5BF-3AB1E911A89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ustomXml" Target="../ink/ink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ikdörtgen 17">
            <a:extLst>
              <a:ext uri="{FF2B5EF4-FFF2-40B4-BE49-F238E27FC236}">
                <a16:creationId xmlns:a16="http://schemas.microsoft.com/office/drawing/2014/main" id="{7E6E7D6B-2A47-4152-B9CE-0F96C85153B4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MASTERSEMINAR · LMU MÜNCHEN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8755CAAD-A747-4272-B76F-7A55DF8CF840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709612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 i="0">
                <a:solidFill>
                  <a:srgbClr val="111827"/>
                </a:solidFill>
              </a:defRPr>
            </a:pPr>
            <a:r>
              <a:rPr sz="3225" b="1" i="0">
                <a:solidFill>
                  <a:srgbClr val="111827"/>
                </a:solidFill>
              </a:rPr>
              <a:t>RAG-basierte Suche in</a:t>
            </a:r>
          </a:p>
          <a:p>
            <a:pPr algn="l">
              <a:buNone/>
              <a:defRPr sz="3225" b="1" i="0">
                <a:solidFill>
                  <a:srgbClr val="111827"/>
                </a:solidFill>
              </a:defRPr>
            </a:pPr>
            <a:r>
              <a:rPr sz="3225" b="1" i="0">
                <a:solidFill>
                  <a:srgbClr val="111827"/>
                </a:solidFill>
              </a:rPr>
              <a:t>LMU-Modulhandbüchern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92666DF5-96D4-492C-8607-6652DFE59F27}"/>
              </a:ext>
            </a:extLst>
          </p:cNvPr>
          <p:cNvSpPr>
            <a:spLocks noGrp="1"/>
          </p:cNvSpPr>
          <p:nvPr/>
        </p:nvSpPr>
        <p:spPr>
          <a:xfrm>
            <a:off x="714375" y="2571750"/>
            <a:ext cx="6905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Structure-aware Chunking, multilinguales Retrieval</a:t>
            </a:r>
          </a:p>
          <a:p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und kontrollierte Antwortgenerierung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BD905F6F-A441-4044-85EE-0E04EB57C46E}"/>
              </a:ext>
            </a:extLst>
          </p:cNvPr>
          <p:cNvSpPr>
            <a:spLocks noGrp="1"/>
          </p:cNvSpPr>
          <p:nvPr/>
        </p:nvSpPr>
        <p:spPr>
          <a:xfrm>
            <a:off x="8001000" y="1047750"/>
            <a:ext cx="28575" cy="0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A72CAE1D-731D-476E-B297-2B66F9DE7A09}"/>
              </a:ext>
            </a:extLst>
          </p:cNvPr>
          <p:cNvSpPr>
            <a:spLocks noGrp="1"/>
          </p:cNvSpPr>
          <p:nvPr/>
        </p:nvSpPr>
        <p:spPr>
          <a:xfrm>
            <a:off x="8439150" y="11239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2F69D3"/>
                </a:solidFill>
              </a:defRPr>
            </a:pPr>
            <a:r>
              <a:rPr sz="2850" b="1" i="0">
                <a:solidFill>
                  <a:srgbClr val="2F69D3"/>
                </a:solidFill>
              </a:rPr>
              <a:t>7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271A06AB-624D-4781-90DE-9AB1E7D2BC74}"/>
              </a:ext>
            </a:extLst>
          </p:cNvPr>
          <p:cNvSpPr>
            <a:spLocks noGrp="1"/>
          </p:cNvSpPr>
          <p:nvPr/>
        </p:nvSpPr>
        <p:spPr>
          <a:xfrm>
            <a:off x="8439150" y="15811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PDFs technisch verarbeitet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330BB864-8AD3-44D8-9A66-9ECC8CC0F6ED}"/>
              </a:ext>
            </a:extLst>
          </p:cNvPr>
          <p:cNvSpPr>
            <a:spLocks noGrp="1"/>
          </p:cNvSpPr>
          <p:nvPr/>
        </p:nvSpPr>
        <p:spPr>
          <a:xfrm>
            <a:off x="8439150" y="2238375"/>
            <a:ext cx="2714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0B8F6A"/>
                </a:solidFill>
              </a:defRPr>
            </a:pPr>
            <a:r>
              <a:rPr sz="2850" b="1" i="0">
                <a:solidFill>
                  <a:srgbClr val="0B8F6A"/>
                </a:solidFill>
              </a:rPr>
              <a:t>43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295610CE-20DB-4320-9B37-76BB6A7C46E4}"/>
              </a:ext>
            </a:extLst>
          </p:cNvPr>
          <p:cNvSpPr>
            <a:spLocks noGrp="1"/>
          </p:cNvSpPr>
          <p:nvPr/>
        </p:nvSpPr>
        <p:spPr>
          <a:xfrm>
            <a:off x="8439150" y="2695575"/>
            <a:ext cx="2714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Gold-Anfragen: 25 DE + 18 multilingual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918142E7-DEFC-4C58-81A7-2BAA208982F4}"/>
              </a:ext>
            </a:extLst>
          </p:cNvPr>
          <p:cNvSpPr>
            <a:spLocks noGrp="1"/>
          </p:cNvSpPr>
          <p:nvPr/>
        </p:nvSpPr>
        <p:spPr>
          <a:xfrm>
            <a:off x="8439150" y="335280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D59B14"/>
                </a:solidFill>
              </a:defRPr>
            </a:pPr>
            <a:r>
              <a:rPr sz="2850" b="1" i="0">
                <a:solidFill>
                  <a:srgbClr val="D59B14"/>
                </a:solidFill>
              </a:rPr>
              <a:t>3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F097A9C7-2DBD-4CEA-948B-C1C6208C6612}"/>
              </a:ext>
            </a:extLst>
          </p:cNvPr>
          <p:cNvSpPr>
            <a:spLocks noGrp="1"/>
          </p:cNvSpPr>
          <p:nvPr/>
        </p:nvSpPr>
        <p:spPr>
          <a:xfrm>
            <a:off x="8439150" y="38100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Sprachen: DE · EN · TR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F52537EF-D904-42BE-A801-9C9034716A97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609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Selvinaz Tiryaki · Salem Debebe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2865B9FF-7771-4EBC-BE63-DA22E6B02B92}"/>
              </a:ext>
            </a:extLst>
          </p:cNvPr>
          <p:cNvSpPr>
            <a:spLocks noGrp="1"/>
          </p:cNvSpPr>
          <p:nvPr/>
        </p:nvSpPr>
        <p:spPr>
          <a:xfrm>
            <a:off x="695325" y="4857750"/>
            <a:ext cx="809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Masterseminar Suchmaschinen, Retrieval Augmented Generation und Agentensysteme · 15 Juli 2026</a:t>
            </a:r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1F5520F3-B140-4EAD-856D-5EBFEE8A7E50}"/>
              </a:ext>
            </a:extLst>
          </p:cNvPr>
          <p:cNvSpPr>
            <a:spLocks noGrp="1"/>
          </p:cNvSpPr>
          <p:nvPr/>
        </p:nvSpPr>
        <p:spPr>
          <a:xfrm>
            <a:off x="842200" y="5791200"/>
            <a:ext cx="3476625" cy="266700"/>
          </a:xfrm>
          <a:prstGeom prst="roundRect">
            <a:avLst>
              <a:gd name="adj" fmla="val 50000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CD2841BA-521A-466F-8F5E-EA1A91A3B981}"/>
              </a:ext>
            </a:extLst>
          </p:cNvPr>
          <p:cNvSpPr>
            <a:spLocks noGrp="1"/>
          </p:cNvSpPr>
          <p:nvPr/>
        </p:nvSpPr>
        <p:spPr>
          <a:xfrm>
            <a:off x="781050" y="5800724"/>
            <a:ext cx="3598926" cy="2666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0B8F6A"/>
                </a:solidFill>
              </a:defRPr>
            </a:pPr>
            <a:r>
              <a:rPr sz="1400" b="1" i="0" dirty="0">
                <a:solidFill>
                  <a:srgbClr val="0B8F6A"/>
                </a:solidFill>
              </a:rPr>
              <a:t>Retrieval </a:t>
            </a:r>
            <a:r>
              <a:rPr sz="1400" b="1" i="0" dirty="0" err="1">
                <a:solidFill>
                  <a:srgbClr val="0B8F6A"/>
                </a:solidFill>
              </a:rPr>
              <a:t>zuerst</a:t>
            </a:r>
            <a:r>
              <a:rPr sz="1400" b="1" i="0" dirty="0">
                <a:solidFill>
                  <a:srgbClr val="0B8F6A"/>
                </a:solidFill>
              </a:rPr>
              <a:t>. </a:t>
            </a:r>
            <a:r>
              <a:rPr sz="1400" b="1" i="0" dirty="0" err="1">
                <a:solidFill>
                  <a:srgbClr val="0B8F6A"/>
                </a:solidFill>
              </a:rPr>
              <a:t>Antworten</a:t>
            </a:r>
            <a:r>
              <a:rPr sz="1400" b="1" i="0" dirty="0">
                <a:solidFill>
                  <a:srgbClr val="0B8F6A"/>
                </a:solidFill>
              </a:rPr>
              <a:t> </a:t>
            </a:r>
            <a:r>
              <a:rPr sz="1400" b="1" i="0" dirty="0" err="1">
                <a:solidFill>
                  <a:srgbClr val="0B8F6A"/>
                </a:solidFill>
              </a:rPr>
              <a:t>nur</a:t>
            </a:r>
            <a:r>
              <a:rPr sz="1400" b="1" i="0" dirty="0">
                <a:solidFill>
                  <a:srgbClr val="0B8F6A"/>
                </a:solidFill>
              </a:rPr>
              <a:t> </a:t>
            </a:r>
            <a:r>
              <a:rPr sz="1400" b="1" i="0" dirty="0" err="1">
                <a:solidFill>
                  <a:srgbClr val="0B8F6A"/>
                </a:solidFill>
              </a:rPr>
              <a:t>mit</a:t>
            </a:r>
            <a:r>
              <a:rPr sz="1400" b="1" i="0" dirty="0">
                <a:solidFill>
                  <a:srgbClr val="0B8F6A"/>
                </a:solidFill>
              </a:rPr>
              <a:t> </a:t>
            </a:r>
            <a:r>
              <a:rPr sz="1400" b="1" i="0" dirty="0" err="1">
                <a:solidFill>
                  <a:srgbClr val="0B8F6A"/>
                </a:solidFill>
              </a:rPr>
              <a:t>Evidenz</a:t>
            </a:r>
            <a:r>
              <a:rPr sz="1400" b="1" i="0" dirty="0">
                <a:solidFill>
                  <a:srgbClr val="0B8F6A"/>
                </a:solidFill>
              </a:rPr>
              <a:t>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10C30952-6A0B-4508-9CCB-01A7473B9DF7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52D750B8-6EAF-4010-A056-2FD76C79C85C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3FF8D12A-B30C-4651-ABF8-C9C0933EDE2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85979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Dikdörtgen 28">
            <a:extLst>
              <a:ext uri="{FF2B5EF4-FFF2-40B4-BE49-F238E27FC236}">
                <a16:creationId xmlns:a16="http://schemas.microsoft.com/office/drawing/2014/main" id="{B8EFF3D4-0147-4F43-AA3B-B3AF5644625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MOTIVATION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A6CBFF37-24DF-4668-A4AB-52A65FA1210C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Eine kurze Frage verlangt eine lange Evidenzkette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A752C356-64B3-498D-BE61-16136FEBEBC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C5A74B0F-A360-4903-AE0B-A75AF751F7E7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B1BECE7B-3665-4D26-B218-3A72F99E2BF2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2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C0DB8E41-7FD3-48FA-A0A9-B888C77C7DE2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38100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53C65171-C9EF-473A-A203-097504E68BA6}"/>
              </a:ext>
            </a:extLst>
          </p:cNvPr>
          <p:cNvSpPr>
            <a:spLocks noGrp="1"/>
          </p:cNvSpPr>
          <p:nvPr/>
        </p:nvSpPr>
        <p:spPr>
          <a:xfrm>
            <a:off x="971550" y="1838325"/>
            <a:ext cx="32861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„Welche Prüfungsform hat</a:t>
            </a:r>
          </a:p>
          <a:p>
            <a:pPr algn="l">
              <a:buNone/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WP3 Information Retrieval?“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36F63FDA-A580-4C1A-9738-CE52FA3F2A0D}"/>
              </a:ext>
            </a:extLst>
          </p:cNvPr>
          <p:cNvSpPr>
            <a:spLocks noGrp="1"/>
          </p:cNvSpPr>
          <p:nvPr/>
        </p:nvSpPr>
        <p:spPr>
          <a:xfrm>
            <a:off x="4953000" y="1647825"/>
            <a:ext cx="1352550" cy="1714500"/>
          </a:xfrm>
          <a:prstGeom prst="roundRect">
            <a:avLst>
              <a:gd name="adj" fmla="val 5634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AD1FC69B-7653-4285-A5C6-18537041AEB8}"/>
              </a:ext>
            </a:extLst>
          </p:cNvPr>
          <p:cNvSpPr>
            <a:spLocks noGrp="1"/>
          </p:cNvSpPr>
          <p:nvPr/>
        </p:nvSpPr>
        <p:spPr>
          <a:xfrm>
            <a:off x="5124450" y="1809750"/>
            <a:ext cx="38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 i="0">
                <a:solidFill>
                  <a:srgbClr val="2F69D3"/>
                </a:solidFill>
              </a:defRPr>
            </a:pPr>
            <a:r>
              <a:rPr sz="2250" b="1" i="0">
                <a:solidFill>
                  <a:srgbClr val="2F69D3"/>
                </a:solidFill>
              </a:rPr>
              <a:t>1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585842ED-5926-4F32-B402-5E069F94D20F}"/>
              </a:ext>
            </a:extLst>
          </p:cNvPr>
          <p:cNvSpPr>
            <a:spLocks noGrp="1"/>
          </p:cNvSpPr>
          <p:nvPr/>
        </p:nvSpPr>
        <p:spPr>
          <a:xfrm>
            <a:off x="5124450" y="23050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11827"/>
                </a:solidFill>
              </a:defRPr>
            </a:pPr>
            <a:r>
              <a:rPr sz="1600" b="1" i="0" dirty="0">
                <a:solidFill>
                  <a:srgbClr val="111827"/>
                </a:solidFill>
              </a:rPr>
              <a:t>PDF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DE20B156-AB3B-4C64-9FAB-41582224FBFD}"/>
              </a:ext>
            </a:extLst>
          </p:cNvPr>
          <p:cNvSpPr>
            <a:spLocks noGrp="1"/>
          </p:cNvSpPr>
          <p:nvPr/>
        </p:nvSpPr>
        <p:spPr>
          <a:xfrm>
            <a:off x="5124450" y="2686050"/>
            <a:ext cx="104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Layout lesen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CFE0C1D0-6072-475E-954E-3B6C2333F7F5}"/>
              </a:ext>
            </a:extLst>
          </p:cNvPr>
          <p:cNvSpPr>
            <a:spLocks noGrp="1"/>
          </p:cNvSpPr>
          <p:nvPr/>
        </p:nvSpPr>
        <p:spPr>
          <a:xfrm>
            <a:off x="6324600" y="2266950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 i="0">
                <a:solidFill>
                  <a:srgbClr val="667085"/>
                </a:solidFill>
              </a:defRPr>
            </a:pPr>
            <a:r>
              <a:rPr sz="180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675B6ADB-38B3-4A28-985B-C3AF422E72FE}"/>
              </a:ext>
            </a:extLst>
          </p:cNvPr>
          <p:cNvSpPr>
            <a:spLocks noGrp="1"/>
          </p:cNvSpPr>
          <p:nvPr/>
        </p:nvSpPr>
        <p:spPr>
          <a:xfrm>
            <a:off x="6534150" y="1647825"/>
            <a:ext cx="1352550" cy="1714500"/>
          </a:xfrm>
          <a:prstGeom prst="roundRect">
            <a:avLst>
              <a:gd name="adj" fmla="val 5634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8DFDDE79-BEA7-4FA1-BA64-4AE88BF4CC06}"/>
              </a:ext>
            </a:extLst>
          </p:cNvPr>
          <p:cNvSpPr>
            <a:spLocks noGrp="1"/>
          </p:cNvSpPr>
          <p:nvPr/>
        </p:nvSpPr>
        <p:spPr>
          <a:xfrm>
            <a:off x="6705600" y="1809750"/>
            <a:ext cx="38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 i="0">
                <a:solidFill>
                  <a:srgbClr val="0B8F6A"/>
                </a:solidFill>
              </a:defRPr>
            </a:pPr>
            <a:r>
              <a:rPr sz="2250" b="1" i="0">
                <a:solidFill>
                  <a:srgbClr val="0B8F6A"/>
                </a:solidFill>
              </a:rPr>
              <a:t>2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9C7FEBDE-6C29-4F04-9BC1-C1032C470D09}"/>
              </a:ext>
            </a:extLst>
          </p:cNvPr>
          <p:cNvSpPr>
            <a:spLocks noGrp="1"/>
          </p:cNvSpPr>
          <p:nvPr/>
        </p:nvSpPr>
        <p:spPr>
          <a:xfrm>
            <a:off x="6705600" y="23050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11827"/>
                </a:solidFill>
              </a:defRPr>
            </a:pPr>
            <a:r>
              <a:rPr sz="1600" b="1" i="0" dirty="0">
                <a:solidFill>
                  <a:srgbClr val="111827"/>
                </a:solidFill>
              </a:rPr>
              <a:t>Modul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E6CA42BE-0210-4F6F-9475-5E01665CF7F4}"/>
              </a:ext>
            </a:extLst>
          </p:cNvPr>
          <p:cNvSpPr>
            <a:spLocks noGrp="1"/>
          </p:cNvSpPr>
          <p:nvPr/>
        </p:nvSpPr>
        <p:spPr>
          <a:xfrm>
            <a:off x="6705600" y="2686050"/>
            <a:ext cx="104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WP3 erkennen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45C950A2-630F-4F91-BA4E-91DF91A6E059}"/>
              </a:ext>
            </a:extLst>
          </p:cNvPr>
          <p:cNvSpPr>
            <a:spLocks noGrp="1"/>
          </p:cNvSpPr>
          <p:nvPr/>
        </p:nvSpPr>
        <p:spPr>
          <a:xfrm>
            <a:off x="7905750" y="2266950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 i="0">
                <a:solidFill>
                  <a:srgbClr val="667085"/>
                </a:solidFill>
              </a:defRPr>
            </a:pPr>
            <a:r>
              <a:rPr sz="180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8" name="Dikdörtgen: Köşeleri Yuvarlatılmış 17">
            <a:extLst>
              <a:ext uri="{FF2B5EF4-FFF2-40B4-BE49-F238E27FC236}">
                <a16:creationId xmlns:a16="http://schemas.microsoft.com/office/drawing/2014/main" id="{BAF7936B-C936-4C23-968C-F3BEB1FD2BDE}"/>
              </a:ext>
            </a:extLst>
          </p:cNvPr>
          <p:cNvSpPr>
            <a:spLocks noGrp="1"/>
          </p:cNvSpPr>
          <p:nvPr/>
        </p:nvSpPr>
        <p:spPr>
          <a:xfrm>
            <a:off x="8115300" y="1647825"/>
            <a:ext cx="1352550" cy="1714500"/>
          </a:xfrm>
          <a:prstGeom prst="roundRect">
            <a:avLst>
              <a:gd name="adj" fmla="val 5634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35B3B1AC-BCB7-4862-871A-B2F93DDFEF48}"/>
              </a:ext>
            </a:extLst>
          </p:cNvPr>
          <p:cNvSpPr>
            <a:spLocks noGrp="1"/>
          </p:cNvSpPr>
          <p:nvPr/>
        </p:nvSpPr>
        <p:spPr>
          <a:xfrm>
            <a:off x="8286750" y="1809750"/>
            <a:ext cx="38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 i="0">
                <a:solidFill>
                  <a:srgbClr val="D59B14"/>
                </a:solidFill>
              </a:defRPr>
            </a:pPr>
            <a:r>
              <a:rPr sz="2250" b="1" i="0">
                <a:solidFill>
                  <a:srgbClr val="D59B14"/>
                </a:solidFill>
              </a:rPr>
              <a:t>3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061E3968-9A6E-4BCB-AB89-0CFB9B75D132}"/>
              </a:ext>
            </a:extLst>
          </p:cNvPr>
          <p:cNvSpPr>
            <a:spLocks noGrp="1"/>
          </p:cNvSpPr>
          <p:nvPr/>
        </p:nvSpPr>
        <p:spPr>
          <a:xfrm>
            <a:off x="8286750" y="23050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11827"/>
                </a:solidFill>
              </a:defRPr>
            </a:pPr>
            <a:r>
              <a:rPr sz="1600" b="1" i="0" dirty="0" err="1">
                <a:solidFill>
                  <a:srgbClr val="111827"/>
                </a:solidFill>
              </a:rPr>
              <a:t>Abschnitt</a:t>
            </a:r>
            <a:endParaRPr sz="1600" b="1" i="0" dirty="0">
              <a:solidFill>
                <a:srgbClr val="111827"/>
              </a:solidFill>
            </a:endParaRP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4F2FE3A0-1D65-4D02-BDDC-7885AC392220}"/>
              </a:ext>
            </a:extLst>
          </p:cNvPr>
          <p:cNvSpPr>
            <a:spLocks noGrp="1"/>
          </p:cNvSpPr>
          <p:nvPr/>
        </p:nvSpPr>
        <p:spPr>
          <a:xfrm>
            <a:off x="8286750" y="2686050"/>
            <a:ext cx="104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Prüfungsform treffen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09228927-B817-4168-A9DE-B15415A4D67E}"/>
              </a:ext>
            </a:extLst>
          </p:cNvPr>
          <p:cNvSpPr>
            <a:spLocks noGrp="1"/>
          </p:cNvSpPr>
          <p:nvPr/>
        </p:nvSpPr>
        <p:spPr>
          <a:xfrm>
            <a:off x="9486900" y="2266950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 i="0">
                <a:solidFill>
                  <a:srgbClr val="667085"/>
                </a:solidFill>
              </a:defRPr>
            </a:pPr>
            <a:r>
              <a:rPr sz="180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3" name="Dikdörtgen: Köşeleri Yuvarlatılmış 22">
            <a:extLst>
              <a:ext uri="{FF2B5EF4-FFF2-40B4-BE49-F238E27FC236}">
                <a16:creationId xmlns:a16="http://schemas.microsoft.com/office/drawing/2014/main" id="{8CBB9143-C41B-4DCB-8158-4F28F2FE5C37}"/>
              </a:ext>
            </a:extLst>
          </p:cNvPr>
          <p:cNvSpPr>
            <a:spLocks noGrp="1"/>
          </p:cNvSpPr>
          <p:nvPr/>
        </p:nvSpPr>
        <p:spPr>
          <a:xfrm>
            <a:off x="9696450" y="1647825"/>
            <a:ext cx="1352550" cy="1714500"/>
          </a:xfrm>
          <a:prstGeom prst="roundRect">
            <a:avLst>
              <a:gd name="adj" fmla="val 5634"/>
            </a:avLst>
          </a:prstGeom>
          <a:solidFill>
            <a:srgbClr val="FDEB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7E25F15F-DB5A-4FAA-83BD-02DC72F2B481}"/>
              </a:ext>
            </a:extLst>
          </p:cNvPr>
          <p:cNvSpPr>
            <a:spLocks noGrp="1"/>
          </p:cNvSpPr>
          <p:nvPr/>
        </p:nvSpPr>
        <p:spPr>
          <a:xfrm>
            <a:off x="9867900" y="1809750"/>
            <a:ext cx="38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 i="0">
                <a:solidFill>
                  <a:srgbClr val="E05D4B"/>
                </a:solidFill>
              </a:defRPr>
            </a:pPr>
            <a:r>
              <a:rPr sz="2250" b="1" i="0">
                <a:solidFill>
                  <a:srgbClr val="E05D4B"/>
                </a:solidFill>
              </a:rPr>
              <a:t>4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3CEB8CF6-7144-4F93-9740-5B016FCB377A}"/>
              </a:ext>
            </a:extLst>
          </p:cNvPr>
          <p:cNvSpPr>
            <a:spLocks noGrp="1"/>
          </p:cNvSpPr>
          <p:nvPr/>
        </p:nvSpPr>
        <p:spPr>
          <a:xfrm>
            <a:off x="9867900" y="23050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11827"/>
                </a:solidFill>
              </a:defRPr>
            </a:pPr>
            <a:r>
              <a:rPr sz="1600" b="1" i="0" dirty="0" err="1">
                <a:solidFill>
                  <a:srgbClr val="111827"/>
                </a:solidFill>
              </a:rPr>
              <a:t>Beleg</a:t>
            </a:r>
            <a:endParaRPr sz="1600" b="1" i="0" dirty="0">
              <a:solidFill>
                <a:srgbClr val="111827"/>
              </a:solidFill>
            </a:endParaRP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1341F589-6685-46A9-8BA1-E1DAF6ED636A}"/>
              </a:ext>
            </a:extLst>
          </p:cNvPr>
          <p:cNvSpPr>
            <a:spLocks noGrp="1"/>
          </p:cNvSpPr>
          <p:nvPr/>
        </p:nvSpPr>
        <p:spPr>
          <a:xfrm>
            <a:off x="9867900" y="2686050"/>
            <a:ext cx="104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Seite + Quelle zeigen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D6632322-6E78-443A-B7CA-F571F97104FB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Modulhandbücher sind layoutreiche Dokumente – keine sauberen Datenbanken.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E205AEC5-01F4-47EE-960D-E613F4EBD146}"/>
              </a:ext>
            </a:extLst>
          </p:cNvPr>
          <p:cNvSpPr>
            <a:spLocks noGrp="1"/>
          </p:cNvSpPr>
          <p:nvPr/>
        </p:nvSpPr>
        <p:spPr>
          <a:xfrm>
            <a:off x="704850" y="4743450"/>
            <a:ext cx="9906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Tabellen, wiederholte Feldnamen und ähnliche Modulcodes machen einen plausiblen Treffer noch nicht zu einem korrekten Beleg.</a:t>
            </a:r>
          </a:p>
        </p:txBody>
      </p:sp>
    </p:spTree>
    <p:extLst>
      <p:ext uri="{BB962C8B-B14F-4D97-AF65-F5344CB8AC3E}">
        <p14:creationId xmlns:p14="http://schemas.microsoft.com/office/powerpoint/2010/main" val="2037574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>
            <a:extLst>
              <a:ext uri="{FF2B5EF4-FFF2-40B4-BE49-F238E27FC236}">
                <a16:creationId xmlns:a16="http://schemas.microsoft.com/office/drawing/2014/main" id="{F0296849-21B9-4AE1-9AF2-12C7C85662C2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MOTIVATION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E1A69CAA-38D3-4E4D-90F4-4AD9255EC34F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Ein früher Fehler wandert bis in die Antwort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688BFA45-51F0-4573-9E10-C86C3480925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73835D6F-E98C-4CF1-8793-3FE2C4195A8A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9A5B14CF-18FE-4DAA-A51E-8FAAAA694050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3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23F4E328-66B3-481C-9389-80670DC89122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2381250" cy="1695450"/>
          </a:xfrm>
          <a:prstGeom prst="roundRect">
            <a:avLst>
              <a:gd name="adj" fmla="val 674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9A736ECA-4431-410F-9266-3C1273C783FA}"/>
              </a:ext>
            </a:extLst>
          </p:cNvPr>
          <p:cNvSpPr>
            <a:spLocks noGrp="1"/>
          </p:cNvSpPr>
          <p:nvPr/>
        </p:nvSpPr>
        <p:spPr>
          <a:xfrm>
            <a:off x="895350" y="18478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2F69D3"/>
                </a:solidFill>
              </a:defRPr>
            </a:pPr>
            <a:r>
              <a:rPr sz="1050" b="1" i="0">
                <a:solidFill>
                  <a:srgbClr val="2F69D3"/>
                </a:solidFill>
              </a:rPr>
              <a:t>01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1D3FEFE8-1C3B-4B14-B164-25CD3AAEE572}"/>
              </a:ext>
            </a:extLst>
          </p:cNvPr>
          <p:cNvSpPr>
            <a:spLocks noGrp="1"/>
          </p:cNvSpPr>
          <p:nvPr/>
        </p:nvSpPr>
        <p:spPr>
          <a:xfrm>
            <a:off x="895350" y="2190750"/>
            <a:ext cx="1952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Parsing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E9F63D9B-86DB-4E3A-8470-832E8785C2BD}"/>
              </a:ext>
            </a:extLst>
          </p:cNvPr>
          <p:cNvSpPr>
            <a:spLocks noGrp="1"/>
          </p:cNvSpPr>
          <p:nvPr/>
        </p:nvSpPr>
        <p:spPr>
          <a:xfrm>
            <a:off x="895350" y="2695575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Zeilen und Tabellen</a:t>
            </a:r>
          </a:p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werden falsch gelesen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8573087A-DF33-45CB-A100-76AF6C0C79AD}"/>
              </a:ext>
            </a:extLst>
          </p:cNvPr>
          <p:cNvSpPr>
            <a:spLocks noGrp="1"/>
          </p:cNvSpPr>
          <p:nvPr/>
        </p:nvSpPr>
        <p:spPr>
          <a:xfrm>
            <a:off x="3086100" y="2314575"/>
            <a:ext cx="323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 i="0">
                <a:solidFill>
                  <a:srgbClr val="667085"/>
                </a:solidFill>
              </a:defRPr>
            </a:pPr>
            <a:r>
              <a:rPr sz="225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4CF86D42-3587-4E55-8094-CDCA2EC9E45E}"/>
              </a:ext>
            </a:extLst>
          </p:cNvPr>
          <p:cNvSpPr>
            <a:spLocks noGrp="1"/>
          </p:cNvSpPr>
          <p:nvPr/>
        </p:nvSpPr>
        <p:spPr>
          <a:xfrm>
            <a:off x="3409950" y="1666875"/>
            <a:ext cx="2381250" cy="1695450"/>
          </a:xfrm>
          <a:prstGeom prst="roundRect">
            <a:avLst>
              <a:gd name="adj" fmla="val 674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954AAFA-64BA-4F65-83F2-FA08489A6914}"/>
              </a:ext>
            </a:extLst>
          </p:cNvPr>
          <p:cNvSpPr>
            <a:spLocks noGrp="1"/>
          </p:cNvSpPr>
          <p:nvPr/>
        </p:nvSpPr>
        <p:spPr>
          <a:xfrm>
            <a:off x="3619500" y="18478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0B8F6A"/>
                </a:solidFill>
              </a:defRPr>
            </a:pPr>
            <a:r>
              <a:rPr sz="1050" b="1" i="0">
                <a:solidFill>
                  <a:srgbClr val="0B8F6A"/>
                </a:solidFill>
              </a:rPr>
              <a:t>02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43127EDC-07CD-482E-A2DE-107D4E249BB4}"/>
              </a:ext>
            </a:extLst>
          </p:cNvPr>
          <p:cNvSpPr>
            <a:spLocks noGrp="1"/>
          </p:cNvSpPr>
          <p:nvPr/>
        </p:nvSpPr>
        <p:spPr>
          <a:xfrm>
            <a:off x="3619500" y="2190750"/>
            <a:ext cx="1952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Chunking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834B3A72-0167-4ECF-8B97-4BAF56E0C219}"/>
              </a:ext>
            </a:extLst>
          </p:cNvPr>
          <p:cNvSpPr>
            <a:spLocks noGrp="1"/>
          </p:cNvSpPr>
          <p:nvPr/>
        </p:nvSpPr>
        <p:spPr>
          <a:xfrm>
            <a:off x="3619500" y="2695575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Felder verlieren ihren</a:t>
            </a:r>
          </a:p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Modulkontext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8E50A834-CEBF-4B51-86FB-7A4144A789DC}"/>
              </a:ext>
            </a:extLst>
          </p:cNvPr>
          <p:cNvSpPr>
            <a:spLocks noGrp="1"/>
          </p:cNvSpPr>
          <p:nvPr/>
        </p:nvSpPr>
        <p:spPr>
          <a:xfrm>
            <a:off x="5810250" y="2314575"/>
            <a:ext cx="323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 i="0">
                <a:solidFill>
                  <a:srgbClr val="667085"/>
                </a:solidFill>
              </a:defRPr>
            </a:pPr>
            <a:r>
              <a:rPr sz="225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A152C947-3508-4970-B786-03E79DECAA6D}"/>
              </a:ext>
            </a:extLst>
          </p:cNvPr>
          <p:cNvSpPr>
            <a:spLocks noGrp="1"/>
          </p:cNvSpPr>
          <p:nvPr/>
        </p:nvSpPr>
        <p:spPr>
          <a:xfrm>
            <a:off x="6134100" y="1666875"/>
            <a:ext cx="2381250" cy="1695450"/>
          </a:xfrm>
          <a:prstGeom prst="roundRect">
            <a:avLst>
              <a:gd name="adj" fmla="val 674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39846491-C790-48AB-9883-EC53AD028126}"/>
              </a:ext>
            </a:extLst>
          </p:cNvPr>
          <p:cNvSpPr>
            <a:spLocks noGrp="1"/>
          </p:cNvSpPr>
          <p:nvPr/>
        </p:nvSpPr>
        <p:spPr>
          <a:xfrm>
            <a:off x="6343650" y="18478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D59B14"/>
                </a:solidFill>
              </a:defRPr>
            </a:pPr>
            <a:r>
              <a:rPr sz="1050" b="1" i="0">
                <a:solidFill>
                  <a:srgbClr val="D59B14"/>
                </a:solidFill>
              </a:rPr>
              <a:t>03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914F1C34-0558-4E79-82CF-A636717BC367}"/>
              </a:ext>
            </a:extLst>
          </p:cNvPr>
          <p:cNvSpPr>
            <a:spLocks noGrp="1"/>
          </p:cNvSpPr>
          <p:nvPr/>
        </p:nvSpPr>
        <p:spPr>
          <a:xfrm>
            <a:off x="6343650" y="2190750"/>
            <a:ext cx="1952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Retrieval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95865430-25EE-4132-A7A4-E22F00ABDD88}"/>
              </a:ext>
            </a:extLst>
          </p:cNvPr>
          <p:cNvSpPr>
            <a:spLocks noGrp="1"/>
          </p:cNvSpPr>
          <p:nvPr/>
        </p:nvSpPr>
        <p:spPr>
          <a:xfrm>
            <a:off x="6343650" y="2695575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richtiges Thema,</a:t>
            </a:r>
          </a:p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falscher Abschnitt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7C875A82-AF39-4078-9054-7F10222D737E}"/>
              </a:ext>
            </a:extLst>
          </p:cNvPr>
          <p:cNvSpPr>
            <a:spLocks noGrp="1"/>
          </p:cNvSpPr>
          <p:nvPr/>
        </p:nvSpPr>
        <p:spPr>
          <a:xfrm>
            <a:off x="8534400" y="2314575"/>
            <a:ext cx="323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 i="0">
                <a:solidFill>
                  <a:srgbClr val="667085"/>
                </a:solidFill>
              </a:defRPr>
            </a:pPr>
            <a:r>
              <a:rPr sz="225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1" name="Dikdörtgen: Köşeleri Yuvarlatılmış 20">
            <a:extLst>
              <a:ext uri="{FF2B5EF4-FFF2-40B4-BE49-F238E27FC236}">
                <a16:creationId xmlns:a16="http://schemas.microsoft.com/office/drawing/2014/main" id="{3109543F-2098-4F25-A027-25D26CE1CA85}"/>
              </a:ext>
            </a:extLst>
          </p:cNvPr>
          <p:cNvSpPr>
            <a:spLocks noGrp="1"/>
          </p:cNvSpPr>
          <p:nvPr/>
        </p:nvSpPr>
        <p:spPr>
          <a:xfrm>
            <a:off x="8858250" y="1666875"/>
            <a:ext cx="2381250" cy="1695450"/>
          </a:xfrm>
          <a:prstGeom prst="roundRect">
            <a:avLst>
              <a:gd name="adj" fmla="val 674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BE9AF31F-8250-4288-9118-02A14C5F570D}"/>
              </a:ext>
            </a:extLst>
          </p:cNvPr>
          <p:cNvSpPr>
            <a:spLocks noGrp="1"/>
          </p:cNvSpPr>
          <p:nvPr/>
        </p:nvSpPr>
        <p:spPr>
          <a:xfrm>
            <a:off x="9067800" y="18478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E05D4B"/>
                </a:solidFill>
              </a:defRPr>
            </a:pPr>
            <a:r>
              <a:rPr sz="1050" b="1" i="0">
                <a:solidFill>
                  <a:srgbClr val="E05D4B"/>
                </a:solidFill>
              </a:rPr>
              <a:t>04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242D9016-1128-449B-9F75-EC40E64AFF75}"/>
              </a:ext>
            </a:extLst>
          </p:cNvPr>
          <p:cNvSpPr>
            <a:spLocks noGrp="1"/>
          </p:cNvSpPr>
          <p:nvPr/>
        </p:nvSpPr>
        <p:spPr>
          <a:xfrm>
            <a:off x="9067800" y="2190750"/>
            <a:ext cx="1952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Antwort</a:t>
            </a: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7E5FFFE5-2497-4232-8FC7-8B7BA575475A}"/>
              </a:ext>
            </a:extLst>
          </p:cNvPr>
          <p:cNvSpPr>
            <a:spLocks noGrp="1"/>
          </p:cNvSpPr>
          <p:nvPr/>
        </p:nvSpPr>
        <p:spPr>
          <a:xfrm>
            <a:off x="9067800" y="2695575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flüssig formuliert,</a:t>
            </a:r>
          </a:p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aber nicht belegt</a:t>
            </a:r>
          </a:p>
        </p:txBody>
      </p:sp>
      <p:sp>
        <p:nvSpPr>
          <p:cNvPr id="25" name="Dikdörtgen: Köşeleri Yuvarlatılmış 24">
            <a:extLst>
              <a:ext uri="{FF2B5EF4-FFF2-40B4-BE49-F238E27FC236}">
                <a16:creationId xmlns:a16="http://schemas.microsoft.com/office/drawing/2014/main" id="{CB6E3EF1-877A-4D3B-8918-709C77464D9E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10820400" cy="1085850"/>
          </a:xfrm>
          <a:prstGeom prst="roundRect">
            <a:avLst>
              <a:gd name="adj" fmla="val 10526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D755E9A4-321A-4047-A682-BC92BA06CF9F}"/>
              </a:ext>
            </a:extLst>
          </p:cNvPr>
          <p:cNvSpPr>
            <a:spLocks noGrp="1"/>
          </p:cNvSpPr>
          <p:nvPr/>
        </p:nvSpPr>
        <p:spPr>
          <a:xfrm>
            <a:off x="990600" y="4314825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C8D2DC"/>
                </a:solidFill>
              </a:defRPr>
            </a:pPr>
            <a:r>
              <a:rPr sz="1200" b="1" i="0">
                <a:solidFill>
                  <a:srgbClr val="C8D2DC"/>
                </a:solidFill>
              </a:rPr>
              <a:t>Daraus folgt unsere Messlogik: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A3DD7B96-7519-403A-B27A-6B6D1FF82084}"/>
              </a:ext>
            </a:extLst>
          </p:cNvPr>
          <p:cNvSpPr>
            <a:spLocks noGrp="1"/>
          </p:cNvSpPr>
          <p:nvPr/>
        </p:nvSpPr>
        <p:spPr>
          <a:xfrm>
            <a:off x="990600" y="466725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Erst Retrieval messen. Dann Antworten bewerten.</a:t>
            </a:r>
          </a:p>
        </p:txBody>
      </p:sp>
    </p:spTree>
    <p:extLst>
      <p:ext uri="{BB962C8B-B14F-4D97-AF65-F5344CB8AC3E}">
        <p14:creationId xmlns:p14="http://schemas.microsoft.com/office/powerpoint/2010/main" val="1820012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ikdörtgen 20">
            <a:extLst>
              <a:ext uri="{FF2B5EF4-FFF2-40B4-BE49-F238E27FC236}">
                <a16:creationId xmlns:a16="http://schemas.microsoft.com/office/drawing/2014/main" id="{5B1D8156-2E2F-43CD-A51E-5BC86EE8798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FORSCHUNGSFRAGEN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B601CC2E-AC02-4B94-B75A-58F63AEB7AF2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Drei Entscheidungen bestimmen die Qualität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89A8236E-D972-4A85-8CF2-4C735B4002E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2B0A1908-E5F2-4FD1-8A15-EE6D77170F5B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A191329D-1F2F-4E33-8B55-30B5DCB1213C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4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6EC17E6A-E8C1-436B-A49E-111704FD43E4}"/>
              </a:ext>
            </a:extLst>
          </p:cNvPr>
          <p:cNvSpPr>
            <a:spLocks noGrp="1"/>
          </p:cNvSpPr>
          <p:nvPr/>
        </p:nvSpPr>
        <p:spPr>
          <a:xfrm>
            <a:off x="704850" y="1647825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 i="0">
                <a:solidFill>
                  <a:srgbClr val="2F69D3"/>
                </a:solidFill>
              </a:defRPr>
            </a:pPr>
            <a:r>
              <a:rPr sz="2175" b="1" i="0">
                <a:solidFill>
                  <a:srgbClr val="2F69D3"/>
                </a:solidFill>
              </a:rPr>
              <a:t>01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93C68CEA-DAFA-4F05-856E-DE11613F7328}"/>
              </a:ext>
            </a:extLst>
          </p:cNvPr>
          <p:cNvSpPr>
            <a:spLocks noGrp="1"/>
          </p:cNvSpPr>
          <p:nvPr/>
        </p:nvSpPr>
        <p:spPr>
          <a:xfrm>
            <a:off x="1543050" y="1838325"/>
            <a:ext cx="857250" cy="28575"/>
          </a:xfrm>
          <a:prstGeom prst="rect">
            <a:avLst/>
          </a:prstGeom>
          <a:solidFill>
            <a:srgbClr val="2F69D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08458482-2F65-4A47-A5B3-B9E349574FC2}"/>
              </a:ext>
            </a:extLst>
          </p:cNvPr>
          <p:cNvSpPr>
            <a:spLocks noGrp="1"/>
          </p:cNvSpPr>
          <p:nvPr/>
        </p:nvSpPr>
        <p:spPr>
          <a:xfrm>
            <a:off x="2686050" y="1571625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Wie schneiden wir?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2D71CA61-4018-44AD-8AAF-21874E045E5B}"/>
              </a:ext>
            </a:extLst>
          </p:cNvPr>
          <p:cNvSpPr>
            <a:spLocks noGrp="1"/>
          </p:cNvSpPr>
          <p:nvPr/>
        </p:nvSpPr>
        <p:spPr>
          <a:xfrm>
            <a:off x="5886450" y="1581150"/>
            <a:ext cx="5095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Naive, Module oder Field Chunking – je nachdem, ob Modul oder exakter Abschnitt gesucht wird.</a:t>
            </a:r>
          </a:p>
        </p:txBody>
      </p:sp>
      <p:sp>
        <p:nvSpPr>
          <p:cNvPr id="10" name="Dikdörtgen: Köşeleri Yuvarlatılmış 9">
            <a:extLst>
              <a:ext uri="{FF2B5EF4-FFF2-40B4-BE49-F238E27FC236}">
                <a16:creationId xmlns:a16="http://schemas.microsoft.com/office/drawing/2014/main" id="{FED5D36E-7E04-46D9-BC3C-43CE012553FF}"/>
              </a:ext>
            </a:extLst>
          </p:cNvPr>
          <p:cNvSpPr>
            <a:spLocks noGrp="1"/>
          </p:cNvSpPr>
          <p:nvPr/>
        </p:nvSpPr>
        <p:spPr>
          <a:xfrm>
            <a:off x="11144250" y="1609725"/>
            <a:ext cx="133350" cy="6667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62A23DF-5569-4C87-9D98-A7947A3FC4E4}"/>
              </a:ext>
            </a:extLst>
          </p:cNvPr>
          <p:cNvSpPr>
            <a:spLocks noGrp="1"/>
          </p:cNvSpPr>
          <p:nvPr/>
        </p:nvSpPr>
        <p:spPr>
          <a:xfrm>
            <a:off x="704850" y="30289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 i="0">
                <a:solidFill>
                  <a:srgbClr val="0B8F6A"/>
                </a:solidFill>
              </a:defRPr>
            </a:pPr>
            <a:r>
              <a:rPr sz="2175" b="1" i="0">
                <a:solidFill>
                  <a:srgbClr val="0B8F6A"/>
                </a:solidFill>
              </a:rPr>
              <a:t>02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50483E6F-E11D-4DCA-8CA3-26B29A1CBE02}"/>
              </a:ext>
            </a:extLst>
          </p:cNvPr>
          <p:cNvSpPr>
            <a:spLocks noGrp="1"/>
          </p:cNvSpPr>
          <p:nvPr/>
        </p:nvSpPr>
        <p:spPr>
          <a:xfrm>
            <a:off x="1543050" y="3219450"/>
            <a:ext cx="857250" cy="28575"/>
          </a:xfrm>
          <a:prstGeom prst="rect">
            <a:avLst/>
          </a:prstGeom>
          <a:solidFill>
            <a:srgbClr val="0B8F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8580A765-8EC7-45A2-8F4E-DFB0EEA13928}"/>
              </a:ext>
            </a:extLst>
          </p:cNvPr>
          <p:cNvSpPr>
            <a:spLocks noGrp="1"/>
          </p:cNvSpPr>
          <p:nvPr/>
        </p:nvSpPr>
        <p:spPr>
          <a:xfrm>
            <a:off x="2686050" y="2952750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Wie suchen wir?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EA81FB00-8A0A-4657-8BC1-8A641699FD8C}"/>
              </a:ext>
            </a:extLst>
          </p:cNvPr>
          <p:cNvSpPr>
            <a:spLocks noGrp="1"/>
          </p:cNvSpPr>
          <p:nvPr/>
        </p:nvSpPr>
        <p:spPr>
          <a:xfrm>
            <a:off x="5886450" y="2962275"/>
            <a:ext cx="5095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BM25, Dense oder Hybrid – und wie viel Dense-Anteil α ist sinnvoll?</a:t>
            </a:r>
          </a:p>
        </p:txBody>
      </p:sp>
      <p:sp>
        <p:nvSpPr>
          <p:cNvPr id="15" name="Dikdörtgen: Köşeleri Yuvarlatılmış 14">
            <a:extLst>
              <a:ext uri="{FF2B5EF4-FFF2-40B4-BE49-F238E27FC236}">
                <a16:creationId xmlns:a16="http://schemas.microsoft.com/office/drawing/2014/main" id="{2D542405-D99A-44BE-801F-85FF87FEDE4F}"/>
              </a:ext>
            </a:extLst>
          </p:cNvPr>
          <p:cNvSpPr>
            <a:spLocks noGrp="1"/>
          </p:cNvSpPr>
          <p:nvPr/>
        </p:nvSpPr>
        <p:spPr>
          <a:xfrm>
            <a:off x="11144250" y="2990850"/>
            <a:ext cx="133350" cy="666750"/>
          </a:xfrm>
          <a:prstGeom prst="roundRect">
            <a:avLst>
              <a:gd name="adj" fmla="val 50000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D225C5B5-E476-4DB0-AF18-12BE492C41E0}"/>
              </a:ext>
            </a:extLst>
          </p:cNvPr>
          <p:cNvSpPr>
            <a:spLocks noGrp="1"/>
          </p:cNvSpPr>
          <p:nvPr/>
        </p:nvSpPr>
        <p:spPr>
          <a:xfrm>
            <a:off x="704850" y="4410075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 i="0">
                <a:solidFill>
                  <a:srgbClr val="D59B14"/>
                </a:solidFill>
              </a:defRPr>
            </a:pPr>
            <a:r>
              <a:rPr sz="2175" b="1" i="0">
                <a:solidFill>
                  <a:srgbClr val="D59B14"/>
                </a:solidFill>
              </a:rPr>
              <a:t>03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C03DDA3A-D2C7-4B48-8235-B318B0196094}"/>
              </a:ext>
            </a:extLst>
          </p:cNvPr>
          <p:cNvSpPr>
            <a:spLocks noGrp="1"/>
          </p:cNvSpPr>
          <p:nvPr/>
        </p:nvSpPr>
        <p:spPr>
          <a:xfrm>
            <a:off x="1543050" y="4600575"/>
            <a:ext cx="857250" cy="28575"/>
          </a:xfrm>
          <a:prstGeom prst="rect">
            <a:avLst/>
          </a:prstGeom>
          <a:solidFill>
            <a:srgbClr val="D59B1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11AFE9E2-4387-46E9-9B4A-BA365A3C0D6E}"/>
              </a:ext>
            </a:extLst>
          </p:cNvPr>
          <p:cNvSpPr>
            <a:spLocks noGrp="1"/>
          </p:cNvSpPr>
          <p:nvPr/>
        </p:nvSpPr>
        <p:spPr>
          <a:xfrm>
            <a:off x="2686050" y="4333875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Wann antworten wir?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AC83B40B-E84F-4A5B-99B7-0E7227D6476D}"/>
              </a:ext>
            </a:extLst>
          </p:cNvPr>
          <p:cNvSpPr>
            <a:spLocks noGrp="1"/>
          </p:cNvSpPr>
          <p:nvPr/>
        </p:nvSpPr>
        <p:spPr>
          <a:xfrm>
            <a:off x="5886450" y="4343400"/>
            <a:ext cx="5095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Antworten, nachfragen oder zurückhalten – ausschließlich abhängig von belegbarer Evidenz.</a:t>
            </a:r>
          </a:p>
        </p:txBody>
      </p:sp>
      <p:sp>
        <p:nvSpPr>
          <p:cNvPr id="20" name="Dikdörtgen: Köşeleri Yuvarlatılmış 19">
            <a:extLst>
              <a:ext uri="{FF2B5EF4-FFF2-40B4-BE49-F238E27FC236}">
                <a16:creationId xmlns:a16="http://schemas.microsoft.com/office/drawing/2014/main" id="{2B919FF9-E9FB-49C3-8EA3-2A0CE916FC1C}"/>
              </a:ext>
            </a:extLst>
          </p:cNvPr>
          <p:cNvSpPr>
            <a:spLocks noGrp="1"/>
          </p:cNvSpPr>
          <p:nvPr/>
        </p:nvSpPr>
        <p:spPr>
          <a:xfrm>
            <a:off x="11144250" y="4371975"/>
            <a:ext cx="133350" cy="66675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5827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ikdörtgen 21">
            <a:extLst>
              <a:ext uri="{FF2B5EF4-FFF2-40B4-BE49-F238E27FC236}">
                <a16:creationId xmlns:a16="http://schemas.microsoft.com/office/drawing/2014/main" id="{C5A3E25C-F71A-4EEC-B76B-A228C148EB4E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DATEN &amp; GELTUNGSBEREICH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511B3119-8D50-42B4-B588-77520D6746B4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Sieben PDFs verarbeitet – Qualität auf einem Gold-Dokument gemessen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C543D894-C18E-4367-96E8-3935F0D5FAA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64C9A3C4-81F8-413C-ACB6-A0183D3F9B16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22A06A01-4676-4603-88DF-CF2CF32B099B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5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B2F82B1E-6434-47D7-B241-10DDE68F47C5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3295650" cy="3238500"/>
          </a:xfrm>
          <a:prstGeom prst="roundRect">
            <a:avLst>
              <a:gd name="adj" fmla="val 3529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DADA1A94-E282-47B9-8576-A8C3A1349DF9}"/>
              </a:ext>
            </a:extLst>
          </p:cNvPr>
          <p:cNvSpPr>
            <a:spLocks noGrp="1"/>
          </p:cNvSpPr>
          <p:nvPr/>
        </p:nvSpPr>
        <p:spPr>
          <a:xfrm>
            <a:off x="990600" y="1847850"/>
            <a:ext cx="238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 i="0">
                <a:solidFill>
                  <a:srgbClr val="2F69D3"/>
                </a:solidFill>
              </a:defRPr>
            </a:pPr>
            <a:r>
              <a:rPr sz="3000" b="1" i="0">
                <a:solidFill>
                  <a:srgbClr val="2F69D3"/>
                </a:solidFill>
              </a:rPr>
              <a:t>7 PDFs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7F8F9D5-28B1-48F2-9BC9-4DDAF2885DCA}"/>
              </a:ext>
            </a:extLst>
          </p:cNvPr>
          <p:cNvSpPr>
            <a:spLocks noGrp="1"/>
          </p:cNvSpPr>
          <p:nvPr/>
        </p:nvSpPr>
        <p:spPr>
          <a:xfrm>
            <a:off x="1000125" y="2571750"/>
            <a:ext cx="24288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Ingestion · Segmentierung</a:t>
            </a:r>
          </a:p>
          <a:p>
            <a:pPr algn="l">
              <a:buNone/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Vollkorpus-Stresstest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94A2124E-B1D3-401D-BF0C-10975D9AD171}"/>
              </a:ext>
            </a:extLst>
          </p:cNvPr>
          <p:cNvSpPr>
            <a:spLocks noGrp="1"/>
          </p:cNvSpPr>
          <p:nvPr/>
        </p:nvSpPr>
        <p:spPr>
          <a:xfrm>
            <a:off x="1000125" y="3609975"/>
            <a:ext cx="2476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Technische Robustheit:</a:t>
            </a:r>
          </a:p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Chunk-Anzahl, eindeutige IDs,</a:t>
            </a:r>
          </a:p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Verarbeitung aller Varianten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1C1176B0-006F-4567-BEC4-A2227F35ECCA}"/>
              </a:ext>
            </a:extLst>
          </p:cNvPr>
          <p:cNvSpPr>
            <a:spLocks noGrp="1"/>
          </p:cNvSpPr>
          <p:nvPr/>
        </p:nvSpPr>
        <p:spPr>
          <a:xfrm>
            <a:off x="4191000" y="2809875"/>
            <a:ext cx="619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150" b="1" i="0">
                <a:solidFill>
                  <a:srgbClr val="667085"/>
                </a:solidFill>
              </a:defRPr>
            </a:pPr>
            <a:r>
              <a:rPr sz="315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C02BA529-3B7C-41C9-9882-34DFC7BD8385}"/>
              </a:ext>
            </a:extLst>
          </p:cNvPr>
          <p:cNvSpPr>
            <a:spLocks noGrp="1"/>
          </p:cNvSpPr>
          <p:nvPr/>
        </p:nvSpPr>
        <p:spPr>
          <a:xfrm>
            <a:off x="4991100" y="1581150"/>
            <a:ext cx="3009900" cy="3238500"/>
          </a:xfrm>
          <a:prstGeom prst="roundRect">
            <a:avLst>
              <a:gd name="adj" fmla="val 3797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E644A97C-C783-4AAD-9A1E-23F3211C35BB}"/>
              </a:ext>
            </a:extLst>
          </p:cNvPr>
          <p:cNvSpPr>
            <a:spLocks noGrp="1"/>
          </p:cNvSpPr>
          <p:nvPr/>
        </p:nvSpPr>
        <p:spPr>
          <a:xfrm>
            <a:off x="5295900" y="1847850"/>
            <a:ext cx="238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25" b="1" i="0">
                <a:solidFill>
                  <a:srgbClr val="0B8F6A"/>
                </a:solidFill>
              </a:defRPr>
            </a:pPr>
            <a:r>
              <a:rPr sz="2625" b="1" i="0">
                <a:solidFill>
                  <a:srgbClr val="0B8F6A"/>
                </a:solidFill>
              </a:rPr>
              <a:t>1 Gold-PDF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C7F6FFD9-75E2-4F27-AFD8-6304CA15BAA0}"/>
              </a:ext>
            </a:extLst>
          </p:cNvPr>
          <p:cNvSpPr>
            <a:spLocks noGrp="1"/>
          </p:cNvSpPr>
          <p:nvPr/>
        </p:nvSpPr>
        <p:spPr>
          <a:xfrm>
            <a:off x="5305425" y="2571750"/>
            <a:ext cx="2286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CL Bachelor</a:t>
            </a:r>
          </a:p>
          <a:p>
            <a:pPr algn="l">
              <a:buNone/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Stand 24.09.2025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AD00609A-F8D2-4309-ABBE-9935463F0FEA}"/>
              </a:ext>
            </a:extLst>
          </p:cNvPr>
          <p:cNvSpPr>
            <a:spLocks noGrp="1"/>
          </p:cNvSpPr>
          <p:nvPr/>
        </p:nvSpPr>
        <p:spPr>
          <a:xfrm>
            <a:off x="5305425" y="3705225"/>
            <a:ext cx="228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Manuell geprüfte Labels:</a:t>
            </a:r>
          </a:p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Dokument · Modul · Abschnitt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CC5B93BB-A5C5-4BCA-A38E-20C1D988D047}"/>
              </a:ext>
            </a:extLst>
          </p:cNvPr>
          <p:cNvSpPr>
            <a:spLocks noGrp="1"/>
          </p:cNvSpPr>
          <p:nvPr/>
        </p:nvSpPr>
        <p:spPr>
          <a:xfrm>
            <a:off x="8143875" y="2809875"/>
            <a:ext cx="619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150" b="1" i="0">
                <a:solidFill>
                  <a:srgbClr val="667085"/>
                </a:solidFill>
              </a:defRPr>
            </a:pPr>
            <a:r>
              <a:rPr sz="315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6CB49E9A-DED1-481A-A354-0018A0ACA483}"/>
              </a:ext>
            </a:extLst>
          </p:cNvPr>
          <p:cNvSpPr>
            <a:spLocks noGrp="1"/>
          </p:cNvSpPr>
          <p:nvPr/>
        </p:nvSpPr>
        <p:spPr>
          <a:xfrm>
            <a:off x="8934450" y="1581150"/>
            <a:ext cx="2571750" cy="3238500"/>
          </a:xfrm>
          <a:prstGeom prst="roundRect">
            <a:avLst>
              <a:gd name="adj" fmla="val 4444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A2B2FD7E-B4AB-4010-975A-839D1C53D108}"/>
              </a:ext>
            </a:extLst>
          </p:cNvPr>
          <p:cNvSpPr>
            <a:spLocks noGrp="1"/>
          </p:cNvSpPr>
          <p:nvPr/>
        </p:nvSpPr>
        <p:spPr>
          <a:xfrm>
            <a:off x="9239250" y="1847850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 i="0">
                <a:solidFill>
                  <a:srgbClr val="D59B14"/>
                </a:solidFill>
              </a:defRPr>
            </a:pPr>
            <a:r>
              <a:rPr sz="2700" b="1" i="0">
                <a:solidFill>
                  <a:srgbClr val="D59B14"/>
                </a:solidFill>
              </a:rPr>
              <a:t>43 Fragen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AAE9E340-A016-4CA8-A476-D014B32D39E3}"/>
              </a:ext>
            </a:extLst>
          </p:cNvPr>
          <p:cNvSpPr>
            <a:spLocks noGrp="1"/>
          </p:cNvSpPr>
          <p:nvPr/>
        </p:nvSpPr>
        <p:spPr>
          <a:xfrm>
            <a:off x="9248775" y="2571750"/>
            <a:ext cx="1905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25 Deutsch</a:t>
            </a:r>
          </a:p>
          <a:p>
            <a:pPr algn="l">
              <a:buNone/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18 multilingual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9235F521-8BFE-4BAD-A981-3ED4C03744C2}"/>
              </a:ext>
            </a:extLst>
          </p:cNvPr>
          <p:cNvSpPr>
            <a:spLocks noGrp="1"/>
          </p:cNvSpPr>
          <p:nvPr/>
        </p:nvSpPr>
        <p:spPr>
          <a:xfrm>
            <a:off x="9248775" y="3705225"/>
            <a:ext cx="1952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Offizielle Retrieval-Metriken</a:t>
            </a:r>
          </a:p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nur auf diesem Gold-Set</a:t>
            </a:r>
          </a:p>
        </p:txBody>
      </p:sp>
    </p:spTree>
    <p:extLst>
      <p:ext uri="{BB962C8B-B14F-4D97-AF65-F5344CB8AC3E}">
        <p14:creationId xmlns:p14="http://schemas.microsoft.com/office/powerpoint/2010/main" val="1632896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ikdörtgen 45">
            <a:extLst>
              <a:ext uri="{FF2B5EF4-FFF2-40B4-BE49-F238E27FC236}">
                <a16:creationId xmlns:a16="http://schemas.microsoft.com/office/drawing/2014/main" id="{C1ACEB42-12C5-4FB9-8653-35EB02902C2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SYSTEM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694CEEAC-9292-4A67-B909-B8889C440E5B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Vom PDF zur belegten Antwort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C21CDC78-9CB3-4AB9-961B-4D46D8EEAA0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387E5F26-773E-40CC-B946-9F93E1B5913D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0EDFC66F-DBA8-4E9B-A02A-A74C2283495D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6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F7F9C631-C07E-4DA5-8276-D6E756042B36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5049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: Köşeleri Yuvarlatılmış 6">
            <a:extLst>
              <a:ext uri="{FF2B5EF4-FFF2-40B4-BE49-F238E27FC236}">
                <a16:creationId xmlns:a16="http://schemas.microsoft.com/office/drawing/2014/main" id="{98C00EC1-E1DC-4F50-8D0B-E8F941DEA5D5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504950" cy="76200"/>
          </a:xfrm>
          <a:prstGeom prst="roundRect">
            <a:avLst>
              <a:gd name="adj" fmla="val 50000"/>
            </a:avLst>
          </a:prstGeom>
          <a:solidFill>
            <a:srgbClr val="2F69D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3C419AA1-791F-43E7-A73F-400A2D54DF81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PDF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32549544-8235-41A7-9BCD-591CA7DE2CB1}"/>
              </a:ext>
            </a:extLst>
          </p:cNvPr>
          <p:cNvSpPr>
            <a:spLocks noGrp="1"/>
          </p:cNvSpPr>
          <p:nvPr/>
        </p:nvSpPr>
        <p:spPr>
          <a:xfrm>
            <a:off x="857250" y="2695575"/>
            <a:ext cx="1162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pypdf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EE8CF7C1-B258-4B99-8C5F-D928CA870710}"/>
              </a:ext>
            </a:extLst>
          </p:cNvPr>
          <p:cNvSpPr>
            <a:spLocks noGrp="1"/>
          </p:cNvSpPr>
          <p:nvPr/>
        </p:nvSpPr>
        <p:spPr>
          <a:xfrm>
            <a:off x="2209800" y="23812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 i="0">
                <a:solidFill>
                  <a:srgbClr val="667085"/>
                </a:solidFill>
              </a:defRPr>
            </a:pPr>
            <a:r>
              <a:rPr sz="1875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74EE65C2-2A6C-4C1F-A273-F6E0A59D2337}"/>
              </a:ext>
            </a:extLst>
          </p:cNvPr>
          <p:cNvSpPr>
            <a:spLocks noGrp="1"/>
          </p:cNvSpPr>
          <p:nvPr/>
        </p:nvSpPr>
        <p:spPr>
          <a:xfrm>
            <a:off x="2476500" y="1905000"/>
            <a:ext cx="15049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613EAFED-6CCB-45D7-833C-2DB1AA8E31ED}"/>
              </a:ext>
            </a:extLst>
          </p:cNvPr>
          <p:cNvSpPr>
            <a:spLocks noGrp="1"/>
          </p:cNvSpPr>
          <p:nvPr/>
        </p:nvSpPr>
        <p:spPr>
          <a:xfrm>
            <a:off x="2476500" y="1905000"/>
            <a:ext cx="1504950" cy="76200"/>
          </a:xfrm>
          <a:prstGeom prst="roundRect">
            <a:avLst>
              <a:gd name="adj" fmla="val 50000"/>
            </a:avLst>
          </a:prstGeom>
          <a:solidFill>
            <a:srgbClr val="0B8F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7D054930-1DF9-4978-93E9-756DA3ADD987}"/>
              </a:ext>
            </a:extLst>
          </p:cNvPr>
          <p:cNvSpPr>
            <a:spLocks noGrp="1"/>
          </p:cNvSpPr>
          <p:nvPr/>
        </p:nvSpPr>
        <p:spPr>
          <a:xfrm>
            <a:off x="2647950" y="21907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Struktur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8CA0644D-3F63-4ACB-9F16-7E6F4B89FFD6}"/>
              </a:ext>
            </a:extLst>
          </p:cNvPr>
          <p:cNvSpPr>
            <a:spLocks noGrp="1"/>
          </p:cNvSpPr>
          <p:nvPr/>
        </p:nvSpPr>
        <p:spPr>
          <a:xfrm>
            <a:off x="2647950" y="2695575"/>
            <a:ext cx="1162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Module/Felder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28545DBF-C30F-4E66-A35E-0372A2734DAA}"/>
              </a:ext>
            </a:extLst>
          </p:cNvPr>
          <p:cNvSpPr>
            <a:spLocks noGrp="1"/>
          </p:cNvSpPr>
          <p:nvPr/>
        </p:nvSpPr>
        <p:spPr>
          <a:xfrm>
            <a:off x="4000500" y="23812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 i="0">
                <a:solidFill>
                  <a:srgbClr val="667085"/>
                </a:solidFill>
              </a:defRPr>
            </a:pPr>
            <a:r>
              <a:rPr sz="1875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159D9B5F-0F11-4B93-BF93-F2DD2967A7BB}"/>
              </a:ext>
            </a:extLst>
          </p:cNvPr>
          <p:cNvSpPr>
            <a:spLocks noGrp="1"/>
          </p:cNvSpPr>
          <p:nvPr/>
        </p:nvSpPr>
        <p:spPr>
          <a:xfrm>
            <a:off x="4267200" y="1905000"/>
            <a:ext cx="15049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Dikdörtgen: Köşeleri Yuvarlatılmış 16">
            <a:extLst>
              <a:ext uri="{FF2B5EF4-FFF2-40B4-BE49-F238E27FC236}">
                <a16:creationId xmlns:a16="http://schemas.microsoft.com/office/drawing/2014/main" id="{3CFAE23E-8F34-4D78-A7D8-672D906ED542}"/>
              </a:ext>
            </a:extLst>
          </p:cNvPr>
          <p:cNvSpPr>
            <a:spLocks noGrp="1"/>
          </p:cNvSpPr>
          <p:nvPr/>
        </p:nvSpPr>
        <p:spPr>
          <a:xfrm>
            <a:off x="4267200" y="1905000"/>
            <a:ext cx="1504950" cy="76200"/>
          </a:xfrm>
          <a:prstGeom prst="roundRect">
            <a:avLst>
              <a:gd name="adj" fmla="val 50000"/>
            </a:avLst>
          </a:prstGeom>
          <a:solidFill>
            <a:srgbClr val="0B8F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AB51D495-757D-4AD9-A91C-BA445796D7B1}"/>
              </a:ext>
            </a:extLst>
          </p:cNvPr>
          <p:cNvSpPr>
            <a:spLocks noGrp="1"/>
          </p:cNvSpPr>
          <p:nvPr/>
        </p:nvSpPr>
        <p:spPr>
          <a:xfrm>
            <a:off x="4438650" y="21907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Chunks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70795AA6-1C74-493E-990D-BF5BDB3D9C00}"/>
              </a:ext>
            </a:extLst>
          </p:cNvPr>
          <p:cNvSpPr>
            <a:spLocks noGrp="1"/>
          </p:cNvSpPr>
          <p:nvPr/>
        </p:nvSpPr>
        <p:spPr>
          <a:xfrm>
            <a:off x="4438650" y="2695575"/>
            <a:ext cx="1162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3 Strategien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BC856154-500E-41E7-9C33-E38C7AB1CD39}"/>
              </a:ext>
            </a:extLst>
          </p:cNvPr>
          <p:cNvSpPr>
            <a:spLocks noGrp="1"/>
          </p:cNvSpPr>
          <p:nvPr/>
        </p:nvSpPr>
        <p:spPr>
          <a:xfrm>
            <a:off x="5791200" y="23812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 i="0">
                <a:solidFill>
                  <a:srgbClr val="667085"/>
                </a:solidFill>
              </a:defRPr>
            </a:pPr>
            <a:r>
              <a:rPr sz="1875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1" name="Dikdörtgen: Köşeleri Yuvarlatılmış 20">
            <a:extLst>
              <a:ext uri="{FF2B5EF4-FFF2-40B4-BE49-F238E27FC236}">
                <a16:creationId xmlns:a16="http://schemas.microsoft.com/office/drawing/2014/main" id="{15EB1F02-6F66-4C2E-9F51-B37246739F03}"/>
              </a:ext>
            </a:extLst>
          </p:cNvPr>
          <p:cNvSpPr>
            <a:spLocks noGrp="1"/>
          </p:cNvSpPr>
          <p:nvPr/>
        </p:nvSpPr>
        <p:spPr>
          <a:xfrm>
            <a:off x="6057900" y="1905000"/>
            <a:ext cx="15049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Dikdörtgen: Köşeleri Yuvarlatılmış 21">
            <a:extLst>
              <a:ext uri="{FF2B5EF4-FFF2-40B4-BE49-F238E27FC236}">
                <a16:creationId xmlns:a16="http://schemas.microsoft.com/office/drawing/2014/main" id="{1B13592D-8930-4EB8-ABEB-2FFE78F2361E}"/>
              </a:ext>
            </a:extLst>
          </p:cNvPr>
          <p:cNvSpPr>
            <a:spLocks noGrp="1"/>
          </p:cNvSpPr>
          <p:nvPr/>
        </p:nvSpPr>
        <p:spPr>
          <a:xfrm>
            <a:off x="6057900" y="1905000"/>
            <a:ext cx="1504950" cy="76200"/>
          </a:xfrm>
          <a:prstGeom prst="roundRect">
            <a:avLst>
              <a:gd name="adj" fmla="val 50000"/>
            </a:avLst>
          </a:prstGeom>
          <a:solidFill>
            <a:srgbClr val="D59B1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10F2CF0C-72C4-47BC-B71E-8D0F1A7C7F06}"/>
              </a:ext>
            </a:extLst>
          </p:cNvPr>
          <p:cNvSpPr>
            <a:spLocks noGrp="1"/>
          </p:cNvSpPr>
          <p:nvPr/>
        </p:nvSpPr>
        <p:spPr>
          <a:xfrm>
            <a:off x="6229350" y="21907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Retriever</a:t>
            </a: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B3474125-182E-4FF6-9E1A-2429BE7EEB45}"/>
              </a:ext>
            </a:extLst>
          </p:cNvPr>
          <p:cNvSpPr>
            <a:spLocks noGrp="1"/>
          </p:cNvSpPr>
          <p:nvPr/>
        </p:nvSpPr>
        <p:spPr>
          <a:xfrm>
            <a:off x="6229350" y="2695575"/>
            <a:ext cx="1162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BM25 · Dense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BBA6E6E6-3573-4193-855A-403FE54CD7CF}"/>
              </a:ext>
            </a:extLst>
          </p:cNvPr>
          <p:cNvSpPr>
            <a:spLocks noGrp="1"/>
          </p:cNvSpPr>
          <p:nvPr/>
        </p:nvSpPr>
        <p:spPr>
          <a:xfrm>
            <a:off x="7581900" y="23812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 i="0">
                <a:solidFill>
                  <a:srgbClr val="667085"/>
                </a:solidFill>
              </a:defRPr>
            </a:pPr>
            <a:r>
              <a:rPr sz="1875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6" name="Dikdörtgen: Köşeleri Yuvarlatılmış 25">
            <a:extLst>
              <a:ext uri="{FF2B5EF4-FFF2-40B4-BE49-F238E27FC236}">
                <a16:creationId xmlns:a16="http://schemas.microsoft.com/office/drawing/2014/main" id="{8960EFC3-ED93-43E6-B2C3-E2C01A7AF42F}"/>
              </a:ext>
            </a:extLst>
          </p:cNvPr>
          <p:cNvSpPr>
            <a:spLocks noGrp="1"/>
          </p:cNvSpPr>
          <p:nvPr/>
        </p:nvSpPr>
        <p:spPr>
          <a:xfrm>
            <a:off x="7848600" y="1905000"/>
            <a:ext cx="15049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Dikdörtgen: Köşeleri Yuvarlatılmış 26">
            <a:extLst>
              <a:ext uri="{FF2B5EF4-FFF2-40B4-BE49-F238E27FC236}">
                <a16:creationId xmlns:a16="http://schemas.microsoft.com/office/drawing/2014/main" id="{5CBB2F69-DE9B-4742-86C6-1322F3C6AD57}"/>
              </a:ext>
            </a:extLst>
          </p:cNvPr>
          <p:cNvSpPr>
            <a:spLocks noGrp="1"/>
          </p:cNvSpPr>
          <p:nvPr/>
        </p:nvSpPr>
        <p:spPr>
          <a:xfrm>
            <a:off x="7848600" y="1905000"/>
            <a:ext cx="1504950" cy="76200"/>
          </a:xfrm>
          <a:prstGeom prst="roundRect">
            <a:avLst>
              <a:gd name="adj" fmla="val 50000"/>
            </a:avLst>
          </a:prstGeom>
          <a:solidFill>
            <a:srgbClr val="E05D4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1E46C7B0-C734-4EC3-A958-79EB1B5AF1AA}"/>
              </a:ext>
            </a:extLst>
          </p:cNvPr>
          <p:cNvSpPr>
            <a:spLocks noGrp="1"/>
          </p:cNvSpPr>
          <p:nvPr/>
        </p:nvSpPr>
        <p:spPr>
          <a:xfrm>
            <a:off x="8020050" y="21907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Policy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10BCDFB2-393B-437D-B1F4-686098832932}"/>
              </a:ext>
            </a:extLst>
          </p:cNvPr>
          <p:cNvSpPr>
            <a:spLocks noGrp="1"/>
          </p:cNvSpPr>
          <p:nvPr/>
        </p:nvSpPr>
        <p:spPr>
          <a:xfrm>
            <a:off x="8020050" y="2695575"/>
            <a:ext cx="1162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Antwort?</a:t>
            </a:r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C28908EB-7F06-427B-A237-78E60994F6B3}"/>
              </a:ext>
            </a:extLst>
          </p:cNvPr>
          <p:cNvSpPr>
            <a:spLocks noGrp="1"/>
          </p:cNvSpPr>
          <p:nvPr/>
        </p:nvSpPr>
        <p:spPr>
          <a:xfrm>
            <a:off x="9372600" y="23812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 i="0">
                <a:solidFill>
                  <a:srgbClr val="667085"/>
                </a:solidFill>
              </a:defRPr>
            </a:pPr>
            <a:r>
              <a:rPr sz="1875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31" name="Dikdörtgen: Köşeleri Yuvarlatılmış 30">
            <a:extLst>
              <a:ext uri="{FF2B5EF4-FFF2-40B4-BE49-F238E27FC236}">
                <a16:creationId xmlns:a16="http://schemas.microsoft.com/office/drawing/2014/main" id="{B3AE3CD9-9115-4E14-A329-9CD07952EA44}"/>
              </a:ext>
            </a:extLst>
          </p:cNvPr>
          <p:cNvSpPr>
            <a:spLocks noGrp="1"/>
          </p:cNvSpPr>
          <p:nvPr/>
        </p:nvSpPr>
        <p:spPr>
          <a:xfrm>
            <a:off x="9639300" y="1905000"/>
            <a:ext cx="15049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Dikdörtgen: Köşeleri Yuvarlatılmış 31">
            <a:extLst>
              <a:ext uri="{FF2B5EF4-FFF2-40B4-BE49-F238E27FC236}">
                <a16:creationId xmlns:a16="http://schemas.microsoft.com/office/drawing/2014/main" id="{39A207B8-F54C-449D-BD34-FC1A7D2F9527}"/>
              </a:ext>
            </a:extLst>
          </p:cNvPr>
          <p:cNvSpPr>
            <a:spLocks noGrp="1"/>
          </p:cNvSpPr>
          <p:nvPr/>
        </p:nvSpPr>
        <p:spPr>
          <a:xfrm>
            <a:off x="9639300" y="1905000"/>
            <a:ext cx="1504950" cy="76200"/>
          </a:xfrm>
          <a:prstGeom prst="roundRect">
            <a:avLst>
              <a:gd name="adj" fmla="val 50000"/>
            </a:avLst>
          </a:prstGeom>
          <a:solidFill>
            <a:srgbClr val="2F69D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ED19F795-ED32-42E4-B33B-8B4D2F7BB015}"/>
              </a:ext>
            </a:extLst>
          </p:cNvPr>
          <p:cNvSpPr>
            <a:spLocks noGrp="1"/>
          </p:cNvSpPr>
          <p:nvPr/>
        </p:nvSpPr>
        <p:spPr>
          <a:xfrm>
            <a:off x="9810750" y="21907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Beleg</a:t>
            </a: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D05A617E-339E-42D9-854D-12C07F2A9D64}"/>
              </a:ext>
            </a:extLst>
          </p:cNvPr>
          <p:cNvSpPr>
            <a:spLocks noGrp="1"/>
          </p:cNvSpPr>
          <p:nvPr/>
        </p:nvSpPr>
        <p:spPr>
          <a:xfrm>
            <a:off x="9810750" y="2695575"/>
            <a:ext cx="1162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Seite/Quelle</a:t>
            </a: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725C4053-D196-4374-B294-C9EF8D715B63}"/>
              </a:ext>
            </a:extLst>
          </p:cNvPr>
          <p:cNvSpPr>
            <a:spLocks noGrp="1"/>
          </p:cNvSpPr>
          <p:nvPr/>
        </p:nvSpPr>
        <p:spPr>
          <a:xfrm>
            <a:off x="1428750" y="4000500"/>
            <a:ext cx="9334500" cy="19050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FE23EEA2-6F8B-46B3-9D6A-E10F7C4E82A1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104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2F69D3"/>
                </a:solidFill>
              </a:defRPr>
            </a:pPr>
            <a:r>
              <a:rPr sz="1125" b="1" i="0">
                <a:solidFill>
                  <a:srgbClr val="2F69D3"/>
                </a:solidFill>
              </a:rPr>
              <a:t>Evaluation</a:t>
            </a:r>
          </a:p>
        </p:txBody>
      </p:sp>
      <p:sp>
        <p:nvSpPr>
          <p:cNvPr id="37" name="Dikdörtgen: Köşeleri Yuvarlatılmış 36">
            <a:extLst>
              <a:ext uri="{FF2B5EF4-FFF2-40B4-BE49-F238E27FC236}">
                <a16:creationId xmlns:a16="http://schemas.microsoft.com/office/drawing/2014/main" id="{9906B8FB-C5C6-4B92-A2D0-BAF749A0F2FA}"/>
              </a:ext>
            </a:extLst>
          </p:cNvPr>
          <p:cNvSpPr>
            <a:spLocks noGrp="1"/>
          </p:cNvSpPr>
          <p:nvPr/>
        </p:nvSpPr>
        <p:spPr>
          <a:xfrm>
            <a:off x="2076450" y="4438650"/>
            <a:ext cx="1952625" cy="2667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90E8AD4A-69E8-498D-8B3D-02408B2C19A1}"/>
              </a:ext>
            </a:extLst>
          </p:cNvPr>
          <p:cNvSpPr>
            <a:spLocks noGrp="1"/>
          </p:cNvSpPr>
          <p:nvPr/>
        </p:nvSpPr>
        <p:spPr>
          <a:xfrm>
            <a:off x="2171700" y="4486275"/>
            <a:ext cx="1762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2F69D3"/>
                </a:solidFill>
              </a:defRPr>
            </a:pPr>
            <a:r>
              <a:rPr sz="1400" b="1" i="0">
                <a:solidFill>
                  <a:srgbClr val="2F69D3"/>
                </a:solidFill>
              </a:rPr>
              <a:t>Retrieval-Metriken</a:t>
            </a:r>
          </a:p>
        </p:txBody>
      </p:sp>
      <p:sp>
        <p:nvSpPr>
          <p:cNvPr id="39" name="Dikdörtgen: Köşeleri Yuvarlatılmış 38">
            <a:extLst>
              <a:ext uri="{FF2B5EF4-FFF2-40B4-BE49-F238E27FC236}">
                <a16:creationId xmlns:a16="http://schemas.microsoft.com/office/drawing/2014/main" id="{761AC3FE-D9E0-4685-8913-6BAD62823CA6}"/>
              </a:ext>
            </a:extLst>
          </p:cNvPr>
          <p:cNvSpPr>
            <a:spLocks noGrp="1"/>
          </p:cNvSpPr>
          <p:nvPr/>
        </p:nvSpPr>
        <p:spPr>
          <a:xfrm>
            <a:off x="4314825" y="4438650"/>
            <a:ext cx="1952625" cy="2667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Dikdörtgen 39">
            <a:extLst>
              <a:ext uri="{FF2B5EF4-FFF2-40B4-BE49-F238E27FC236}">
                <a16:creationId xmlns:a16="http://schemas.microsoft.com/office/drawing/2014/main" id="{55DBA372-643C-4396-B839-4E143DA5DC3B}"/>
              </a:ext>
            </a:extLst>
          </p:cNvPr>
          <p:cNvSpPr>
            <a:spLocks noGrp="1"/>
          </p:cNvSpPr>
          <p:nvPr/>
        </p:nvSpPr>
        <p:spPr>
          <a:xfrm>
            <a:off x="4410075" y="4486275"/>
            <a:ext cx="1762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2F69D3"/>
                </a:solidFill>
              </a:defRPr>
            </a:pPr>
            <a:r>
              <a:rPr sz="1400" b="1" i="0">
                <a:solidFill>
                  <a:srgbClr val="2F69D3"/>
                </a:solidFill>
              </a:rPr>
              <a:t>Fehler pro Anfrage</a:t>
            </a:r>
          </a:p>
        </p:txBody>
      </p:sp>
      <p:sp>
        <p:nvSpPr>
          <p:cNvPr id="41" name="Dikdörtgen: Köşeleri Yuvarlatılmış 40">
            <a:extLst>
              <a:ext uri="{FF2B5EF4-FFF2-40B4-BE49-F238E27FC236}">
                <a16:creationId xmlns:a16="http://schemas.microsoft.com/office/drawing/2014/main" id="{797C4008-62DC-4613-8F9D-3914CEED04C9}"/>
              </a:ext>
            </a:extLst>
          </p:cNvPr>
          <p:cNvSpPr>
            <a:spLocks noGrp="1"/>
          </p:cNvSpPr>
          <p:nvPr/>
        </p:nvSpPr>
        <p:spPr>
          <a:xfrm>
            <a:off x="6553200" y="4438650"/>
            <a:ext cx="1952625" cy="2667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2A8B3427-F0BE-4BD0-8128-0B648B89F299}"/>
              </a:ext>
            </a:extLst>
          </p:cNvPr>
          <p:cNvSpPr>
            <a:spLocks noGrp="1"/>
          </p:cNvSpPr>
          <p:nvPr/>
        </p:nvSpPr>
        <p:spPr>
          <a:xfrm>
            <a:off x="6648450" y="4486275"/>
            <a:ext cx="1762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2F69D3"/>
                </a:solidFill>
              </a:defRPr>
            </a:pPr>
            <a:r>
              <a:rPr sz="1400" b="1" i="0">
                <a:solidFill>
                  <a:srgbClr val="2F69D3"/>
                </a:solidFill>
              </a:rPr>
              <a:t>Korpusintegrität</a:t>
            </a:r>
          </a:p>
        </p:txBody>
      </p:sp>
      <p:sp>
        <p:nvSpPr>
          <p:cNvPr id="43" name="Dikdörtgen: Köşeleri Yuvarlatılmış 42">
            <a:extLst>
              <a:ext uri="{FF2B5EF4-FFF2-40B4-BE49-F238E27FC236}">
                <a16:creationId xmlns:a16="http://schemas.microsoft.com/office/drawing/2014/main" id="{A0239E3D-247A-44FB-950D-11424F4251E6}"/>
              </a:ext>
            </a:extLst>
          </p:cNvPr>
          <p:cNvSpPr>
            <a:spLocks noGrp="1"/>
          </p:cNvSpPr>
          <p:nvPr/>
        </p:nvSpPr>
        <p:spPr>
          <a:xfrm>
            <a:off x="8793099" y="4524375"/>
            <a:ext cx="1952625" cy="266700"/>
          </a:xfrm>
          <a:prstGeom prst="roundRect">
            <a:avLst>
              <a:gd name="adj" fmla="val 50000"/>
            </a:avLst>
          </a:prstGeom>
          <a:solidFill>
            <a:srgbClr val="FDEB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F4351201-07D2-4257-90C2-41CFD4C46989}"/>
              </a:ext>
            </a:extLst>
          </p:cNvPr>
          <p:cNvSpPr>
            <a:spLocks noGrp="1"/>
          </p:cNvSpPr>
          <p:nvPr/>
        </p:nvSpPr>
        <p:spPr>
          <a:xfrm>
            <a:off x="8886825" y="4486275"/>
            <a:ext cx="1762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E05D4B"/>
                </a:solidFill>
              </a:defRPr>
            </a:pPr>
            <a:r>
              <a:rPr sz="1400" b="1" i="0">
                <a:solidFill>
                  <a:srgbClr val="E05D4B"/>
                </a:solidFill>
              </a:rPr>
              <a:t>Antwortpilot</a:t>
            </a:r>
          </a:p>
        </p:txBody>
      </p:sp>
      <p:sp>
        <p:nvSpPr>
          <p:cNvPr id="45" name="Dikdörtgen 44">
            <a:extLst>
              <a:ext uri="{FF2B5EF4-FFF2-40B4-BE49-F238E27FC236}">
                <a16:creationId xmlns:a16="http://schemas.microsoft.com/office/drawing/2014/main" id="{C11307B8-0393-4F56-A3F7-24BE58A74333}"/>
              </a:ext>
            </a:extLst>
          </p:cNvPr>
          <p:cNvSpPr>
            <a:spLocks noGrp="1"/>
          </p:cNvSpPr>
          <p:nvPr/>
        </p:nvSpPr>
        <p:spPr>
          <a:xfrm>
            <a:off x="1752600" y="5191125"/>
            <a:ext cx="885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Struktur- und Retrieval-Entscheidungen bleiben sichtbar – auch wenn die Oberfläche eine einzige Suche zeigt.</a:t>
            </a:r>
          </a:p>
        </p:txBody>
      </p:sp>
    </p:spTree>
    <p:extLst>
      <p:ext uri="{BB962C8B-B14F-4D97-AF65-F5344CB8AC3E}">
        <p14:creationId xmlns:p14="http://schemas.microsoft.com/office/powerpoint/2010/main" val="509187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Dikdörtgen 28">
            <a:extLst>
              <a:ext uri="{FF2B5EF4-FFF2-40B4-BE49-F238E27FC236}">
                <a16:creationId xmlns:a16="http://schemas.microsoft.com/office/drawing/2014/main" id="{B3CDAEDB-5B9F-4579-A1DE-4653E479C7E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CHUNKING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D64B3A7A-B90A-4371-88DF-51C24C315555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Drei Schnitte – zwei verschiedene Suchziele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963C5E2B-6101-43DB-85B5-E15A5CE7AD9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FE817874-424D-410B-88DD-26AB3278149A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FD1E63B2-B42A-4BB5-BD72-0310AB72619E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7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0AB905DC-37D6-410A-95D2-78B00FE6920F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3333750" cy="2857500"/>
          </a:xfrm>
          <a:prstGeom prst="roundRect">
            <a:avLst>
              <a:gd name="adj" fmla="val 4000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D9191F7B-85D1-4084-A024-0416C4D277D0}"/>
              </a:ext>
            </a:extLst>
          </p:cNvPr>
          <p:cNvSpPr>
            <a:spLocks noGrp="1"/>
          </p:cNvSpPr>
          <p:nvPr/>
        </p:nvSpPr>
        <p:spPr>
          <a:xfrm>
            <a:off x="933450" y="1809750"/>
            <a:ext cx="2809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2F69D3"/>
                </a:solidFill>
              </a:defRPr>
            </a:pPr>
            <a:r>
              <a:rPr sz="2025" b="1" i="0">
                <a:solidFill>
                  <a:srgbClr val="2F69D3"/>
                </a:solidFill>
              </a:rPr>
              <a:t>Naive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374D262D-B6B3-4915-9E7E-A30BB174A7B5}"/>
              </a:ext>
            </a:extLst>
          </p:cNvPr>
          <p:cNvSpPr>
            <a:spLocks noGrp="1"/>
          </p:cNvSpPr>
          <p:nvPr/>
        </p:nvSpPr>
        <p:spPr>
          <a:xfrm>
            <a:off x="933450" y="2381250"/>
            <a:ext cx="2809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900 Zeichen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E710F19B-EC3B-450F-8A33-290F7EF0B260}"/>
              </a:ext>
            </a:extLst>
          </p:cNvPr>
          <p:cNvSpPr>
            <a:spLocks noGrp="1"/>
          </p:cNvSpPr>
          <p:nvPr/>
        </p:nvSpPr>
        <p:spPr>
          <a:xfrm>
            <a:off x="933450" y="2781300"/>
            <a:ext cx="2809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120 Zeichen Overlap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8F23DB5F-EED0-4BCA-8D15-820839EE0085}"/>
              </a:ext>
            </a:extLst>
          </p:cNvPr>
          <p:cNvSpPr>
            <a:spLocks noGrp="1"/>
          </p:cNvSpPr>
          <p:nvPr/>
        </p:nvSpPr>
        <p:spPr>
          <a:xfrm>
            <a:off x="933450" y="3295650"/>
            <a:ext cx="2838450" cy="9525"/>
          </a:xfrm>
          <a:prstGeom prst="rect">
            <a:avLst/>
          </a:prstGeom>
          <a:solidFill>
            <a:srgbClr val="C9D2D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D55353DD-3943-4A6B-A1DE-DB7FF23E2CF8}"/>
              </a:ext>
            </a:extLst>
          </p:cNvPr>
          <p:cNvSpPr>
            <a:spLocks noGrp="1"/>
          </p:cNvSpPr>
          <p:nvPr/>
        </p:nvSpPr>
        <p:spPr>
          <a:xfrm>
            <a:off x="933450" y="3505200"/>
            <a:ext cx="2809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lokaler Text ohne garantierte Feldgrenze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B387B331-1A7C-430D-8564-F7962BEE8EA1}"/>
              </a:ext>
            </a:extLst>
          </p:cNvPr>
          <p:cNvSpPr>
            <a:spLocks noGrp="1"/>
          </p:cNvSpPr>
          <p:nvPr/>
        </p:nvSpPr>
        <p:spPr>
          <a:xfrm>
            <a:off x="4324350" y="1571625"/>
            <a:ext cx="3333750" cy="2857500"/>
          </a:xfrm>
          <a:prstGeom prst="roundRect">
            <a:avLst>
              <a:gd name="adj" fmla="val 4000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549B2578-A965-4615-8152-0191A466B2D0}"/>
              </a:ext>
            </a:extLst>
          </p:cNvPr>
          <p:cNvSpPr>
            <a:spLocks noGrp="1"/>
          </p:cNvSpPr>
          <p:nvPr/>
        </p:nvSpPr>
        <p:spPr>
          <a:xfrm>
            <a:off x="4572000" y="1809750"/>
            <a:ext cx="2809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0B8F6A"/>
                </a:solidFill>
              </a:defRPr>
            </a:pPr>
            <a:r>
              <a:rPr sz="2025" b="1" i="0">
                <a:solidFill>
                  <a:srgbClr val="0B8F6A"/>
                </a:solidFill>
              </a:rPr>
              <a:t>Module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9823F1F1-AA7F-436F-B2E9-D5B401092EB3}"/>
              </a:ext>
            </a:extLst>
          </p:cNvPr>
          <p:cNvSpPr>
            <a:spLocks noGrp="1"/>
          </p:cNvSpPr>
          <p:nvPr/>
        </p:nvSpPr>
        <p:spPr>
          <a:xfrm>
            <a:off x="4572000" y="2381250"/>
            <a:ext cx="2809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1 Chunk / Modul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00800219-03C8-4C33-B60F-BAC2E4552496}"/>
              </a:ext>
            </a:extLst>
          </p:cNvPr>
          <p:cNvSpPr>
            <a:spLocks noGrp="1"/>
          </p:cNvSpPr>
          <p:nvPr/>
        </p:nvSpPr>
        <p:spPr>
          <a:xfrm>
            <a:off x="4572000" y="2781300"/>
            <a:ext cx="2809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Kontext bleibt zusammen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A374AA6E-A0EB-47EC-ACCA-38B4CDD74424}"/>
              </a:ext>
            </a:extLst>
          </p:cNvPr>
          <p:cNvSpPr>
            <a:spLocks noGrp="1"/>
          </p:cNvSpPr>
          <p:nvPr/>
        </p:nvSpPr>
        <p:spPr>
          <a:xfrm>
            <a:off x="4572000" y="3295650"/>
            <a:ext cx="2838450" cy="9525"/>
          </a:xfrm>
          <a:prstGeom prst="rect">
            <a:avLst/>
          </a:prstGeom>
          <a:solidFill>
            <a:srgbClr val="C9D2D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8912A46B-7230-4EC4-856D-AF26F8919669}"/>
              </a:ext>
            </a:extLst>
          </p:cNvPr>
          <p:cNvSpPr>
            <a:spLocks noGrp="1"/>
          </p:cNvSpPr>
          <p:nvPr/>
        </p:nvSpPr>
        <p:spPr>
          <a:xfrm>
            <a:off x="4572000" y="3505200"/>
            <a:ext cx="2809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stark, wenn zuerst das richtige Modul zählt</a:t>
            </a:r>
          </a:p>
        </p:txBody>
      </p:sp>
      <p:sp>
        <p:nvSpPr>
          <p:cNvPr id="18" name="Dikdörtgen: Köşeleri Yuvarlatılmış 17">
            <a:extLst>
              <a:ext uri="{FF2B5EF4-FFF2-40B4-BE49-F238E27FC236}">
                <a16:creationId xmlns:a16="http://schemas.microsoft.com/office/drawing/2014/main" id="{C6A05302-2A01-40F7-9D9D-7B6A3A3947C3}"/>
              </a:ext>
            </a:extLst>
          </p:cNvPr>
          <p:cNvSpPr>
            <a:spLocks noGrp="1"/>
          </p:cNvSpPr>
          <p:nvPr/>
        </p:nvSpPr>
        <p:spPr>
          <a:xfrm>
            <a:off x="7962900" y="1571625"/>
            <a:ext cx="3333750" cy="2857500"/>
          </a:xfrm>
          <a:prstGeom prst="roundRect">
            <a:avLst>
              <a:gd name="adj" fmla="val 4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F6FBCBCD-6270-493C-A1C2-8262B9436CA5}"/>
              </a:ext>
            </a:extLst>
          </p:cNvPr>
          <p:cNvSpPr>
            <a:spLocks noGrp="1"/>
          </p:cNvSpPr>
          <p:nvPr/>
        </p:nvSpPr>
        <p:spPr>
          <a:xfrm>
            <a:off x="8210550" y="1809750"/>
            <a:ext cx="2809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D59B14"/>
                </a:solidFill>
              </a:defRPr>
            </a:pPr>
            <a:r>
              <a:rPr sz="2025" b="1" i="0">
                <a:solidFill>
                  <a:srgbClr val="D59B14"/>
                </a:solidFill>
              </a:rPr>
              <a:t>Field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62CF38EE-B639-42DB-90DC-42B256A8DD6D}"/>
              </a:ext>
            </a:extLst>
          </p:cNvPr>
          <p:cNvSpPr>
            <a:spLocks noGrp="1"/>
          </p:cNvSpPr>
          <p:nvPr/>
        </p:nvSpPr>
        <p:spPr>
          <a:xfrm>
            <a:off x="8210550" y="2381250"/>
            <a:ext cx="2809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1 Chunk / Feld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B3D4D524-B450-4255-81AD-3ECE475B8701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2809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explizite Abschnittslabels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00B44417-1EEC-4728-A140-04E8AB6D85D0}"/>
              </a:ext>
            </a:extLst>
          </p:cNvPr>
          <p:cNvSpPr>
            <a:spLocks noGrp="1"/>
          </p:cNvSpPr>
          <p:nvPr/>
        </p:nvSpPr>
        <p:spPr>
          <a:xfrm>
            <a:off x="8210550" y="3295650"/>
            <a:ext cx="2838450" cy="9525"/>
          </a:xfrm>
          <a:prstGeom prst="rect">
            <a:avLst/>
          </a:prstGeom>
          <a:solidFill>
            <a:srgbClr val="C9D2D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D588B725-E30E-47E9-97B0-B845C653D5BE}"/>
              </a:ext>
            </a:extLst>
          </p:cNvPr>
          <p:cNvSpPr>
            <a:spLocks noGrp="1"/>
          </p:cNvSpPr>
          <p:nvPr/>
        </p:nvSpPr>
        <p:spPr>
          <a:xfrm>
            <a:off x="8210550" y="3505200"/>
            <a:ext cx="2809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stark für ECTS, Prüfung, Inhalte oder Sprache</a:t>
            </a:r>
          </a:p>
        </p:txBody>
      </p:sp>
      <p:sp>
        <p:nvSpPr>
          <p:cNvPr id="24" name="Dikdörtgen: Köşeleri Yuvarlatılmış 23">
            <a:extLst>
              <a:ext uri="{FF2B5EF4-FFF2-40B4-BE49-F238E27FC236}">
                <a16:creationId xmlns:a16="http://schemas.microsoft.com/office/drawing/2014/main" id="{CB3D20BA-1054-460D-95DC-9610441E8CB4}"/>
              </a:ext>
            </a:extLst>
          </p:cNvPr>
          <p:cNvSpPr>
            <a:spLocks noGrp="1"/>
          </p:cNvSpPr>
          <p:nvPr/>
        </p:nvSpPr>
        <p:spPr>
          <a:xfrm>
            <a:off x="1590675" y="5082540"/>
            <a:ext cx="3857625" cy="266700"/>
          </a:xfrm>
          <a:prstGeom prst="roundRect">
            <a:avLst>
              <a:gd name="adj" fmla="val 50000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420BD1E8-9270-4EE8-A306-6E18E4B584CB}"/>
              </a:ext>
            </a:extLst>
          </p:cNvPr>
          <p:cNvSpPr>
            <a:spLocks noGrp="1"/>
          </p:cNvSpPr>
          <p:nvPr/>
        </p:nvSpPr>
        <p:spPr>
          <a:xfrm>
            <a:off x="1676400" y="5048250"/>
            <a:ext cx="3667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0B8F6A"/>
                </a:solidFill>
              </a:defRPr>
            </a:pPr>
            <a:r>
              <a:rPr sz="1400" b="1" i="0">
                <a:solidFill>
                  <a:srgbClr val="0B8F6A"/>
                </a:solidFill>
              </a:rPr>
              <a:t>Modul finden → Module Chunking</a:t>
            </a:r>
          </a:p>
        </p:txBody>
      </p:sp>
      <p:sp>
        <p:nvSpPr>
          <p:cNvPr id="26" name="Dikdörtgen: Köşeleri Yuvarlatılmış 25">
            <a:extLst>
              <a:ext uri="{FF2B5EF4-FFF2-40B4-BE49-F238E27FC236}">
                <a16:creationId xmlns:a16="http://schemas.microsoft.com/office/drawing/2014/main" id="{4B1FEDA2-326E-485C-B377-79D57D153944}"/>
              </a:ext>
            </a:extLst>
          </p:cNvPr>
          <p:cNvSpPr>
            <a:spLocks noGrp="1"/>
          </p:cNvSpPr>
          <p:nvPr/>
        </p:nvSpPr>
        <p:spPr>
          <a:xfrm>
            <a:off x="6629399" y="5082540"/>
            <a:ext cx="3857625" cy="2667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BA62B752-B2F3-4577-A6A8-4CCA61D125FD}"/>
              </a:ext>
            </a:extLst>
          </p:cNvPr>
          <p:cNvSpPr>
            <a:spLocks noGrp="1"/>
          </p:cNvSpPr>
          <p:nvPr/>
        </p:nvSpPr>
        <p:spPr>
          <a:xfrm>
            <a:off x="6724650" y="5048250"/>
            <a:ext cx="3667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D59B14"/>
                </a:solidFill>
              </a:defRPr>
            </a:pPr>
            <a:r>
              <a:rPr sz="1400" b="1" i="0">
                <a:solidFill>
                  <a:srgbClr val="D59B14"/>
                </a:solidFill>
              </a:rPr>
              <a:t>Feld belegen → Field Chunking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12254CE5-0ACC-411D-B01A-9E9F2EC9E8F1}"/>
              </a:ext>
            </a:extLst>
          </p:cNvPr>
          <p:cNvSpPr>
            <a:spLocks noGrp="1"/>
          </p:cNvSpPr>
          <p:nvPr/>
        </p:nvSpPr>
        <p:spPr>
          <a:xfrm>
            <a:off x="2476500" y="56388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</a:defRPr>
            </a:pPr>
            <a:r>
              <a:rPr sz="1600" b="1" i="0">
                <a:solidFill>
                  <a:srgbClr val="111827"/>
                </a:solidFill>
              </a:rPr>
              <a:t>Ein einziges Chunking ist nicht für jede Teilaufgabe optimal!</a:t>
            </a:r>
          </a:p>
        </p:txBody>
      </p:sp>
    </p:spTree>
    <p:extLst>
      <p:ext uri="{BB962C8B-B14F-4D97-AF65-F5344CB8AC3E}">
        <p14:creationId xmlns:p14="http://schemas.microsoft.com/office/powerpoint/2010/main" val="1527686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Dikdörtgen 28">
            <a:extLst>
              <a:ext uri="{FF2B5EF4-FFF2-40B4-BE49-F238E27FC236}">
                <a16:creationId xmlns:a16="http://schemas.microsoft.com/office/drawing/2014/main" id="{96B6E055-807B-4764-8679-6E1226B2563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ERGEBNIS 1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E45FBAC3-D708-4B6B-96B9-42706D3A051B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Module Chunking findet das richtige Modul am zuverlässigsten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80F9472D-3F82-427C-9B81-428AA2CBFDF2}"/>
              </a:ext>
            </a:extLst>
          </p:cNvPr>
          <p:cNvSpPr>
            <a:spLocks noGrp="1"/>
          </p:cNvSpPr>
          <p:nvPr/>
        </p:nvSpPr>
        <p:spPr>
          <a:xfrm>
            <a:off x="704850" y="10668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Deutsch n=25 · BM25 · Modulfund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85A03460-AC51-4C1F-B870-A96F60551EF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76D42EE9-E9C3-4AB5-BA2A-6D846817DC4A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937B697A-2CF2-4703-B921-9D6EA9CCA131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8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51733005-9011-4EA6-972D-9D74F29677FC}"/>
              </a:ext>
            </a:extLst>
          </p:cNvPr>
          <p:cNvSpPr>
            <a:spLocks noGrp="1"/>
          </p:cNvSpPr>
          <p:nvPr/>
        </p:nvSpPr>
        <p:spPr>
          <a:xfrm>
            <a:off x="1695450" y="18192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0%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7707F4F-EFB2-4A79-B65B-096AD943BB8D}"/>
              </a:ext>
            </a:extLst>
          </p:cNvPr>
          <p:cNvSpPr>
            <a:spLocks noGrp="1"/>
          </p:cNvSpPr>
          <p:nvPr/>
        </p:nvSpPr>
        <p:spPr>
          <a:xfrm>
            <a:off x="4552950" y="18192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50%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33B40FC7-6856-4C67-825A-DC2F1DC70F84}"/>
              </a:ext>
            </a:extLst>
          </p:cNvPr>
          <p:cNvSpPr>
            <a:spLocks noGrp="1"/>
          </p:cNvSpPr>
          <p:nvPr/>
        </p:nvSpPr>
        <p:spPr>
          <a:xfrm>
            <a:off x="7305675" y="18192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100%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8B9D1266-AC45-47F3-A505-11EC9C08FFC2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 i="0">
                <a:solidFill>
                  <a:srgbClr val="667085"/>
                </a:solidFill>
              </a:defRPr>
            </a:pPr>
            <a:r>
              <a:rPr sz="1125" b="1" i="0">
                <a:solidFill>
                  <a:srgbClr val="667085"/>
                </a:solidFill>
              </a:rPr>
              <a:t>Module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7061515F-6FC0-479D-92EA-8037BCA84759}"/>
              </a:ext>
            </a:extLst>
          </p:cNvPr>
          <p:cNvSpPr>
            <a:spLocks noGrp="1"/>
          </p:cNvSpPr>
          <p:nvPr/>
        </p:nvSpPr>
        <p:spPr>
          <a:xfrm>
            <a:off x="1714500" y="2238375"/>
            <a:ext cx="6191250" cy="552450"/>
          </a:xfrm>
          <a:prstGeom prst="roundRect">
            <a:avLst>
              <a:gd name="adj" fmla="val 3448"/>
            </a:avLst>
          </a:prstGeom>
          <a:solidFill>
            <a:srgbClr val="E8EC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76D6C7A1-88B1-4837-8D10-503C56773220}"/>
              </a:ext>
            </a:extLst>
          </p:cNvPr>
          <p:cNvSpPr>
            <a:spLocks noGrp="1"/>
          </p:cNvSpPr>
          <p:nvPr/>
        </p:nvSpPr>
        <p:spPr>
          <a:xfrm>
            <a:off x="1714500" y="2238375"/>
            <a:ext cx="5943600" cy="552450"/>
          </a:xfrm>
          <a:prstGeom prst="roundRect">
            <a:avLst>
              <a:gd name="adj" fmla="val 3448"/>
            </a:avLst>
          </a:prstGeom>
          <a:solidFill>
            <a:srgbClr val="0B8F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8985A0B0-5436-4F48-BD4B-CC2182FBCD2C}"/>
              </a:ext>
            </a:extLst>
          </p:cNvPr>
          <p:cNvSpPr>
            <a:spLocks noGrp="1"/>
          </p:cNvSpPr>
          <p:nvPr/>
        </p:nvSpPr>
        <p:spPr>
          <a:xfrm>
            <a:off x="7753350" y="2371725"/>
            <a:ext cx="619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96%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003BDB8C-E98C-4115-BAAE-320ECD7AF112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 i="0">
                <a:solidFill>
                  <a:srgbClr val="667085"/>
                </a:solidFill>
              </a:defRPr>
            </a:pPr>
            <a:r>
              <a:rPr sz="1125" b="1" i="0">
                <a:solidFill>
                  <a:srgbClr val="667085"/>
                </a:solidFill>
              </a:rPr>
              <a:t>Field</a:t>
            </a:r>
          </a:p>
        </p:txBody>
      </p:sp>
      <p:sp>
        <p:nvSpPr>
          <p:cNvPr id="15" name="Dikdörtgen: Köşeleri Yuvarlatılmış 14">
            <a:extLst>
              <a:ext uri="{FF2B5EF4-FFF2-40B4-BE49-F238E27FC236}">
                <a16:creationId xmlns:a16="http://schemas.microsoft.com/office/drawing/2014/main" id="{0F7547A2-8B4E-4F6F-B26E-0DD8F0C85E6E}"/>
              </a:ext>
            </a:extLst>
          </p:cNvPr>
          <p:cNvSpPr>
            <a:spLocks noGrp="1"/>
          </p:cNvSpPr>
          <p:nvPr/>
        </p:nvSpPr>
        <p:spPr>
          <a:xfrm>
            <a:off x="1714500" y="3305175"/>
            <a:ext cx="6191250" cy="552450"/>
          </a:xfrm>
          <a:prstGeom prst="roundRect">
            <a:avLst>
              <a:gd name="adj" fmla="val 3448"/>
            </a:avLst>
          </a:prstGeom>
          <a:solidFill>
            <a:srgbClr val="E8EC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FD4A452F-B65A-4CD4-9264-3B29920BCD13}"/>
              </a:ext>
            </a:extLst>
          </p:cNvPr>
          <p:cNvSpPr>
            <a:spLocks noGrp="1"/>
          </p:cNvSpPr>
          <p:nvPr/>
        </p:nvSpPr>
        <p:spPr>
          <a:xfrm>
            <a:off x="1714500" y="3305175"/>
            <a:ext cx="5200650" cy="552450"/>
          </a:xfrm>
          <a:prstGeom prst="roundRect">
            <a:avLst>
              <a:gd name="adj" fmla="val 3448"/>
            </a:avLst>
          </a:prstGeom>
          <a:solidFill>
            <a:srgbClr val="D59B1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B393BD51-66B9-4829-B75C-2BC8CC3B1D65}"/>
              </a:ext>
            </a:extLst>
          </p:cNvPr>
          <p:cNvSpPr>
            <a:spLocks noGrp="1"/>
          </p:cNvSpPr>
          <p:nvPr/>
        </p:nvSpPr>
        <p:spPr>
          <a:xfrm>
            <a:off x="7010400" y="3438525"/>
            <a:ext cx="619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84%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6DD26226-F235-4E0E-934E-092EEDFB392D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 i="0">
                <a:solidFill>
                  <a:srgbClr val="667085"/>
                </a:solidFill>
              </a:defRPr>
            </a:pPr>
            <a:r>
              <a:rPr sz="1125" b="1" i="0">
                <a:solidFill>
                  <a:srgbClr val="667085"/>
                </a:solidFill>
              </a:rPr>
              <a:t>Naive</a:t>
            </a:r>
          </a:p>
        </p:txBody>
      </p:sp>
      <p:sp>
        <p:nvSpPr>
          <p:cNvPr id="19" name="Dikdörtgen: Köşeleri Yuvarlatılmış 18">
            <a:extLst>
              <a:ext uri="{FF2B5EF4-FFF2-40B4-BE49-F238E27FC236}">
                <a16:creationId xmlns:a16="http://schemas.microsoft.com/office/drawing/2014/main" id="{D09CFA9A-7924-4438-974A-312C38A2DB99}"/>
              </a:ext>
            </a:extLst>
          </p:cNvPr>
          <p:cNvSpPr>
            <a:spLocks noGrp="1"/>
          </p:cNvSpPr>
          <p:nvPr/>
        </p:nvSpPr>
        <p:spPr>
          <a:xfrm>
            <a:off x="1714500" y="4371975"/>
            <a:ext cx="6191250" cy="552450"/>
          </a:xfrm>
          <a:prstGeom prst="roundRect">
            <a:avLst>
              <a:gd name="adj" fmla="val 3448"/>
            </a:avLst>
          </a:prstGeom>
          <a:solidFill>
            <a:srgbClr val="E8EC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Dikdörtgen: Köşeleri Yuvarlatılmış 19">
            <a:extLst>
              <a:ext uri="{FF2B5EF4-FFF2-40B4-BE49-F238E27FC236}">
                <a16:creationId xmlns:a16="http://schemas.microsoft.com/office/drawing/2014/main" id="{18C97DC1-001D-4509-B6AE-A7FF464E7AEC}"/>
              </a:ext>
            </a:extLst>
          </p:cNvPr>
          <p:cNvSpPr>
            <a:spLocks noGrp="1"/>
          </p:cNvSpPr>
          <p:nvPr/>
        </p:nvSpPr>
        <p:spPr>
          <a:xfrm>
            <a:off x="1714500" y="4371975"/>
            <a:ext cx="3962400" cy="552450"/>
          </a:xfrm>
          <a:prstGeom prst="roundRect">
            <a:avLst>
              <a:gd name="adj" fmla="val 3448"/>
            </a:avLst>
          </a:prstGeom>
          <a:solidFill>
            <a:srgbClr val="2F69D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DC61717B-33C4-412A-8C60-79B7E57EB66A}"/>
              </a:ext>
            </a:extLst>
          </p:cNvPr>
          <p:cNvSpPr>
            <a:spLocks noGrp="1"/>
          </p:cNvSpPr>
          <p:nvPr/>
        </p:nvSpPr>
        <p:spPr>
          <a:xfrm>
            <a:off x="5772150" y="4505325"/>
            <a:ext cx="619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64%</a:t>
            </a:r>
          </a:p>
        </p:txBody>
      </p:sp>
      <p:sp>
        <p:nvSpPr>
          <p:cNvPr id="22" name="Dikdörtgen: Köşeleri Yuvarlatılmış 21">
            <a:extLst>
              <a:ext uri="{FF2B5EF4-FFF2-40B4-BE49-F238E27FC236}">
                <a16:creationId xmlns:a16="http://schemas.microsoft.com/office/drawing/2014/main" id="{902EAD76-AEDF-44F6-A9ED-8C1F9A0B3227}"/>
              </a:ext>
            </a:extLst>
          </p:cNvPr>
          <p:cNvSpPr>
            <a:spLocks noGrp="1"/>
          </p:cNvSpPr>
          <p:nvPr/>
        </p:nvSpPr>
        <p:spPr>
          <a:xfrm>
            <a:off x="8343900" y="1762125"/>
            <a:ext cx="3162300" cy="1619250"/>
          </a:xfrm>
          <a:prstGeom prst="roundRect">
            <a:avLst>
              <a:gd name="adj" fmla="val 7059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53BCE200-0086-42F9-9BA9-7B874D559079}"/>
              </a:ext>
            </a:extLst>
          </p:cNvPr>
          <p:cNvSpPr>
            <a:spLocks noGrp="1"/>
          </p:cNvSpPr>
          <p:nvPr/>
        </p:nvSpPr>
        <p:spPr>
          <a:xfrm>
            <a:off x="8648700" y="20383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675" b="1" i="0">
                <a:solidFill>
                  <a:srgbClr val="0B8F6A"/>
                </a:solidFill>
              </a:defRPr>
            </a:pPr>
            <a:r>
              <a:rPr sz="3675" b="1" i="0">
                <a:solidFill>
                  <a:srgbClr val="0B8F6A"/>
                </a:solidFill>
              </a:rPr>
              <a:t>96%</a:t>
            </a: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15AB6B3D-DA4B-41D0-89A3-C03DDDD0CE26}"/>
              </a:ext>
            </a:extLst>
          </p:cNvPr>
          <p:cNvSpPr>
            <a:spLocks noGrp="1"/>
          </p:cNvSpPr>
          <p:nvPr/>
        </p:nvSpPr>
        <p:spPr>
          <a:xfrm>
            <a:off x="8658225" y="271462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Hit@1 · Module Chunking</a:t>
            </a:r>
          </a:p>
        </p:txBody>
      </p:sp>
      <p:sp>
        <p:nvSpPr>
          <p:cNvPr id="25" name="Dikdörtgen: Köşeleri Yuvarlatılmış 24">
            <a:extLst>
              <a:ext uri="{FF2B5EF4-FFF2-40B4-BE49-F238E27FC236}">
                <a16:creationId xmlns:a16="http://schemas.microsoft.com/office/drawing/2014/main" id="{D7475AFB-9636-41C5-9A1D-24A6EC46DE53}"/>
              </a:ext>
            </a:extLst>
          </p:cNvPr>
          <p:cNvSpPr>
            <a:spLocks noGrp="1"/>
          </p:cNvSpPr>
          <p:nvPr/>
        </p:nvSpPr>
        <p:spPr>
          <a:xfrm>
            <a:off x="8343900" y="3619500"/>
            <a:ext cx="3162300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8C24C074-24E4-4F56-8643-6824CCE3261A}"/>
              </a:ext>
            </a:extLst>
          </p:cNvPr>
          <p:cNvSpPr>
            <a:spLocks noGrp="1"/>
          </p:cNvSpPr>
          <p:nvPr/>
        </p:nvSpPr>
        <p:spPr>
          <a:xfrm>
            <a:off x="8610600" y="37719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2F69D3"/>
                </a:solidFill>
              </a:defRPr>
            </a:pPr>
            <a:r>
              <a:rPr sz="1600" b="1" i="0">
                <a:solidFill>
                  <a:srgbClr val="2F69D3"/>
                </a:solidFill>
              </a:rPr>
              <a:t>Interpretation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750CA4E6-A450-4D4B-9575-B67FA7F821A6}"/>
              </a:ext>
            </a:extLst>
          </p:cNvPr>
          <p:cNvSpPr>
            <a:spLocks noGrp="1"/>
          </p:cNvSpPr>
          <p:nvPr/>
        </p:nvSpPr>
        <p:spPr>
          <a:xfrm>
            <a:off x="8629650" y="417195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Für den Modulfund ist zusammenhängender Modulkontext wertvoller als die feinste Granularität.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055B720C-50CC-453F-AE9E-A66B1BB79ACA}"/>
              </a:ext>
            </a:extLst>
          </p:cNvPr>
          <p:cNvSpPr>
            <a:spLocks noGrp="1"/>
          </p:cNvSpPr>
          <p:nvPr/>
        </p:nvSpPr>
        <p:spPr>
          <a:xfrm>
            <a:off x="7000875" y="6153150"/>
            <a:ext cx="45053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Auditpfad: Excel › Ergebnisse, Zeilen 4–8</a:t>
            </a:r>
          </a:p>
        </p:txBody>
      </p:sp>
    </p:spTree>
    <p:extLst>
      <p:ext uri="{BB962C8B-B14F-4D97-AF65-F5344CB8AC3E}">
        <p14:creationId xmlns:p14="http://schemas.microsoft.com/office/powerpoint/2010/main" val="1175709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ikdörtgen 21">
            <a:extLst>
              <a:ext uri="{FF2B5EF4-FFF2-40B4-BE49-F238E27FC236}">
                <a16:creationId xmlns:a16="http://schemas.microsoft.com/office/drawing/2014/main" id="{FE1530AD-9FE2-427E-AA9E-4E9B52B65DF9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DIAGNOSE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E51C5452-A8F3-4CD8-A63C-42D4442C2D00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Richtiges Modul ist noch nicht der richtige Abschnitt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A5234827-FA6B-4169-AEA7-FB3A758E29A1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E7B7DAE2-8818-435C-A20F-A738C322D602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1460BBD8-6A60-4E3A-B2F8-DC56DCA60AA8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9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B2D32BC6-C1F2-4F94-BD9F-1E564E4666D2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619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2F69D3"/>
                </a:solidFill>
              </a:defRPr>
            </a:pPr>
            <a:r>
              <a:rPr sz="975" b="1" i="0">
                <a:solidFill>
                  <a:srgbClr val="2F69D3"/>
                </a:solidFill>
              </a:rPr>
              <a:t>Beispiel q07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D031AA5C-1A9C-433C-89C8-D45D26D057AA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 i="0">
                <a:solidFill>
                  <a:srgbClr val="111827"/>
                </a:solidFill>
              </a:defRPr>
            </a:pPr>
            <a:r>
              <a:rPr sz="1950" b="1" i="0">
                <a:solidFill>
                  <a:srgbClr val="111827"/>
                </a:solidFill>
              </a:rPr>
              <a:t>„Welche Module behandeln Informationssuche und Suchmaschinen?“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313C968C-AC6C-4AE4-AFDD-6B62580102F7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5095875" cy="2000250"/>
          </a:xfrm>
          <a:prstGeom prst="roundRect">
            <a:avLst>
              <a:gd name="adj" fmla="val 5714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3E79922A-E7FD-467A-B939-1DF183CEBF55}"/>
              </a:ext>
            </a:extLst>
          </p:cNvPr>
          <p:cNvSpPr>
            <a:spLocks noGrp="1"/>
          </p:cNvSpPr>
          <p:nvPr/>
        </p:nvSpPr>
        <p:spPr>
          <a:xfrm>
            <a:off x="952500" y="2990850"/>
            <a:ext cx="1571625" cy="266700"/>
          </a:xfrm>
          <a:prstGeom prst="roundRect">
            <a:avLst>
              <a:gd name="adj" fmla="val 50000"/>
            </a:avLst>
          </a:prstGeom>
          <a:solidFill>
            <a:srgbClr val="0B8F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BBA4FA08-DC68-4C71-9A3C-467905C6A96D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1381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MODUL RICHTIG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3614E5D6-696F-4170-8877-7FDEB1CF44D3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WP3 · Information Retrieval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2736030D-7C23-443D-AA62-709A1FCC7337}"/>
              </a:ext>
            </a:extLst>
          </p:cNvPr>
          <p:cNvSpPr>
            <a:spLocks noGrp="1"/>
          </p:cNvSpPr>
          <p:nvPr/>
        </p:nvSpPr>
        <p:spPr>
          <a:xfrm>
            <a:off x="952500" y="405765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Das System erkennt das relevante Modul.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28BDF2D6-6CFC-45F0-BC57-A1B6FB2097F6}"/>
              </a:ext>
            </a:extLst>
          </p:cNvPr>
          <p:cNvSpPr>
            <a:spLocks noGrp="1"/>
          </p:cNvSpPr>
          <p:nvPr/>
        </p:nvSpPr>
        <p:spPr>
          <a:xfrm>
            <a:off x="5857875" y="34766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850" b="1" i="0">
                <a:solidFill>
                  <a:srgbClr val="667085"/>
                </a:solidFill>
              </a:defRPr>
            </a:pPr>
            <a:r>
              <a:rPr sz="285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28DF65CA-D441-4741-8E55-4EABC7741C00}"/>
              </a:ext>
            </a:extLst>
          </p:cNvPr>
          <p:cNvSpPr>
            <a:spLocks noGrp="1"/>
          </p:cNvSpPr>
          <p:nvPr/>
        </p:nvSpPr>
        <p:spPr>
          <a:xfrm>
            <a:off x="6457950" y="2762250"/>
            <a:ext cx="5048250" cy="2000250"/>
          </a:xfrm>
          <a:prstGeom prst="roundRect">
            <a:avLst>
              <a:gd name="adj" fmla="val 5714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Dikdörtgen: Köşeleri Yuvarlatılmış 14">
            <a:extLst>
              <a:ext uri="{FF2B5EF4-FFF2-40B4-BE49-F238E27FC236}">
                <a16:creationId xmlns:a16="http://schemas.microsoft.com/office/drawing/2014/main" id="{A8A84A3D-6D02-4411-BA8D-28A06275DFB0}"/>
              </a:ext>
            </a:extLst>
          </p:cNvPr>
          <p:cNvSpPr>
            <a:spLocks noGrp="1"/>
          </p:cNvSpPr>
          <p:nvPr/>
        </p:nvSpPr>
        <p:spPr>
          <a:xfrm>
            <a:off x="6724650" y="2990850"/>
            <a:ext cx="1809750" cy="266700"/>
          </a:xfrm>
          <a:prstGeom prst="roundRect">
            <a:avLst>
              <a:gd name="adj" fmla="val 50000"/>
            </a:avLst>
          </a:prstGeom>
          <a:solidFill>
            <a:srgbClr val="D59B1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A6A4D5E7-6C61-4807-86E6-7022DEE0B937}"/>
              </a:ext>
            </a:extLst>
          </p:cNvPr>
          <p:cNvSpPr>
            <a:spLocks noGrp="1"/>
          </p:cNvSpPr>
          <p:nvPr/>
        </p:nvSpPr>
        <p:spPr>
          <a:xfrm>
            <a:off x="6819900" y="3038475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TOP 1: FELD FALSCH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9FEC82B4-7B67-43CE-A3E4-B17D5BC85E0F}"/>
              </a:ext>
            </a:extLst>
          </p:cNvPr>
          <p:cNvSpPr>
            <a:spLocks noGrp="1"/>
          </p:cNvSpPr>
          <p:nvPr/>
        </p:nvSpPr>
        <p:spPr>
          <a:xfrm>
            <a:off x="6724650" y="3476625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Qualifikationsziele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6D3BA7B6-C8C9-4EBB-A363-0A1E3AB538BD}"/>
              </a:ext>
            </a:extLst>
          </p:cNvPr>
          <p:cNvSpPr>
            <a:spLocks noGrp="1"/>
          </p:cNvSpPr>
          <p:nvPr/>
        </p:nvSpPr>
        <p:spPr>
          <a:xfrm>
            <a:off x="6724650" y="4057650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Gold: Inhalte · erster relevanter Rang: 2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A9A573D4-F050-4145-BFF7-CD6DE9900DC5}"/>
              </a:ext>
            </a:extLst>
          </p:cNvPr>
          <p:cNvSpPr>
            <a:spLocks noGrp="1"/>
          </p:cNvSpPr>
          <p:nvPr/>
        </p:nvSpPr>
        <p:spPr>
          <a:xfrm>
            <a:off x="1828800" y="50863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 i="0">
                <a:solidFill>
                  <a:srgbClr val="0B8F6A"/>
                </a:solidFill>
              </a:defRPr>
            </a:pPr>
            <a:r>
              <a:rPr sz="1600" b="1" i="0">
                <a:solidFill>
                  <a:srgbClr val="0B8F6A"/>
                </a:solidFill>
              </a:rPr>
              <a:t>Modulfund → relaxed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80BA893C-2AD3-4587-857D-A1C9F9B86193}"/>
              </a:ext>
            </a:extLst>
          </p:cNvPr>
          <p:cNvSpPr>
            <a:spLocks noGrp="1"/>
          </p:cNvSpPr>
          <p:nvPr/>
        </p:nvSpPr>
        <p:spPr>
          <a:xfrm>
            <a:off x="7886702" y="5062538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 i="0">
                <a:solidFill>
                  <a:srgbClr val="D59B14"/>
                </a:solidFill>
              </a:defRPr>
            </a:pPr>
            <a:r>
              <a:rPr sz="1600" b="1" i="0">
                <a:solidFill>
                  <a:srgbClr val="D59B14"/>
                </a:solidFill>
              </a:rPr>
              <a:t>Feldfund → strict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D03F4EDF-8392-411B-A4C4-213ED6166771}"/>
              </a:ext>
            </a:extLst>
          </p:cNvPr>
          <p:cNvSpPr>
            <a:spLocks noGrp="1"/>
          </p:cNvSpPr>
          <p:nvPr/>
        </p:nvSpPr>
        <p:spPr>
          <a:xfrm>
            <a:off x="7000875" y="6153150"/>
            <a:ext cx="45053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Auditpfad: Excel › Fehleranalyse, q07</a:t>
            </a:r>
          </a:p>
        </p:txBody>
      </p:sp>
    </p:spTree>
    <p:extLst>
      <p:ext uri="{BB962C8B-B14F-4D97-AF65-F5344CB8AC3E}">
        <p14:creationId xmlns:p14="http://schemas.microsoft.com/office/powerpoint/2010/main" val="1285757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Dikdörtgen 31">
            <a:extLst>
              <a:ext uri="{FF2B5EF4-FFF2-40B4-BE49-F238E27FC236}">
                <a16:creationId xmlns:a16="http://schemas.microsoft.com/office/drawing/2014/main" id="{9E6713AD-3B27-459C-A41C-DDB7860BFAC2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RETRIEVAL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8163FB2B-B7E4-4B34-882E-13493FA8DC8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Hybrid heißt: lexikalisches und semantisches Signal bewusst mischen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DD1A0C30-A6B4-45B0-BA46-565B2DD3917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D8BCD684-0D8B-4865-9161-B4F94A2A23CE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BC204365-C66D-46F4-A5E5-0796D4167B99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FA71BD1A-22BD-474F-A01A-158DB38B1EEB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3200400" cy="1447800"/>
          </a:xfrm>
          <a:prstGeom prst="roundRect">
            <a:avLst>
              <a:gd name="adj" fmla="val 7895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7FDDC5CA-6009-4E8E-BC99-1E796AFBF0E6}"/>
              </a:ext>
            </a:extLst>
          </p:cNvPr>
          <p:cNvSpPr>
            <a:spLocks noGrp="1"/>
          </p:cNvSpPr>
          <p:nvPr/>
        </p:nvSpPr>
        <p:spPr>
          <a:xfrm>
            <a:off x="952500" y="17907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2F69D3"/>
                </a:solidFill>
              </a:defRPr>
            </a:pPr>
            <a:r>
              <a:rPr sz="2025" b="1" i="0">
                <a:solidFill>
                  <a:srgbClr val="2F69D3"/>
                </a:solidFill>
              </a:rPr>
              <a:t>BM25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11F3D5E9-A60F-4F08-90C3-5574B85B131B}"/>
              </a:ext>
            </a:extLst>
          </p:cNvPr>
          <p:cNvSpPr>
            <a:spLocks noGrp="1"/>
          </p:cNvSpPr>
          <p:nvPr/>
        </p:nvSpPr>
        <p:spPr>
          <a:xfrm>
            <a:off x="952500" y="2295525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111827"/>
                </a:solidFill>
              </a:defRPr>
            </a:pPr>
            <a:r>
              <a:rPr sz="1125" b="0" i="0">
                <a:solidFill>
                  <a:srgbClr val="111827"/>
                </a:solidFill>
              </a:rPr>
              <a:t>exakte Begriffe · Modulcodes</a:t>
            </a:r>
          </a:p>
          <a:p>
            <a:pPr algn="l">
              <a:buNone/>
              <a:defRPr sz="1125" b="0" i="0">
                <a:solidFill>
                  <a:srgbClr val="111827"/>
                </a:solidFill>
              </a:defRPr>
            </a:pPr>
            <a:r>
              <a:rPr sz="1125" b="0" i="0">
                <a:solidFill>
                  <a:srgbClr val="111827"/>
                </a:solidFill>
              </a:rPr>
              <a:t>transparente lexikalische Treffer</a:t>
            </a:r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7BA70DEA-5944-4012-9B31-A9F06A7C4A97}"/>
              </a:ext>
            </a:extLst>
          </p:cNvPr>
          <p:cNvSpPr>
            <a:spLocks noGrp="1"/>
          </p:cNvSpPr>
          <p:nvPr/>
        </p:nvSpPr>
        <p:spPr>
          <a:xfrm>
            <a:off x="4171950" y="1562100"/>
            <a:ext cx="3200400" cy="1447800"/>
          </a:xfrm>
          <a:prstGeom prst="roundRect">
            <a:avLst>
              <a:gd name="adj" fmla="val 7895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082840A8-1F88-4B42-B012-CD5E70DF5406}"/>
              </a:ext>
            </a:extLst>
          </p:cNvPr>
          <p:cNvSpPr>
            <a:spLocks noGrp="1"/>
          </p:cNvSpPr>
          <p:nvPr/>
        </p:nvSpPr>
        <p:spPr>
          <a:xfrm>
            <a:off x="4438650" y="17907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0B8F6A"/>
                </a:solidFill>
              </a:defRPr>
            </a:pPr>
            <a:r>
              <a:rPr sz="2025" b="1" i="0">
                <a:solidFill>
                  <a:srgbClr val="0B8F6A"/>
                </a:solidFill>
              </a:rPr>
              <a:t>Dense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EF950B1A-0A30-425A-9E88-FF168CF39989}"/>
              </a:ext>
            </a:extLst>
          </p:cNvPr>
          <p:cNvSpPr>
            <a:spLocks noGrp="1"/>
          </p:cNvSpPr>
          <p:nvPr/>
        </p:nvSpPr>
        <p:spPr>
          <a:xfrm>
            <a:off x="4438650" y="2295525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111827"/>
                </a:solidFill>
              </a:defRPr>
            </a:pPr>
            <a:r>
              <a:rPr sz="1125" b="0" i="0">
                <a:solidFill>
                  <a:srgbClr val="111827"/>
                </a:solidFill>
              </a:rPr>
              <a:t>semantische Ähnlichkeit</a:t>
            </a:r>
          </a:p>
          <a:p>
            <a:pPr algn="l">
              <a:buNone/>
              <a:defRPr sz="1125" b="0" i="0">
                <a:solidFill>
                  <a:srgbClr val="111827"/>
                </a:solidFill>
              </a:defRPr>
            </a:pPr>
            <a:r>
              <a:rPr sz="1125" b="0" i="0">
                <a:solidFill>
                  <a:srgbClr val="111827"/>
                </a:solidFill>
              </a:rPr>
              <a:t>mehrsprachige Repräsentation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660C0533-56EC-4013-9F06-CFC4D7480AB8}"/>
              </a:ext>
            </a:extLst>
          </p:cNvPr>
          <p:cNvSpPr>
            <a:spLocks noGrp="1"/>
          </p:cNvSpPr>
          <p:nvPr/>
        </p:nvSpPr>
        <p:spPr>
          <a:xfrm>
            <a:off x="7658100" y="1562100"/>
            <a:ext cx="3848100" cy="1447800"/>
          </a:xfrm>
          <a:prstGeom prst="roundRect">
            <a:avLst>
              <a:gd name="adj" fmla="val 7895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E2063091-4AA4-4A52-B921-A05FAF85FEC7}"/>
              </a:ext>
            </a:extLst>
          </p:cNvPr>
          <p:cNvSpPr>
            <a:spLocks noGrp="1"/>
          </p:cNvSpPr>
          <p:nvPr/>
        </p:nvSpPr>
        <p:spPr>
          <a:xfrm>
            <a:off x="7924800" y="17907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D59B14"/>
                </a:solidFill>
              </a:defRPr>
            </a:pPr>
            <a:r>
              <a:rPr sz="2025" b="1" i="0">
                <a:solidFill>
                  <a:srgbClr val="D59B14"/>
                </a:solidFill>
              </a:rPr>
              <a:t>Hybrid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52B4C083-950E-4FE7-918D-E087131DB521}"/>
              </a:ext>
            </a:extLst>
          </p:cNvPr>
          <p:cNvSpPr>
            <a:spLocks noGrp="1"/>
          </p:cNvSpPr>
          <p:nvPr/>
        </p:nvSpPr>
        <p:spPr>
          <a:xfrm>
            <a:off x="7924800" y="2352675"/>
            <a:ext cx="323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Score = α · Dense + (1−α) · BM25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DAAB468B-BFCA-44DC-87E9-7B11513FCC93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α ist der Dense-Anteil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117CA826-5693-4C5E-B0EF-2A5C3D1F942B}"/>
              </a:ext>
            </a:extLst>
          </p:cNvPr>
          <p:cNvSpPr>
            <a:spLocks noGrp="1"/>
          </p:cNvSpPr>
          <p:nvPr/>
        </p:nvSpPr>
        <p:spPr>
          <a:xfrm>
            <a:off x="685800" y="4162425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11827"/>
                </a:solidFill>
              </a:defRPr>
            </a:pPr>
            <a:r>
              <a:rPr sz="1125" b="1" i="0">
                <a:solidFill>
                  <a:srgbClr val="111827"/>
                </a:solidFill>
              </a:rPr>
              <a:t>α = 0,25</a:t>
            </a:r>
          </a:p>
        </p:txBody>
      </p:sp>
      <p:sp>
        <p:nvSpPr>
          <p:cNvPr id="17" name="Dikdörtgen: Köşeleri Yuvarlatılmış 16">
            <a:extLst>
              <a:ext uri="{FF2B5EF4-FFF2-40B4-BE49-F238E27FC236}">
                <a16:creationId xmlns:a16="http://schemas.microsoft.com/office/drawing/2014/main" id="{90322842-D03A-4CE8-BEDA-DFA0B412DC39}"/>
              </a:ext>
            </a:extLst>
          </p:cNvPr>
          <p:cNvSpPr>
            <a:spLocks noGrp="1"/>
          </p:cNvSpPr>
          <p:nvPr/>
        </p:nvSpPr>
        <p:spPr>
          <a:xfrm>
            <a:off x="2000250" y="4114800"/>
            <a:ext cx="5715000" cy="323850"/>
          </a:xfrm>
          <a:prstGeom prst="roundRect">
            <a:avLst>
              <a:gd name="adj" fmla="val 5882"/>
            </a:avLst>
          </a:prstGeom>
          <a:solidFill>
            <a:srgbClr val="2F69D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Dikdörtgen: Köşeleri Yuvarlatılmış 17">
            <a:extLst>
              <a:ext uri="{FF2B5EF4-FFF2-40B4-BE49-F238E27FC236}">
                <a16:creationId xmlns:a16="http://schemas.microsoft.com/office/drawing/2014/main" id="{A5A35E53-548D-4138-BD39-B8D76FF61BFB}"/>
              </a:ext>
            </a:extLst>
          </p:cNvPr>
          <p:cNvSpPr>
            <a:spLocks noGrp="1"/>
          </p:cNvSpPr>
          <p:nvPr/>
        </p:nvSpPr>
        <p:spPr>
          <a:xfrm>
            <a:off x="7715250" y="4114800"/>
            <a:ext cx="1905000" cy="323850"/>
          </a:xfrm>
          <a:prstGeom prst="roundRect">
            <a:avLst>
              <a:gd name="adj" fmla="val 5882"/>
            </a:avLst>
          </a:prstGeom>
          <a:solidFill>
            <a:srgbClr val="0B8F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F22023EB-0F93-437E-8E2D-338710E43D0A}"/>
              </a:ext>
            </a:extLst>
          </p:cNvPr>
          <p:cNvSpPr>
            <a:spLocks noGrp="1"/>
          </p:cNvSpPr>
          <p:nvPr/>
        </p:nvSpPr>
        <p:spPr>
          <a:xfrm>
            <a:off x="4857750" y="40957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</a:rPr>
              <a:t>75% BM25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03963FBC-C4CC-4766-ADD1-95FCFB41F1A8}"/>
              </a:ext>
            </a:extLst>
          </p:cNvPr>
          <p:cNvSpPr>
            <a:spLocks noGrp="1"/>
          </p:cNvSpPr>
          <p:nvPr/>
        </p:nvSpPr>
        <p:spPr>
          <a:xfrm>
            <a:off x="8191500" y="4086225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</a:rPr>
              <a:t>25% Dense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5279676E-5362-45EF-A084-4BF7CAB41669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11827"/>
                </a:solidFill>
              </a:defRPr>
            </a:pPr>
            <a:r>
              <a:rPr sz="1125" b="1" i="0">
                <a:solidFill>
                  <a:srgbClr val="111827"/>
                </a:solidFill>
              </a:rPr>
              <a:t>α = 0,50</a:t>
            </a:r>
          </a:p>
        </p:txBody>
      </p:sp>
      <p:sp>
        <p:nvSpPr>
          <p:cNvPr id="22" name="Dikdörtgen: Köşeleri Yuvarlatılmış 21">
            <a:extLst>
              <a:ext uri="{FF2B5EF4-FFF2-40B4-BE49-F238E27FC236}">
                <a16:creationId xmlns:a16="http://schemas.microsoft.com/office/drawing/2014/main" id="{50E43693-A818-4A5A-855E-75C01E1404B6}"/>
              </a:ext>
            </a:extLst>
          </p:cNvPr>
          <p:cNvSpPr>
            <a:spLocks noGrp="1"/>
          </p:cNvSpPr>
          <p:nvPr/>
        </p:nvSpPr>
        <p:spPr>
          <a:xfrm>
            <a:off x="2000250" y="4667250"/>
            <a:ext cx="3810000" cy="323850"/>
          </a:xfrm>
          <a:prstGeom prst="roundRect">
            <a:avLst>
              <a:gd name="adj" fmla="val 5882"/>
            </a:avLst>
          </a:prstGeom>
          <a:solidFill>
            <a:srgbClr val="2F69D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Dikdörtgen: Köşeleri Yuvarlatılmış 22">
            <a:extLst>
              <a:ext uri="{FF2B5EF4-FFF2-40B4-BE49-F238E27FC236}">
                <a16:creationId xmlns:a16="http://schemas.microsoft.com/office/drawing/2014/main" id="{DC5AE680-C419-4A97-84CC-30026F5B0D0B}"/>
              </a:ext>
            </a:extLst>
          </p:cNvPr>
          <p:cNvSpPr>
            <a:spLocks noGrp="1"/>
          </p:cNvSpPr>
          <p:nvPr/>
        </p:nvSpPr>
        <p:spPr>
          <a:xfrm>
            <a:off x="5810250" y="4667250"/>
            <a:ext cx="3810000" cy="323850"/>
          </a:xfrm>
          <a:prstGeom prst="roundRect">
            <a:avLst>
              <a:gd name="adj" fmla="val 5882"/>
            </a:avLst>
          </a:prstGeom>
          <a:solidFill>
            <a:srgbClr val="0B8F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519B7539-91CA-437A-B9F3-B5E24CEA04D6}"/>
              </a:ext>
            </a:extLst>
          </p:cNvPr>
          <p:cNvSpPr>
            <a:spLocks noGrp="1"/>
          </p:cNvSpPr>
          <p:nvPr/>
        </p:nvSpPr>
        <p:spPr>
          <a:xfrm>
            <a:off x="3314700" y="4658487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</a:rPr>
              <a:t>50% BM25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85E9ADDC-0DE4-458D-97C8-A89DB48D0670}"/>
              </a:ext>
            </a:extLst>
          </p:cNvPr>
          <p:cNvSpPr>
            <a:spLocks noGrp="1"/>
          </p:cNvSpPr>
          <p:nvPr/>
        </p:nvSpPr>
        <p:spPr>
          <a:xfrm>
            <a:off x="7112889" y="4645724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</a:rPr>
              <a:t>50% Dense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02206438-D280-41B6-BF23-21900910D4C4}"/>
              </a:ext>
            </a:extLst>
          </p:cNvPr>
          <p:cNvSpPr>
            <a:spLocks noGrp="1"/>
          </p:cNvSpPr>
          <p:nvPr/>
        </p:nvSpPr>
        <p:spPr>
          <a:xfrm>
            <a:off x="685800" y="5267325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11827"/>
                </a:solidFill>
              </a:defRPr>
            </a:pPr>
            <a:r>
              <a:rPr sz="1125" b="1" i="0">
                <a:solidFill>
                  <a:srgbClr val="111827"/>
                </a:solidFill>
              </a:rPr>
              <a:t>α = 0,75</a:t>
            </a:r>
          </a:p>
        </p:txBody>
      </p:sp>
      <p:sp>
        <p:nvSpPr>
          <p:cNvPr id="27" name="Dikdörtgen: Köşeleri Yuvarlatılmış 26">
            <a:extLst>
              <a:ext uri="{FF2B5EF4-FFF2-40B4-BE49-F238E27FC236}">
                <a16:creationId xmlns:a16="http://schemas.microsoft.com/office/drawing/2014/main" id="{9430C28B-EDC8-4E64-B549-B5239354DBCC}"/>
              </a:ext>
            </a:extLst>
          </p:cNvPr>
          <p:cNvSpPr>
            <a:spLocks noGrp="1"/>
          </p:cNvSpPr>
          <p:nvPr/>
        </p:nvSpPr>
        <p:spPr>
          <a:xfrm>
            <a:off x="2000250" y="5219700"/>
            <a:ext cx="1905000" cy="323850"/>
          </a:xfrm>
          <a:prstGeom prst="roundRect">
            <a:avLst>
              <a:gd name="adj" fmla="val 5882"/>
            </a:avLst>
          </a:prstGeom>
          <a:solidFill>
            <a:srgbClr val="2F69D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Dikdörtgen: Köşeleri Yuvarlatılmış 27">
            <a:extLst>
              <a:ext uri="{FF2B5EF4-FFF2-40B4-BE49-F238E27FC236}">
                <a16:creationId xmlns:a16="http://schemas.microsoft.com/office/drawing/2014/main" id="{9020C4BE-AC5D-4042-B177-49B0D279D792}"/>
              </a:ext>
            </a:extLst>
          </p:cNvPr>
          <p:cNvSpPr>
            <a:spLocks noGrp="1"/>
          </p:cNvSpPr>
          <p:nvPr/>
        </p:nvSpPr>
        <p:spPr>
          <a:xfrm>
            <a:off x="3905250" y="5219700"/>
            <a:ext cx="5715000" cy="323850"/>
          </a:xfrm>
          <a:prstGeom prst="roundRect">
            <a:avLst>
              <a:gd name="adj" fmla="val 5882"/>
            </a:avLst>
          </a:prstGeom>
          <a:solidFill>
            <a:srgbClr val="0B8F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23C4916C-A06F-4224-883A-E8FAEFB82733}"/>
              </a:ext>
            </a:extLst>
          </p:cNvPr>
          <p:cNvSpPr>
            <a:spLocks noGrp="1"/>
          </p:cNvSpPr>
          <p:nvPr/>
        </p:nvSpPr>
        <p:spPr>
          <a:xfrm>
            <a:off x="2457450" y="52006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</a:rPr>
              <a:t>25% BM25</a:t>
            </a:r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1931C664-F949-4F49-9823-901C10E07C5F}"/>
              </a:ext>
            </a:extLst>
          </p:cNvPr>
          <p:cNvSpPr>
            <a:spLocks noGrp="1"/>
          </p:cNvSpPr>
          <p:nvPr/>
        </p:nvSpPr>
        <p:spPr>
          <a:xfrm>
            <a:off x="4857750" y="5229225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</a:rPr>
              <a:t>75% Dense</a:t>
            </a: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4DE315E2-224A-4013-827A-9A54B687BE0B}"/>
              </a:ext>
            </a:extLst>
          </p:cNvPr>
          <p:cNvSpPr>
            <a:spLocks noGrp="1"/>
          </p:cNvSpPr>
          <p:nvPr/>
        </p:nvSpPr>
        <p:spPr>
          <a:xfrm>
            <a:off x="8172450" y="3581400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Im finalen Lauf trägt BM25 den größeren Anteil des besten Hybrids.</a:t>
            </a:r>
          </a:p>
        </p:txBody>
      </p:sp>
    </p:spTree>
    <p:extLst>
      <p:ext uri="{BB962C8B-B14F-4D97-AF65-F5344CB8AC3E}">
        <p14:creationId xmlns:p14="http://schemas.microsoft.com/office/powerpoint/2010/main" val="1889338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ikdörtgen 22">
            <a:extLst>
              <a:ext uri="{FF2B5EF4-FFF2-40B4-BE49-F238E27FC236}">
                <a16:creationId xmlns:a16="http://schemas.microsoft.com/office/drawing/2014/main" id="{965F6B39-2246-4ACB-BC4E-65D820BB5BA5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EVALUATION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33303EA6-8BAA-4BDD-B081-148F4BE5C710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Strict und relaxed beantworten unterschiedliche Fragen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6406E939-CCDC-4D4E-B51B-56E6602F1D3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6D49A5D6-C31F-4947-8DC9-223C68300BC5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FD1E4875-1C17-427F-825D-775A74F236BD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11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FBF02509-F6C6-4B1B-A403-6974505608D6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5067300" cy="3429000"/>
          </a:xfrm>
          <a:prstGeom prst="roundRect">
            <a:avLst>
              <a:gd name="adj" fmla="val 3333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: Köşeleri Yuvarlatılmış 6">
            <a:extLst>
              <a:ext uri="{FF2B5EF4-FFF2-40B4-BE49-F238E27FC236}">
                <a16:creationId xmlns:a16="http://schemas.microsoft.com/office/drawing/2014/main" id="{7E7552DA-9BA1-482B-980D-19F202D27E74}"/>
              </a:ext>
            </a:extLst>
          </p:cNvPr>
          <p:cNvSpPr>
            <a:spLocks noGrp="1"/>
          </p:cNvSpPr>
          <p:nvPr/>
        </p:nvSpPr>
        <p:spPr>
          <a:xfrm>
            <a:off x="971550" y="1847850"/>
            <a:ext cx="1238250" cy="266700"/>
          </a:xfrm>
          <a:prstGeom prst="roundRect">
            <a:avLst>
              <a:gd name="adj" fmla="val 50000"/>
            </a:avLst>
          </a:prstGeom>
          <a:solidFill>
            <a:srgbClr val="0B8F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E9EA832A-C4AC-4C87-85EC-92D960821085}"/>
              </a:ext>
            </a:extLst>
          </p:cNvPr>
          <p:cNvSpPr>
            <a:spLocks noGrp="1"/>
          </p:cNvSpPr>
          <p:nvPr/>
        </p:nvSpPr>
        <p:spPr>
          <a:xfrm>
            <a:off x="1066800" y="1859661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RELAXED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11E14DBE-7C67-4FE0-9B7F-428AE1618DB3}"/>
              </a:ext>
            </a:extLst>
          </p:cNvPr>
          <p:cNvSpPr>
            <a:spLocks noGrp="1"/>
          </p:cNvSpPr>
          <p:nvPr/>
        </p:nvSpPr>
        <p:spPr>
          <a:xfrm>
            <a:off x="971549" y="2381250"/>
            <a:ext cx="428624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111827"/>
                </a:solidFill>
              </a:defRPr>
            </a:pPr>
            <a:r>
              <a:rPr lang="de-DE" sz="2025" b="1" i="0" dirty="0">
                <a:solidFill>
                  <a:srgbClr val="111827"/>
                </a:solidFill>
              </a:rPr>
              <a:t>Sind</a:t>
            </a:r>
            <a:r>
              <a:rPr sz="2025" b="1" i="0" dirty="0">
                <a:solidFill>
                  <a:srgbClr val="111827"/>
                </a:solidFill>
              </a:rPr>
              <a:t> </a:t>
            </a:r>
            <a:r>
              <a:rPr lang="de-DE" sz="2025" b="1" i="0" dirty="0">
                <a:solidFill>
                  <a:srgbClr val="111827"/>
                </a:solidFill>
              </a:rPr>
              <a:t>Dokument und </a:t>
            </a:r>
            <a:r>
              <a:rPr sz="2025" b="1" i="0" dirty="0">
                <a:solidFill>
                  <a:srgbClr val="111827"/>
                </a:solidFill>
              </a:rPr>
              <a:t>Modul </a:t>
            </a:r>
            <a:r>
              <a:rPr lang="de-DE" sz="2025" b="1" i="0" dirty="0">
                <a:solidFill>
                  <a:srgbClr val="111827"/>
                </a:solidFill>
              </a:rPr>
              <a:t>korrekt</a:t>
            </a:r>
            <a:r>
              <a:rPr sz="2025" b="1" i="0" dirty="0">
                <a:solidFill>
                  <a:srgbClr val="111827"/>
                </a:solidFill>
              </a:rPr>
              <a:t>?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808844EE-BC7D-467E-9CB2-23373E183DA7}"/>
              </a:ext>
            </a:extLst>
          </p:cNvPr>
          <p:cNvSpPr>
            <a:spLocks noGrp="1"/>
          </p:cNvSpPr>
          <p:nvPr/>
        </p:nvSpPr>
        <p:spPr>
          <a:xfrm>
            <a:off x="971550" y="30765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Goldschlüssel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A5D7F392-A7F0-4B5C-BADE-FADF88342F51}"/>
              </a:ext>
            </a:extLst>
          </p:cNvPr>
          <p:cNvSpPr>
            <a:spLocks noGrp="1"/>
          </p:cNvSpPr>
          <p:nvPr/>
        </p:nvSpPr>
        <p:spPr>
          <a:xfrm>
            <a:off x="971550" y="3381375"/>
            <a:ext cx="428625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748B0003-0B5F-4B64-8A55-91099B71BFC0}"/>
              </a:ext>
            </a:extLst>
          </p:cNvPr>
          <p:cNvSpPr>
            <a:spLocks noGrp="1"/>
          </p:cNvSpPr>
          <p:nvPr/>
        </p:nvSpPr>
        <p:spPr>
          <a:xfrm>
            <a:off x="1162050" y="3543300"/>
            <a:ext cx="3905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0B8F6A"/>
                </a:solidFill>
              </a:defRPr>
            </a:pPr>
            <a:r>
              <a:rPr sz="1350" b="1" i="0">
                <a:solidFill>
                  <a:srgbClr val="0B8F6A"/>
                </a:solidFill>
              </a:rPr>
              <a:t>Dokument :: Modul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6507178C-29DC-411F-B0A9-83FC52DBE5B9}"/>
              </a:ext>
            </a:extLst>
          </p:cNvPr>
          <p:cNvSpPr>
            <a:spLocks noGrp="1"/>
          </p:cNvSpPr>
          <p:nvPr/>
        </p:nvSpPr>
        <p:spPr>
          <a:xfrm>
            <a:off x="971550" y="42862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geeignet für Chunking-Vergleich und Modulfund</a:t>
            </a: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2CD7AD1C-2584-43F2-B89D-E83A0E5F92F4}"/>
              </a:ext>
            </a:extLst>
          </p:cNvPr>
          <p:cNvSpPr>
            <a:spLocks noGrp="1"/>
          </p:cNvSpPr>
          <p:nvPr/>
        </p:nvSpPr>
        <p:spPr>
          <a:xfrm>
            <a:off x="6438900" y="1581150"/>
            <a:ext cx="5067300" cy="3429000"/>
          </a:xfrm>
          <a:prstGeom prst="roundRect">
            <a:avLst>
              <a:gd name="adj" fmla="val 3333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Dikdörtgen: Köşeleri Yuvarlatılmış 14">
            <a:extLst>
              <a:ext uri="{FF2B5EF4-FFF2-40B4-BE49-F238E27FC236}">
                <a16:creationId xmlns:a16="http://schemas.microsoft.com/office/drawing/2014/main" id="{F5436B05-77C2-461C-84CA-467C13B435DC}"/>
              </a:ext>
            </a:extLst>
          </p:cNvPr>
          <p:cNvSpPr>
            <a:spLocks noGrp="1"/>
          </p:cNvSpPr>
          <p:nvPr/>
        </p:nvSpPr>
        <p:spPr>
          <a:xfrm>
            <a:off x="6724650" y="1847850"/>
            <a:ext cx="1143000" cy="266700"/>
          </a:xfrm>
          <a:prstGeom prst="roundRect">
            <a:avLst>
              <a:gd name="adj" fmla="val 50000"/>
            </a:avLst>
          </a:prstGeom>
          <a:solidFill>
            <a:srgbClr val="D59B1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EE9BDEC2-D0FF-45F0-9E41-1B390B542B9A}"/>
              </a:ext>
            </a:extLst>
          </p:cNvPr>
          <p:cNvSpPr>
            <a:spLocks noGrp="1"/>
          </p:cNvSpPr>
          <p:nvPr/>
        </p:nvSpPr>
        <p:spPr>
          <a:xfrm>
            <a:off x="6819900" y="1859661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STRICT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A211630F-3D59-4483-8141-C0BA552D8F9E}"/>
              </a:ext>
            </a:extLst>
          </p:cNvPr>
          <p:cNvSpPr>
            <a:spLocks noGrp="1"/>
          </p:cNvSpPr>
          <p:nvPr/>
        </p:nvSpPr>
        <p:spPr>
          <a:xfrm>
            <a:off x="6724650" y="238125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111827"/>
                </a:solidFill>
              </a:defRPr>
            </a:pPr>
            <a:r>
              <a:rPr sz="2025" b="1" i="0" dirty="0" err="1">
                <a:solidFill>
                  <a:srgbClr val="111827"/>
                </a:solidFill>
              </a:rPr>
              <a:t>Ist</a:t>
            </a:r>
            <a:r>
              <a:rPr sz="2025" b="1" i="0" dirty="0">
                <a:solidFill>
                  <a:srgbClr val="111827"/>
                </a:solidFill>
              </a:rPr>
              <a:t> </a:t>
            </a:r>
            <a:r>
              <a:rPr sz="2025" b="1" i="1" dirty="0" err="1">
                <a:solidFill>
                  <a:srgbClr val="111827"/>
                </a:solidFill>
              </a:rPr>
              <a:t>auch</a:t>
            </a:r>
            <a:r>
              <a:rPr sz="2025" b="1" i="0" dirty="0">
                <a:solidFill>
                  <a:srgbClr val="111827"/>
                </a:solidFill>
              </a:rPr>
              <a:t> der </a:t>
            </a:r>
            <a:r>
              <a:rPr sz="2025" b="1" i="0" dirty="0" err="1">
                <a:solidFill>
                  <a:srgbClr val="111827"/>
                </a:solidFill>
              </a:rPr>
              <a:t>Abschnitt</a:t>
            </a:r>
            <a:r>
              <a:rPr sz="2025" b="1" i="0" dirty="0">
                <a:solidFill>
                  <a:srgbClr val="111827"/>
                </a:solidFill>
              </a:rPr>
              <a:t> </a:t>
            </a:r>
            <a:r>
              <a:rPr sz="2025" b="1" i="0" dirty="0" err="1">
                <a:solidFill>
                  <a:srgbClr val="111827"/>
                </a:solidFill>
              </a:rPr>
              <a:t>richtig</a:t>
            </a:r>
            <a:r>
              <a:rPr sz="2025" b="1" i="0" dirty="0">
                <a:solidFill>
                  <a:srgbClr val="111827"/>
                </a:solidFill>
              </a:rPr>
              <a:t>?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2D9DF9D6-862D-47D3-9B33-E28D224E0535}"/>
              </a:ext>
            </a:extLst>
          </p:cNvPr>
          <p:cNvSpPr>
            <a:spLocks noGrp="1"/>
          </p:cNvSpPr>
          <p:nvPr/>
        </p:nvSpPr>
        <p:spPr>
          <a:xfrm>
            <a:off x="6724650" y="30765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Goldschlüssel</a:t>
            </a:r>
          </a:p>
        </p:txBody>
      </p:sp>
      <p:sp>
        <p:nvSpPr>
          <p:cNvPr id="19" name="Dikdörtgen: Köşeleri Yuvarlatılmış 18">
            <a:extLst>
              <a:ext uri="{FF2B5EF4-FFF2-40B4-BE49-F238E27FC236}">
                <a16:creationId xmlns:a16="http://schemas.microsoft.com/office/drawing/2014/main" id="{29F21E90-BFCD-4E19-B1DD-A05D9F9472D3}"/>
              </a:ext>
            </a:extLst>
          </p:cNvPr>
          <p:cNvSpPr>
            <a:spLocks noGrp="1"/>
          </p:cNvSpPr>
          <p:nvPr/>
        </p:nvSpPr>
        <p:spPr>
          <a:xfrm>
            <a:off x="6724650" y="3381375"/>
            <a:ext cx="428625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E9512811-247F-40F1-B181-50DC0AC67E95}"/>
              </a:ext>
            </a:extLst>
          </p:cNvPr>
          <p:cNvSpPr>
            <a:spLocks noGrp="1"/>
          </p:cNvSpPr>
          <p:nvPr/>
        </p:nvSpPr>
        <p:spPr>
          <a:xfrm>
            <a:off x="6915150" y="3543300"/>
            <a:ext cx="3905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D59B14"/>
                </a:solidFill>
              </a:defRPr>
            </a:pPr>
            <a:r>
              <a:rPr sz="1350" b="1" i="0">
                <a:solidFill>
                  <a:srgbClr val="D59B14"/>
                </a:solidFill>
              </a:rPr>
              <a:t>Dokument :: Modul :: Abschnitt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33247011-A403-4D45-B8DA-E9D7C60360EC}"/>
              </a:ext>
            </a:extLst>
          </p:cNvPr>
          <p:cNvSpPr>
            <a:spLocks noGrp="1"/>
          </p:cNvSpPr>
          <p:nvPr/>
        </p:nvSpPr>
        <p:spPr>
          <a:xfrm>
            <a:off x="6724650" y="42862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 dirty="0" err="1">
                <a:solidFill>
                  <a:srgbClr val="667085"/>
                </a:solidFill>
              </a:rPr>
              <a:t>feldgenaue</a:t>
            </a:r>
            <a:r>
              <a:rPr sz="1125" b="0" i="0" dirty="0">
                <a:solidFill>
                  <a:srgbClr val="667085"/>
                </a:solidFill>
              </a:rPr>
              <a:t> Retriever-</a:t>
            </a:r>
            <a:r>
              <a:rPr sz="1125" b="0" i="0" dirty="0" err="1">
                <a:solidFill>
                  <a:srgbClr val="667085"/>
                </a:solidFill>
              </a:rPr>
              <a:t>Bewertung</a:t>
            </a:r>
            <a:endParaRPr sz="1125" b="0" i="0" dirty="0">
              <a:solidFill>
                <a:srgbClr val="667085"/>
              </a:solidFill>
            </a:endParaRP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92A955F8-2EF9-4EC0-90C9-663C4BCC8047}"/>
              </a:ext>
            </a:extLst>
          </p:cNvPr>
          <p:cNvSpPr>
            <a:spLocks noGrp="1"/>
          </p:cNvSpPr>
          <p:nvPr/>
        </p:nvSpPr>
        <p:spPr>
          <a:xfrm>
            <a:off x="1647825" y="5405437"/>
            <a:ext cx="8896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 i="0">
                <a:solidFill>
                  <a:srgbClr val="111827"/>
                </a:solidFill>
              </a:defRPr>
            </a:pPr>
            <a:r>
              <a:rPr lang="de-DE" sz="1275" b="1" i="0" dirty="0">
                <a:solidFill>
                  <a:srgbClr val="111827"/>
                </a:solidFill>
              </a:rPr>
              <a:t>Relaxed und </a:t>
            </a:r>
            <a:r>
              <a:rPr lang="de-DE" sz="1275" b="1" i="0" dirty="0" err="1">
                <a:solidFill>
                  <a:srgbClr val="111827"/>
                </a:solidFill>
              </a:rPr>
              <a:t>Strict</a:t>
            </a:r>
            <a:r>
              <a:rPr lang="de-DE" sz="1275" b="1" i="0" dirty="0">
                <a:solidFill>
                  <a:srgbClr val="111827"/>
                </a:solidFill>
              </a:rPr>
              <a:t> sind Bewertungsregeln, keine Retriever</a:t>
            </a:r>
            <a:endParaRPr sz="1275" b="1" i="0" dirty="0">
              <a:solidFill>
                <a:srgbClr val="1118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314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>
            <a:extLst>
              <a:ext uri="{FF2B5EF4-FFF2-40B4-BE49-F238E27FC236}">
                <a16:creationId xmlns:a16="http://schemas.microsoft.com/office/drawing/2014/main" id="{45762815-900E-4A94-8039-A4036D7B772D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ERGEBNIS 2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D11F1954-29A0-4350-96AD-8DCB5E1F2C2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25" b="1" i="0">
                <a:solidFill>
                  <a:srgbClr val="111827"/>
                </a:solidFill>
              </a:defRPr>
            </a:pPr>
            <a:r>
              <a:rPr lang="de-DE" sz="2325" b="1" dirty="0"/>
              <a:t>Query Expansion bringt den größten BM25-Gewinn</a:t>
            </a:r>
          </a:p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endParaRPr sz="2325" b="1" i="0" dirty="0">
              <a:solidFill>
                <a:srgbClr val="111827"/>
              </a:solidFill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25601A4E-6BD9-4F3F-9A14-BE17E9D7D6F3}"/>
              </a:ext>
            </a:extLst>
          </p:cNvPr>
          <p:cNvSpPr>
            <a:spLocks noGrp="1"/>
          </p:cNvSpPr>
          <p:nvPr/>
        </p:nvSpPr>
        <p:spPr>
          <a:xfrm>
            <a:off x="704850" y="10668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Deutsch n=25 · Field Chunking · strict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930F01D5-6793-4144-9112-3C331B4B662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DDB1EF46-54C1-4D52-B724-EAAA51309B52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75F250CD-91BD-4714-9E69-1C787CF7F2F2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12</a:t>
            </a:r>
          </a:p>
        </p:txBody>
      </p:sp>
      <p:graphicFrame>
        <p:nvGraphicFramePr>
          <p:cNvPr id="23" name="Chart"/>
          <p:cNvGraphicFramePr/>
          <p:nvPr>
            <p:extLst>
              <p:ext uri="{D42A27DB-BD31-4B8C-83A1-F6EECF244321}">
                <p14:modId xmlns:p14="http://schemas.microsoft.com/office/powerpoint/2010/main" val="1174304313"/>
              </p:ext>
            </p:extLst>
          </p:nvPr>
        </p:nvGraphicFramePr>
        <p:xfrm>
          <a:off x="685800" y="1622714"/>
          <a:ext cx="7810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DC829AFF-5572-42D2-B639-C00D24BEDE2E}"/>
              </a:ext>
            </a:extLst>
          </p:cNvPr>
          <p:cNvSpPr>
            <a:spLocks noGrp="1"/>
          </p:cNvSpPr>
          <p:nvPr/>
        </p:nvSpPr>
        <p:spPr>
          <a:xfrm>
            <a:off x="8858250" y="1752600"/>
            <a:ext cx="2647950" cy="1714500"/>
          </a:xfrm>
          <a:prstGeom prst="roundRect">
            <a:avLst>
              <a:gd name="adj" fmla="val 6667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5B65F765-4BD3-47FB-8C65-B754182639FF}"/>
              </a:ext>
            </a:extLst>
          </p:cNvPr>
          <p:cNvSpPr>
            <a:spLocks noGrp="1"/>
          </p:cNvSpPr>
          <p:nvPr/>
        </p:nvSpPr>
        <p:spPr>
          <a:xfrm>
            <a:off x="9124949" y="2019300"/>
            <a:ext cx="223231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 i="0">
                <a:solidFill>
                  <a:srgbClr val="2F69D3"/>
                </a:solidFill>
              </a:defRPr>
            </a:pPr>
            <a:r>
              <a:rPr lang="en-US" sz="1200" b="1" dirty="0">
                <a:solidFill>
                  <a:srgbClr val="2F69D3"/>
                </a:solidFill>
              </a:rPr>
              <a:t>Query Expansion: 28 % → 56 %</a:t>
            </a:r>
          </a:p>
          <a:p>
            <a:pPr>
              <a:defRPr sz="3150" b="1" i="0">
                <a:solidFill>
                  <a:srgbClr val="2F69D3"/>
                </a:solidFill>
              </a:defRPr>
            </a:pPr>
            <a:r>
              <a:rPr lang="en-US" sz="1200" b="1" dirty="0">
                <a:solidFill>
                  <a:srgbClr val="2F69D3"/>
                </a:solidFill>
              </a:rPr>
              <a:t>Section Boost: 56 % → 68 %</a:t>
            </a:r>
            <a:endParaRPr sz="1200" b="1" i="0" dirty="0">
              <a:solidFill>
                <a:srgbClr val="2F69D3"/>
              </a:solidFill>
            </a:endParaRP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130C9C54-CDC9-483E-A989-361B6AF66193}"/>
              </a:ext>
            </a:extLst>
          </p:cNvPr>
          <p:cNvSpPr>
            <a:spLocks noGrp="1"/>
          </p:cNvSpPr>
          <p:nvPr/>
        </p:nvSpPr>
        <p:spPr>
          <a:xfrm>
            <a:off x="9124950" y="265747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11827"/>
                </a:solidFill>
              </a:defRPr>
            </a:pPr>
            <a:r>
              <a:rPr sz="1125" b="1" i="0" dirty="0">
                <a:solidFill>
                  <a:srgbClr val="111827"/>
                </a:solidFill>
              </a:rPr>
              <a:t>Hit@1 </a:t>
            </a:r>
            <a:r>
              <a:rPr sz="1125" b="1" i="0" dirty="0" err="1">
                <a:solidFill>
                  <a:srgbClr val="111827"/>
                </a:solidFill>
              </a:rPr>
              <a:t>gegenüber</a:t>
            </a:r>
            <a:r>
              <a:rPr sz="1125" b="1" i="0" dirty="0">
                <a:solidFill>
                  <a:srgbClr val="111827"/>
                </a:solidFill>
              </a:rPr>
              <a:t> Plain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4E67B8C7-C399-4095-B40D-60149B8B3E8E}"/>
              </a:ext>
            </a:extLst>
          </p:cNvPr>
          <p:cNvSpPr>
            <a:spLocks noGrp="1"/>
          </p:cNvSpPr>
          <p:nvPr/>
        </p:nvSpPr>
        <p:spPr>
          <a:xfrm>
            <a:off x="9124950" y="3048000"/>
            <a:ext cx="2000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durch Expansion + Section Boost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F38FDBCD-1A73-4007-A369-E1320B861E58}"/>
              </a:ext>
            </a:extLst>
          </p:cNvPr>
          <p:cNvSpPr>
            <a:spLocks noGrp="1"/>
          </p:cNvSpPr>
          <p:nvPr/>
        </p:nvSpPr>
        <p:spPr>
          <a:xfrm>
            <a:off x="8858250" y="3714750"/>
            <a:ext cx="264795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78A67A9D-5FED-4301-85D2-E40C3C1482DE}"/>
              </a:ext>
            </a:extLst>
          </p:cNvPr>
          <p:cNvSpPr>
            <a:spLocks noGrp="1"/>
          </p:cNvSpPr>
          <p:nvPr/>
        </p:nvSpPr>
        <p:spPr>
          <a:xfrm>
            <a:off x="9124950" y="39433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D59B14"/>
                </a:solidFill>
              </a:defRPr>
            </a:pPr>
            <a:r>
              <a:rPr lang="de-DE" sz="975" b="1" i="0" dirty="0">
                <a:solidFill>
                  <a:srgbClr val="D59B14"/>
                </a:solidFill>
              </a:rPr>
              <a:t>Achtung</a:t>
            </a:r>
            <a:endParaRPr sz="975" b="1" i="0" dirty="0">
              <a:solidFill>
                <a:srgbClr val="D59B14"/>
              </a:solidFill>
            </a:endParaRP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FD972E15-9C92-42E4-BF26-492C238AD4A1}"/>
              </a:ext>
            </a:extLst>
          </p:cNvPr>
          <p:cNvSpPr>
            <a:spLocks noGrp="1"/>
          </p:cNvSpPr>
          <p:nvPr/>
        </p:nvSpPr>
        <p:spPr>
          <a:xfrm>
            <a:off x="9124950" y="4295775"/>
            <a:ext cx="2000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111827"/>
                </a:solidFill>
              </a:defRPr>
            </a:pPr>
            <a:r>
              <a:rPr sz="1125" b="0" i="0" dirty="0">
                <a:solidFill>
                  <a:srgbClr val="111827"/>
                </a:solidFill>
              </a:rPr>
              <a:t>Der </a:t>
            </a:r>
            <a:r>
              <a:rPr lang="de-DE" sz="1125" b="0" i="0" dirty="0" err="1">
                <a:solidFill>
                  <a:srgbClr val="111827"/>
                </a:solidFill>
              </a:rPr>
              <a:t>Section</a:t>
            </a:r>
            <a:r>
              <a:rPr lang="de-DE" sz="1125" b="0" i="0" dirty="0">
                <a:solidFill>
                  <a:srgbClr val="111827"/>
                </a:solidFill>
              </a:rPr>
              <a:t> Boost</a:t>
            </a:r>
            <a:r>
              <a:rPr sz="1125" b="0" i="0" dirty="0">
                <a:solidFill>
                  <a:srgbClr val="111827"/>
                </a:solidFill>
              </a:rPr>
              <a:t> </a:t>
            </a:r>
            <a:r>
              <a:rPr sz="1125" b="0" i="0" dirty="0" err="1">
                <a:solidFill>
                  <a:srgbClr val="111827"/>
                </a:solidFill>
              </a:rPr>
              <a:t>verbessert</a:t>
            </a:r>
            <a:r>
              <a:rPr sz="1125" b="0" i="0" dirty="0">
                <a:solidFill>
                  <a:srgbClr val="111827"/>
                </a:solidFill>
              </a:rPr>
              <a:t> Rang 1, </a:t>
            </a:r>
            <a:r>
              <a:rPr sz="1125" b="0" i="0" dirty="0" err="1">
                <a:solidFill>
                  <a:srgbClr val="111827"/>
                </a:solidFill>
              </a:rPr>
              <a:t>senkt</a:t>
            </a:r>
            <a:r>
              <a:rPr sz="1125" b="0" i="0" dirty="0">
                <a:solidFill>
                  <a:srgbClr val="111827"/>
                </a:solidFill>
              </a:rPr>
              <a:t> Recall@3 </a:t>
            </a:r>
            <a:r>
              <a:rPr sz="1125" b="0" i="0" dirty="0" err="1">
                <a:solidFill>
                  <a:srgbClr val="111827"/>
                </a:solidFill>
              </a:rPr>
              <a:t>aber</a:t>
            </a:r>
            <a:r>
              <a:rPr sz="1125" b="0" i="0" dirty="0">
                <a:solidFill>
                  <a:srgbClr val="111827"/>
                </a:solidFill>
              </a:rPr>
              <a:t> </a:t>
            </a:r>
            <a:r>
              <a:rPr sz="1125" b="0" i="0" dirty="0" err="1">
                <a:solidFill>
                  <a:srgbClr val="111827"/>
                </a:solidFill>
              </a:rPr>
              <a:t>leicht</a:t>
            </a:r>
            <a:r>
              <a:rPr sz="1125" b="0" i="0" dirty="0">
                <a:solidFill>
                  <a:srgbClr val="111827"/>
                </a:solidFill>
              </a:rPr>
              <a:t> von 80% auf 78%.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6325E907-D72F-49E6-B54C-D5BC8B714CA3}"/>
              </a:ext>
            </a:extLst>
          </p:cNvPr>
          <p:cNvSpPr>
            <a:spLocks noGrp="1"/>
          </p:cNvSpPr>
          <p:nvPr/>
        </p:nvSpPr>
        <p:spPr>
          <a:xfrm>
            <a:off x="7000875" y="6153150"/>
            <a:ext cx="45053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Auditpfad: Excel › Ergebnisse, Zeilen 29–33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B47D6536-445B-4C62-35D5-6541CC8C719C}"/>
                  </a:ext>
                </a:extLst>
              </p14:cNvPr>
              <p14:cNvContentPartPr/>
              <p14:nvPr/>
            </p14:nvContentPartPr>
            <p14:xfrm>
              <a:off x="2223229" y="4925078"/>
              <a:ext cx="160560" cy="24480"/>
            </p14:xfrm>
          </p:contentPart>
        </mc:Choice>
        <mc:Fallback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B47D6536-445B-4C62-35D5-6541CC8C71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60589" y="4862078"/>
                <a:ext cx="286200" cy="15012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feld 16">
            <a:extLst>
              <a:ext uri="{FF2B5EF4-FFF2-40B4-BE49-F238E27FC236}">
                <a16:creationId xmlns:a16="http://schemas.microsoft.com/office/drawing/2014/main" id="{06EAD81E-33F3-A9A0-F91F-4802BF6D11A7}"/>
              </a:ext>
            </a:extLst>
          </p:cNvPr>
          <p:cNvSpPr txBox="1"/>
          <p:nvPr/>
        </p:nvSpPr>
        <p:spPr>
          <a:xfrm>
            <a:off x="1881994" y="4801967"/>
            <a:ext cx="10035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i="0" dirty="0">
                <a:solidFill>
                  <a:srgbClr val="111827"/>
                </a:solidFill>
              </a:rPr>
              <a:t>Plain BM25</a:t>
            </a:r>
            <a:endParaRPr lang="de-DE" sz="1000" b="1" dirty="0"/>
          </a:p>
        </p:txBody>
      </p:sp>
    </p:spTree>
    <p:extLst>
      <p:ext uri="{BB962C8B-B14F-4D97-AF65-F5344CB8AC3E}">
        <p14:creationId xmlns:p14="http://schemas.microsoft.com/office/powerpoint/2010/main" val="2006630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>
            <a:extLst>
              <a:ext uri="{FF2B5EF4-FFF2-40B4-BE49-F238E27FC236}">
                <a16:creationId xmlns:a16="http://schemas.microsoft.com/office/drawing/2014/main" id="{2F37AB09-48B5-4774-A9BC-817D4F1E58B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ERGEBNIS 3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2D26D9A4-ABEE-4827-B446-7679355A826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Deutsch: α = 0,25 gewinnt Rang 1, α = 0,50 maximiert Recall@3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81651F36-2480-4D25-8D94-A70DD5C111C9}"/>
              </a:ext>
            </a:extLst>
          </p:cNvPr>
          <p:cNvSpPr>
            <a:spLocks noGrp="1"/>
          </p:cNvSpPr>
          <p:nvPr/>
        </p:nvSpPr>
        <p:spPr>
          <a:xfrm>
            <a:off x="704850" y="10668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Deutsch n=25 · Field Chunking · strict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5EECAF51-4A6C-431C-891D-7953D6C49EB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F74A8614-019C-4922-A2A5-2F9D018B120F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98588E84-59E1-402D-A435-38C0BF030AA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13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="685800" y="1657350"/>
          <a:ext cx="7953375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F60A787A-98E0-43D5-BEA7-5591842B8AC6}"/>
              </a:ext>
            </a:extLst>
          </p:cNvPr>
          <p:cNvSpPr>
            <a:spLocks noGrp="1"/>
          </p:cNvSpPr>
          <p:nvPr/>
        </p:nvSpPr>
        <p:spPr>
          <a:xfrm>
            <a:off x="8991600" y="1752600"/>
            <a:ext cx="2514600" cy="1524000"/>
          </a:xfrm>
          <a:prstGeom prst="roundRect">
            <a:avLst>
              <a:gd name="adj" fmla="val 7500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A1C8217E-EB70-4B0E-AECA-F04FBE742520}"/>
              </a:ext>
            </a:extLst>
          </p:cNvPr>
          <p:cNvSpPr>
            <a:spLocks noGrp="1"/>
          </p:cNvSpPr>
          <p:nvPr/>
        </p:nvSpPr>
        <p:spPr>
          <a:xfrm>
            <a:off x="9258300" y="1981200"/>
            <a:ext cx="1952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 i="0">
                <a:solidFill>
                  <a:srgbClr val="2F69D3"/>
                </a:solidFill>
              </a:defRPr>
            </a:pPr>
            <a:r>
              <a:rPr sz="3225" b="1" i="0">
                <a:solidFill>
                  <a:srgbClr val="2F69D3"/>
                </a:solidFill>
              </a:rPr>
              <a:t>72%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1EBF8C6B-91D3-4EBF-89E2-860EC4DAA6EE}"/>
              </a:ext>
            </a:extLst>
          </p:cNvPr>
          <p:cNvSpPr>
            <a:spLocks noGrp="1"/>
          </p:cNvSpPr>
          <p:nvPr/>
        </p:nvSpPr>
        <p:spPr>
          <a:xfrm>
            <a:off x="9258300" y="2590800"/>
            <a:ext cx="1952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11827"/>
                </a:solidFill>
              </a:defRPr>
            </a:pPr>
            <a:r>
              <a:rPr lang="de-DE" sz="1125" b="1" i="0" dirty="0">
                <a:solidFill>
                  <a:srgbClr val="111827"/>
                </a:solidFill>
              </a:rPr>
              <a:t>höchstes</a:t>
            </a:r>
            <a:r>
              <a:rPr sz="1125" b="1" i="0" dirty="0">
                <a:solidFill>
                  <a:srgbClr val="111827"/>
                </a:solidFill>
              </a:rPr>
              <a:t> Hit@1</a:t>
            </a:r>
          </a:p>
          <a:p>
            <a:pPr algn="l">
              <a:buNone/>
              <a:defRPr sz="1125" b="1" i="0">
                <a:solidFill>
                  <a:srgbClr val="111827"/>
                </a:solidFill>
              </a:defRPr>
            </a:pPr>
            <a:r>
              <a:rPr sz="1125" b="1" i="0" dirty="0">
                <a:solidFill>
                  <a:srgbClr val="111827"/>
                </a:solidFill>
              </a:rPr>
              <a:t>Hybrid α = 0,25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4DA3E803-CAFE-43D4-A7EE-35518A3DDEAF}"/>
              </a:ext>
            </a:extLst>
          </p:cNvPr>
          <p:cNvSpPr>
            <a:spLocks noGrp="1"/>
          </p:cNvSpPr>
          <p:nvPr/>
        </p:nvSpPr>
        <p:spPr>
          <a:xfrm>
            <a:off x="8991600" y="3543300"/>
            <a:ext cx="2514600" cy="1524000"/>
          </a:xfrm>
          <a:prstGeom prst="roundRect">
            <a:avLst>
              <a:gd name="adj" fmla="val 7500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51912E79-B792-4AC8-9168-6FA0247A2935}"/>
              </a:ext>
            </a:extLst>
          </p:cNvPr>
          <p:cNvSpPr>
            <a:spLocks noGrp="1"/>
          </p:cNvSpPr>
          <p:nvPr/>
        </p:nvSpPr>
        <p:spPr>
          <a:xfrm>
            <a:off x="9258300" y="3771900"/>
            <a:ext cx="1952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 i="0">
                <a:solidFill>
                  <a:srgbClr val="0B8F6A"/>
                </a:solidFill>
              </a:defRPr>
            </a:pPr>
            <a:r>
              <a:rPr sz="3225" b="1" i="0">
                <a:solidFill>
                  <a:srgbClr val="0B8F6A"/>
                </a:solidFill>
              </a:rPr>
              <a:t>90%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23D16581-DC2D-4385-9DDE-AF71673AF03F}"/>
              </a:ext>
            </a:extLst>
          </p:cNvPr>
          <p:cNvSpPr>
            <a:spLocks noGrp="1"/>
          </p:cNvSpPr>
          <p:nvPr/>
        </p:nvSpPr>
        <p:spPr>
          <a:xfrm>
            <a:off x="9258300" y="4381500"/>
            <a:ext cx="1952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11827"/>
                </a:solidFill>
              </a:defRPr>
            </a:pPr>
            <a:r>
              <a:rPr lang="de-DE" sz="1125" b="1" i="0" dirty="0">
                <a:solidFill>
                  <a:srgbClr val="111827"/>
                </a:solidFill>
              </a:rPr>
              <a:t>höchstes</a:t>
            </a:r>
            <a:r>
              <a:rPr sz="1125" b="1" i="0" dirty="0">
                <a:solidFill>
                  <a:srgbClr val="111827"/>
                </a:solidFill>
              </a:rPr>
              <a:t> Recall@3</a:t>
            </a:r>
          </a:p>
          <a:p>
            <a:pPr algn="l">
              <a:buNone/>
              <a:defRPr sz="1125" b="1" i="0">
                <a:solidFill>
                  <a:srgbClr val="111827"/>
                </a:solidFill>
              </a:defRPr>
            </a:pPr>
            <a:r>
              <a:rPr sz="1125" b="1" i="0" dirty="0">
                <a:solidFill>
                  <a:srgbClr val="111827"/>
                </a:solidFill>
              </a:rPr>
              <a:t>Hybrid α = 0,50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23693D55-923E-4E0F-A40D-C500503EE104}"/>
              </a:ext>
            </a:extLst>
          </p:cNvPr>
          <p:cNvSpPr>
            <a:spLocks noGrp="1"/>
          </p:cNvSpPr>
          <p:nvPr/>
        </p:nvSpPr>
        <p:spPr>
          <a:xfrm>
            <a:off x="1514475" y="5667375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 i="0">
                <a:solidFill>
                  <a:srgbClr val="111827"/>
                </a:solidFill>
              </a:defRPr>
            </a:pPr>
            <a:r>
              <a:rPr lang="de-DE" sz="1275" b="1" dirty="0"/>
              <a:t>Dense allein bleibt hier schwächer. Der beste Hybrid wird überwiegend von BM25 getragen.</a:t>
            </a:r>
            <a:endParaRPr sz="1275" b="1" i="0" dirty="0">
              <a:solidFill>
                <a:srgbClr val="111827"/>
              </a:solidFill>
            </a:endParaRP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44409206-CA5C-4647-BE1F-AA9195258A8A}"/>
              </a:ext>
            </a:extLst>
          </p:cNvPr>
          <p:cNvSpPr>
            <a:spLocks noGrp="1"/>
          </p:cNvSpPr>
          <p:nvPr/>
        </p:nvSpPr>
        <p:spPr>
          <a:xfrm>
            <a:off x="7000875" y="6153150"/>
            <a:ext cx="45053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Auditpfad: Excel › Ergebnisse, Zeilen 11–17</a:t>
            </a:r>
          </a:p>
        </p:txBody>
      </p:sp>
    </p:spTree>
    <p:extLst>
      <p:ext uri="{BB962C8B-B14F-4D97-AF65-F5344CB8AC3E}">
        <p14:creationId xmlns:p14="http://schemas.microsoft.com/office/powerpoint/2010/main" val="812797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>
            <a:extLst>
              <a:ext uri="{FF2B5EF4-FFF2-40B4-BE49-F238E27FC236}">
                <a16:creationId xmlns:a16="http://schemas.microsoft.com/office/drawing/2014/main" id="{9D36165E-A8BF-46AE-9421-DD094AE75AA2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MEHRSPRACHIGKEIT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40CF868B-F860-4A55-B918-ED46CE16ABB3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Gleiche Intention, gleiches Gold – nur die Sprache ändert sich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863AC0D9-80EC-40FF-957B-56B13B4C54D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A2EFD2F2-ACFA-42CA-9153-82DEC5F344D4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859C659A-5EC5-4976-9686-ABA601201552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14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88AD2EC2-8B04-49B8-AAC3-CE0CE75980A1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7334250" cy="876300"/>
          </a:xfrm>
          <a:prstGeom prst="roundRect">
            <a:avLst>
              <a:gd name="adj" fmla="val 1304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10AA1FB7-6D35-423F-9E99-C2EC38997448}"/>
              </a:ext>
            </a:extLst>
          </p:cNvPr>
          <p:cNvSpPr>
            <a:spLocks noGrp="1"/>
          </p:cNvSpPr>
          <p:nvPr/>
        </p:nvSpPr>
        <p:spPr>
          <a:xfrm>
            <a:off x="933450" y="17907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 i="0">
                <a:solidFill>
                  <a:srgbClr val="2F69D3"/>
                </a:solidFill>
              </a:defRPr>
            </a:pPr>
            <a:r>
              <a:rPr sz="2175" b="1" i="0">
                <a:solidFill>
                  <a:srgbClr val="2F69D3"/>
                </a:solidFill>
              </a:rPr>
              <a:t>DE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F76FB398-9968-40AA-AA92-D874C38D5BEC}"/>
              </a:ext>
            </a:extLst>
          </p:cNvPr>
          <p:cNvSpPr>
            <a:spLocks noGrp="1"/>
          </p:cNvSpPr>
          <p:nvPr/>
        </p:nvSpPr>
        <p:spPr>
          <a:xfrm>
            <a:off x="1809750" y="184785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Welche Prüfungsform hat WP3?</a:t>
            </a:r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C3DE2FD0-71B5-4A04-BA7E-0A768B136570}"/>
              </a:ext>
            </a:extLst>
          </p:cNvPr>
          <p:cNvSpPr>
            <a:spLocks noGrp="1"/>
          </p:cNvSpPr>
          <p:nvPr/>
        </p:nvSpPr>
        <p:spPr>
          <a:xfrm>
            <a:off x="685800" y="2733675"/>
            <a:ext cx="7334250" cy="876300"/>
          </a:xfrm>
          <a:prstGeom prst="roundRect">
            <a:avLst>
              <a:gd name="adj" fmla="val 13043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89C8FD33-2C0D-418A-8155-5E114083A15F}"/>
              </a:ext>
            </a:extLst>
          </p:cNvPr>
          <p:cNvSpPr>
            <a:spLocks noGrp="1"/>
          </p:cNvSpPr>
          <p:nvPr/>
        </p:nvSpPr>
        <p:spPr>
          <a:xfrm>
            <a:off x="933450" y="295275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 i="0">
                <a:solidFill>
                  <a:srgbClr val="0B8F6A"/>
                </a:solidFill>
              </a:defRPr>
            </a:pPr>
            <a:r>
              <a:rPr sz="2175" b="1" i="0">
                <a:solidFill>
                  <a:srgbClr val="0B8F6A"/>
                </a:solidFill>
              </a:rPr>
              <a:t>EN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3C199562-DA1D-488C-A3F9-BF2520F1D87B}"/>
              </a:ext>
            </a:extLst>
          </p:cNvPr>
          <p:cNvSpPr>
            <a:spLocks noGrp="1"/>
          </p:cNvSpPr>
          <p:nvPr/>
        </p:nvSpPr>
        <p:spPr>
          <a:xfrm>
            <a:off x="1809750" y="300990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What is the exam format of WP3?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CB3B5287-E19C-4ECE-9043-336B45822585}"/>
              </a:ext>
            </a:extLst>
          </p:cNvPr>
          <p:cNvSpPr>
            <a:spLocks noGrp="1"/>
          </p:cNvSpPr>
          <p:nvPr/>
        </p:nvSpPr>
        <p:spPr>
          <a:xfrm>
            <a:off x="685800" y="3895725"/>
            <a:ext cx="7334250" cy="876300"/>
          </a:xfrm>
          <a:prstGeom prst="roundRect">
            <a:avLst>
              <a:gd name="adj" fmla="val 13043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848B0B8D-66EA-45E9-8D98-5FAFE0E070A5}"/>
              </a:ext>
            </a:extLst>
          </p:cNvPr>
          <p:cNvSpPr>
            <a:spLocks noGrp="1"/>
          </p:cNvSpPr>
          <p:nvPr/>
        </p:nvSpPr>
        <p:spPr>
          <a:xfrm>
            <a:off x="933450" y="41148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 i="0">
                <a:solidFill>
                  <a:srgbClr val="D59B14"/>
                </a:solidFill>
              </a:defRPr>
            </a:pPr>
            <a:r>
              <a:rPr sz="2175" b="1" i="0">
                <a:solidFill>
                  <a:srgbClr val="D59B14"/>
                </a:solidFill>
              </a:rPr>
              <a:t>TR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A2F83C66-E88E-4DD7-95D0-E4501F881359}"/>
              </a:ext>
            </a:extLst>
          </p:cNvPr>
          <p:cNvSpPr>
            <a:spLocks noGrp="1"/>
          </p:cNvSpPr>
          <p:nvPr/>
        </p:nvSpPr>
        <p:spPr>
          <a:xfrm>
            <a:off x="1809750" y="417195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WP3’ün sınav biçimi nedir?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C5070DC3-C345-42D7-9E43-06A7ACCFDD61}"/>
              </a:ext>
            </a:extLst>
          </p:cNvPr>
          <p:cNvSpPr>
            <a:spLocks noGrp="1"/>
          </p:cNvSpPr>
          <p:nvPr/>
        </p:nvSpPr>
        <p:spPr>
          <a:xfrm>
            <a:off x="8191500" y="260985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850" b="1" i="0">
                <a:solidFill>
                  <a:srgbClr val="667085"/>
                </a:solidFill>
              </a:defRPr>
            </a:pPr>
            <a:r>
              <a:rPr sz="285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5E1F99D8-2084-464E-9BF2-AA39A7AC3156}"/>
              </a:ext>
            </a:extLst>
          </p:cNvPr>
          <p:cNvSpPr>
            <a:spLocks noGrp="1"/>
          </p:cNvSpPr>
          <p:nvPr/>
        </p:nvSpPr>
        <p:spPr>
          <a:xfrm>
            <a:off x="8839200" y="1585046"/>
            <a:ext cx="2647950" cy="2716357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BF78F368-6268-434A-8E36-583A6B50700D}"/>
              </a:ext>
            </a:extLst>
          </p:cNvPr>
          <p:cNvSpPr>
            <a:spLocks noGrp="1"/>
          </p:cNvSpPr>
          <p:nvPr/>
        </p:nvSpPr>
        <p:spPr>
          <a:xfrm>
            <a:off x="9182100" y="1757579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 i="0">
                <a:solidFill>
                  <a:srgbClr val="111827"/>
                </a:solidFill>
              </a:defRPr>
            </a:pPr>
            <a:r>
              <a:rPr sz="1650" b="1" i="0" dirty="0">
                <a:solidFill>
                  <a:srgbClr val="111827"/>
                </a:solidFill>
              </a:rPr>
              <a:t>Gold</a:t>
            </a:r>
          </a:p>
        </p:txBody>
      </p:sp>
      <p:sp>
        <p:nvSpPr>
          <p:cNvPr id="18" name="Dikdörtgen: Köşeleri Yuvarlatılmış 17">
            <a:extLst>
              <a:ext uri="{FF2B5EF4-FFF2-40B4-BE49-F238E27FC236}">
                <a16:creationId xmlns:a16="http://schemas.microsoft.com/office/drawing/2014/main" id="{A950C493-78F8-4431-8B9E-D6D53DF5DC59}"/>
              </a:ext>
            </a:extLst>
          </p:cNvPr>
          <p:cNvSpPr>
            <a:spLocks noGrp="1"/>
          </p:cNvSpPr>
          <p:nvPr/>
        </p:nvSpPr>
        <p:spPr>
          <a:xfrm>
            <a:off x="9739310" y="2705100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0B8F6A"/>
                </a:solidFill>
              </a:defRPr>
            </a:pPr>
            <a:r>
              <a:rPr lang="de-DE" b="1">
                <a:solidFill>
                  <a:srgbClr val="0B8F6A"/>
                </a:solidFill>
              </a:rPr>
              <a:t>WP3</a:t>
            </a:r>
            <a:endParaRPr lang="de-DE" b="1" dirty="0">
              <a:solidFill>
                <a:srgbClr val="0B8F6A"/>
              </a:solidFill>
            </a:endParaRP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7121FE29-DA42-42CF-A8C7-D3421998B4BD}"/>
              </a:ext>
            </a:extLst>
          </p:cNvPr>
          <p:cNvSpPr>
            <a:spLocks noGrp="1"/>
          </p:cNvSpPr>
          <p:nvPr/>
        </p:nvSpPr>
        <p:spPr>
          <a:xfrm>
            <a:off x="9239250" y="2771775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0B8F6A"/>
                </a:solidFill>
              </a:defRPr>
            </a:pPr>
            <a:endParaRPr sz="825" b="1" i="0" dirty="0">
              <a:solidFill>
                <a:srgbClr val="0B8F6A"/>
              </a:solidFill>
            </a:endParaRPr>
          </a:p>
        </p:txBody>
      </p:sp>
      <p:sp>
        <p:nvSpPr>
          <p:cNvPr id="20" name="Dikdörtgen: Köşeleri Yuvarlatılmış 19">
            <a:extLst>
              <a:ext uri="{FF2B5EF4-FFF2-40B4-BE49-F238E27FC236}">
                <a16:creationId xmlns:a16="http://schemas.microsoft.com/office/drawing/2014/main" id="{BF119CF9-65C0-4B99-86AB-B45586B51EA0}"/>
              </a:ext>
            </a:extLst>
          </p:cNvPr>
          <p:cNvSpPr>
            <a:spLocks noGrp="1"/>
          </p:cNvSpPr>
          <p:nvPr/>
        </p:nvSpPr>
        <p:spPr>
          <a:xfrm>
            <a:off x="9144000" y="3143250"/>
            <a:ext cx="1952625" cy="2667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316A580E-84E7-4867-A364-E34F37CA2689}"/>
              </a:ext>
            </a:extLst>
          </p:cNvPr>
          <p:cNvSpPr>
            <a:spLocks noGrp="1"/>
          </p:cNvSpPr>
          <p:nvPr/>
        </p:nvSpPr>
        <p:spPr>
          <a:xfrm>
            <a:off x="9239250" y="3190875"/>
            <a:ext cx="1762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D59B14"/>
                </a:solidFill>
              </a:defRPr>
            </a:pPr>
            <a:r>
              <a:rPr sz="825" b="1" i="0" dirty="0">
                <a:solidFill>
                  <a:srgbClr val="D59B14"/>
                </a:solidFill>
              </a:rPr>
              <a:t>Form der </a:t>
            </a:r>
            <a:r>
              <a:rPr sz="825" b="1" i="0" dirty="0" err="1">
                <a:solidFill>
                  <a:srgbClr val="D59B14"/>
                </a:solidFill>
              </a:rPr>
              <a:t>Modulprüfung</a:t>
            </a:r>
            <a:endParaRPr sz="825" b="1" i="0" dirty="0">
              <a:solidFill>
                <a:srgbClr val="D59B14"/>
              </a:solidFill>
            </a:endParaRP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C787C715-68BF-4C9A-B91B-A7AC10C5ECE6}"/>
              </a:ext>
            </a:extLst>
          </p:cNvPr>
          <p:cNvSpPr>
            <a:spLocks noGrp="1"/>
          </p:cNvSpPr>
          <p:nvPr/>
        </p:nvSpPr>
        <p:spPr>
          <a:xfrm>
            <a:off x="9144000" y="3714750"/>
            <a:ext cx="2047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6 Intentionen × 3 Sprachen = 18 Anfragen</a:t>
            </a:r>
          </a:p>
        </p:txBody>
      </p:sp>
      <p:sp>
        <p:nvSpPr>
          <p:cNvPr id="24" name="Dikdörtgen: Köşeleri Yuvarlatılmış 19">
            <a:extLst>
              <a:ext uri="{FF2B5EF4-FFF2-40B4-BE49-F238E27FC236}">
                <a16:creationId xmlns:a16="http://schemas.microsoft.com/office/drawing/2014/main" id="{C9AE25E4-277A-AC5A-A537-1FB65544B3B5}"/>
              </a:ext>
            </a:extLst>
          </p:cNvPr>
          <p:cNvSpPr>
            <a:spLocks noGrp="1"/>
          </p:cNvSpPr>
          <p:nvPr/>
        </p:nvSpPr>
        <p:spPr>
          <a:xfrm>
            <a:off x="9143998" y="2279289"/>
            <a:ext cx="1952625" cy="2667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D59B14"/>
                </a:solidFill>
              </a:defRPr>
            </a:pPr>
            <a:r>
              <a:rPr lang="de-DE" b="1" dirty="0">
                <a:solidFill>
                  <a:srgbClr val="0070C0"/>
                </a:solidFill>
              </a:rPr>
              <a:t>Modulhandbuch Bachelor CL</a:t>
            </a:r>
          </a:p>
        </p:txBody>
      </p:sp>
    </p:spTree>
    <p:extLst>
      <p:ext uri="{BB962C8B-B14F-4D97-AF65-F5344CB8AC3E}">
        <p14:creationId xmlns:p14="http://schemas.microsoft.com/office/powerpoint/2010/main" val="1585854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>
            <a:extLst>
              <a:ext uri="{FF2B5EF4-FFF2-40B4-BE49-F238E27FC236}">
                <a16:creationId xmlns:a16="http://schemas.microsoft.com/office/drawing/2014/main" id="{DE29E73E-924B-4952-B46A-3C1D627D838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ERGEBNIS 4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40AAB894-909F-4A28-BF29-9638482601FC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Mehrsprachig: Hybrid α = 0,25 erreicht vollständigen Recall@3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34DD9A58-04AA-4DE5-AD80-171629A70F65}"/>
              </a:ext>
            </a:extLst>
          </p:cNvPr>
          <p:cNvSpPr>
            <a:spLocks noGrp="1"/>
          </p:cNvSpPr>
          <p:nvPr/>
        </p:nvSpPr>
        <p:spPr>
          <a:xfrm>
            <a:off x="704850" y="10668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18 Anfragen · DE / EN / TR · Field Chunking · strict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DDF19C7D-F5E3-4181-9049-8678527F0A7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6B499D56-747B-436B-8476-8E2D072FCC29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DD426DF6-A2C3-4C90-B62D-A3F63488E46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15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="685800" y="1657350"/>
          <a:ext cx="790575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EEBEDAC9-AB3C-4669-8DB5-D1BD89E3699D}"/>
              </a:ext>
            </a:extLst>
          </p:cNvPr>
          <p:cNvSpPr>
            <a:spLocks noGrp="1"/>
          </p:cNvSpPr>
          <p:nvPr/>
        </p:nvSpPr>
        <p:spPr>
          <a:xfrm>
            <a:off x="8972550" y="1762125"/>
            <a:ext cx="2533650" cy="1666875"/>
          </a:xfrm>
          <a:prstGeom prst="roundRect">
            <a:avLst>
              <a:gd name="adj" fmla="val 6857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88F7582C-0F0C-45D7-AFE4-B709D2939AB8}"/>
              </a:ext>
            </a:extLst>
          </p:cNvPr>
          <p:cNvSpPr>
            <a:spLocks noGrp="1"/>
          </p:cNvSpPr>
          <p:nvPr/>
        </p:nvSpPr>
        <p:spPr>
          <a:xfrm>
            <a:off x="9239248" y="2009775"/>
            <a:ext cx="2855769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 i="0">
                <a:solidFill>
                  <a:srgbClr val="0B8F6A"/>
                </a:solidFill>
              </a:defRPr>
            </a:pPr>
            <a:r>
              <a:rPr lang="de-DE" sz="1600" b="1" dirty="0"/>
              <a:t>83 % Hit@1</a:t>
            </a:r>
          </a:p>
          <a:p>
            <a:pPr>
              <a:defRPr sz="3450" b="1" i="0">
                <a:solidFill>
                  <a:srgbClr val="0B8F6A"/>
                </a:solidFill>
              </a:defRPr>
            </a:pPr>
            <a:endParaRPr lang="de-DE" sz="1600" b="1" dirty="0"/>
          </a:p>
          <a:p>
            <a:pPr>
              <a:defRPr sz="3450" b="1" i="0">
                <a:solidFill>
                  <a:srgbClr val="0B8F6A"/>
                </a:solidFill>
              </a:defRPr>
            </a:pPr>
            <a:r>
              <a:rPr lang="de-DE" sz="1600" b="1" dirty="0">
                <a:solidFill>
                  <a:srgbClr val="0B8F6A"/>
                </a:solidFill>
              </a:rPr>
              <a:t>100 % Recall@3</a:t>
            </a:r>
            <a:endParaRPr sz="1600" b="1" i="0" dirty="0">
              <a:solidFill>
                <a:srgbClr val="0B8F6A"/>
              </a:solidFill>
            </a:endParaRP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8006D850-61F4-40AF-8090-BCA1D1867CF9}"/>
              </a:ext>
            </a:extLst>
          </p:cNvPr>
          <p:cNvSpPr>
            <a:spLocks noGrp="1"/>
          </p:cNvSpPr>
          <p:nvPr/>
        </p:nvSpPr>
        <p:spPr>
          <a:xfrm>
            <a:off x="9239250" y="27051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111827"/>
                </a:solidFill>
              </a:defRPr>
            </a:pPr>
            <a:endParaRPr sz="1275" b="1" i="0" dirty="0">
              <a:solidFill>
                <a:srgbClr val="111827"/>
              </a:soli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2914D2F-59A3-4A6A-8DC1-3993294583D2}"/>
              </a:ext>
            </a:extLst>
          </p:cNvPr>
          <p:cNvSpPr>
            <a:spLocks noGrp="1"/>
          </p:cNvSpPr>
          <p:nvPr/>
        </p:nvSpPr>
        <p:spPr>
          <a:xfrm>
            <a:off x="9239250" y="30765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Hybrid α = 0,25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D991A2A6-20CF-4C0C-969C-81CE0C32DA70}"/>
              </a:ext>
            </a:extLst>
          </p:cNvPr>
          <p:cNvSpPr>
            <a:spLocks noGrp="1"/>
          </p:cNvSpPr>
          <p:nvPr/>
        </p:nvSpPr>
        <p:spPr>
          <a:xfrm>
            <a:off x="8972550" y="3705225"/>
            <a:ext cx="253365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F9FDD0A3-7C1E-419C-AB55-93FBCA0EBF38}"/>
              </a:ext>
            </a:extLst>
          </p:cNvPr>
          <p:cNvSpPr>
            <a:spLocks noGrp="1"/>
          </p:cNvSpPr>
          <p:nvPr/>
        </p:nvSpPr>
        <p:spPr>
          <a:xfrm>
            <a:off x="9239250" y="39433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2F69D3"/>
                </a:solidFill>
              </a:defRPr>
            </a:pPr>
            <a:r>
              <a:rPr sz="1200" b="1" i="0">
                <a:solidFill>
                  <a:srgbClr val="2F69D3"/>
                </a:solidFill>
              </a:rPr>
              <a:t>Schluss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662E5B13-04F4-41B9-A592-487CCDD60DA3}"/>
              </a:ext>
            </a:extLst>
          </p:cNvPr>
          <p:cNvSpPr>
            <a:spLocks noGrp="1"/>
          </p:cNvSpPr>
          <p:nvPr/>
        </p:nvSpPr>
        <p:spPr>
          <a:xfrm>
            <a:off x="9239250" y="4295775"/>
            <a:ext cx="2000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111827"/>
                </a:solidFill>
              </a:defRPr>
            </a:pPr>
            <a:r>
              <a:rPr sz="1125" b="0" i="0" dirty="0">
                <a:solidFill>
                  <a:srgbClr val="111827"/>
                </a:solidFill>
              </a:rPr>
              <a:t>BM25 </a:t>
            </a:r>
            <a:r>
              <a:rPr sz="1125" b="0" i="0" dirty="0" err="1">
                <a:solidFill>
                  <a:srgbClr val="111827"/>
                </a:solidFill>
              </a:rPr>
              <a:t>ist</a:t>
            </a:r>
            <a:r>
              <a:rPr sz="1125" b="0" i="0" dirty="0">
                <a:solidFill>
                  <a:srgbClr val="111827"/>
                </a:solidFill>
              </a:rPr>
              <a:t> </a:t>
            </a:r>
            <a:r>
              <a:rPr sz="1125" b="0" i="0" dirty="0" err="1">
                <a:solidFill>
                  <a:srgbClr val="111827"/>
                </a:solidFill>
              </a:rPr>
              <a:t>bereits</a:t>
            </a:r>
            <a:r>
              <a:rPr sz="1125" b="0" i="0" dirty="0">
                <a:solidFill>
                  <a:srgbClr val="111827"/>
                </a:solidFill>
              </a:rPr>
              <a:t> stark. Dense </a:t>
            </a:r>
            <a:r>
              <a:rPr sz="1125" b="0" i="0" dirty="0" err="1">
                <a:solidFill>
                  <a:srgbClr val="111827"/>
                </a:solidFill>
              </a:rPr>
              <a:t>ergänzt</a:t>
            </a:r>
            <a:r>
              <a:rPr lang="de-DE" sz="1125" dirty="0">
                <a:solidFill>
                  <a:srgbClr val="111827"/>
                </a:solidFill>
              </a:rPr>
              <a:t>; </a:t>
            </a:r>
            <a:r>
              <a:rPr sz="1125" b="0" i="0" dirty="0">
                <a:solidFill>
                  <a:srgbClr val="111827"/>
                </a:solidFill>
              </a:rPr>
              <a:t>es </a:t>
            </a:r>
            <a:r>
              <a:rPr sz="1125" b="0" i="0" dirty="0" err="1">
                <a:solidFill>
                  <a:srgbClr val="111827"/>
                </a:solidFill>
              </a:rPr>
              <a:t>ersetzt</a:t>
            </a:r>
            <a:r>
              <a:rPr sz="1125" b="0" i="0" dirty="0">
                <a:solidFill>
                  <a:srgbClr val="111827"/>
                </a:solidFill>
              </a:rPr>
              <a:t> das </a:t>
            </a:r>
            <a:r>
              <a:rPr sz="1125" b="0" i="0" dirty="0" err="1">
                <a:solidFill>
                  <a:srgbClr val="111827"/>
                </a:solidFill>
              </a:rPr>
              <a:t>lexikalische</a:t>
            </a:r>
            <a:r>
              <a:rPr sz="1125" b="0" i="0" dirty="0">
                <a:solidFill>
                  <a:srgbClr val="111827"/>
                </a:solidFill>
              </a:rPr>
              <a:t> Signal nicht.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5A468EF9-DDBD-454D-90CE-34D82729D72F}"/>
              </a:ext>
            </a:extLst>
          </p:cNvPr>
          <p:cNvSpPr>
            <a:spLocks noGrp="1"/>
          </p:cNvSpPr>
          <p:nvPr/>
        </p:nvSpPr>
        <p:spPr>
          <a:xfrm>
            <a:off x="7000875" y="6153150"/>
            <a:ext cx="45053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Auditpfad: Excel › Ergebnisse, Zeilen 20–26</a:t>
            </a:r>
          </a:p>
        </p:txBody>
      </p:sp>
    </p:spTree>
    <p:extLst>
      <p:ext uri="{BB962C8B-B14F-4D97-AF65-F5344CB8AC3E}">
        <p14:creationId xmlns:p14="http://schemas.microsoft.com/office/powerpoint/2010/main" val="1173368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ikdörtgen 36">
            <a:extLst>
              <a:ext uri="{FF2B5EF4-FFF2-40B4-BE49-F238E27FC236}">
                <a16:creationId xmlns:a16="http://schemas.microsoft.com/office/drawing/2014/main" id="{9583BDA6-2A22-464D-8C4F-5840C8BFD57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FEHLERANALYSE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C1F81FC9-CD62-407E-ABD5-A17CE5BA7FF1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lang="de-DE" sz="2325" b="1" i="0" dirty="0">
                <a:solidFill>
                  <a:srgbClr val="111827"/>
                </a:solidFill>
              </a:rPr>
              <a:t>Fehleranalyse und technische Integritätsprüfung</a:t>
            </a:r>
            <a:endParaRPr sz="2325" b="1" i="0" dirty="0">
              <a:solidFill>
                <a:srgbClr val="111827"/>
              </a:solidFill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D137588C-B024-45DB-8D01-76189E5BA42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600B9CF8-1C05-42A3-BB1F-47A138CFAD6A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6C4F1282-DC68-4EA7-BA3B-DA19013281FF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16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5020253D-867D-4FF5-A0AE-A903E6A99CAA}"/>
              </a:ext>
            </a:extLst>
          </p:cNvPr>
          <p:cNvSpPr>
            <a:spLocks noGrp="1"/>
          </p:cNvSpPr>
          <p:nvPr/>
        </p:nvSpPr>
        <p:spPr>
          <a:xfrm>
            <a:off x="933450" y="18288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q12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AB4D8215-65BC-49A2-9DA1-3B3A1090B791}"/>
              </a:ext>
            </a:extLst>
          </p:cNvPr>
          <p:cNvSpPr>
            <a:spLocks noGrp="1"/>
          </p:cNvSpPr>
          <p:nvPr/>
        </p:nvSpPr>
        <p:spPr>
          <a:xfrm>
            <a:off x="561975" y="2006727"/>
            <a:ext cx="7239000" cy="685800"/>
          </a:xfrm>
          <a:prstGeom prst="roundRect">
            <a:avLst>
              <a:gd name="adj" fmla="val 11111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2E60F5DE-22D8-44B7-A7AD-93C35B0995BD}"/>
              </a:ext>
            </a:extLst>
          </p:cNvPr>
          <p:cNvSpPr>
            <a:spLocks noGrp="1"/>
          </p:cNvSpPr>
          <p:nvPr/>
        </p:nvSpPr>
        <p:spPr>
          <a:xfrm>
            <a:off x="714375" y="2206752"/>
            <a:ext cx="666750" cy="266700"/>
          </a:xfrm>
          <a:prstGeom prst="roundRect">
            <a:avLst>
              <a:gd name="adj" fmla="val 50000"/>
            </a:avLst>
          </a:prstGeom>
          <a:solidFill>
            <a:srgbClr val="D59B1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50F233E2-90D4-49B0-B48E-19573C043A2D}"/>
              </a:ext>
            </a:extLst>
          </p:cNvPr>
          <p:cNvSpPr>
            <a:spLocks noGrp="1"/>
          </p:cNvSpPr>
          <p:nvPr/>
        </p:nvSpPr>
        <p:spPr>
          <a:xfrm>
            <a:off x="809625" y="2254377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q10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2F938C3D-D632-4152-8069-412170B83EC0}"/>
              </a:ext>
            </a:extLst>
          </p:cNvPr>
          <p:cNvSpPr>
            <a:spLocks noGrp="1"/>
          </p:cNvSpPr>
          <p:nvPr/>
        </p:nvSpPr>
        <p:spPr>
          <a:xfrm>
            <a:off x="1619250" y="2149602"/>
            <a:ext cx="2619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Morphologie &amp; Lexikographie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5CBB6DEA-3EDE-47EC-B812-A2173FFE26BD}"/>
              </a:ext>
            </a:extLst>
          </p:cNvPr>
          <p:cNvSpPr>
            <a:spLocks noGrp="1"/>
          </p:cNvSpPr>
          <p:nvPr/>
        </p:nvSpPr>
        <p:spPr>
          <a:xfrm>
            <a:off x="1595437" y="2337054"/>
            <a:ext cx="4628718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lvl="0" rtl="0"/>
            <a:r>
              <a:rPr lang="en-US" sz="1200" dirty="0" err="1"/>
              <a:t>zwei</a:t>
            </a:r>
            <a:r>
              <a:rPr lang="en-US" sz="1200" dirty="0"/>
              <a:t> </a:t>
            </a:r>
            <a:r>
              <a:rPr lang="en-US" sz="1200" dirty="0" err="1"/>
              <a:t>relevante</a:t>
            </a:r>
            <a:r>
              <a:rPr lang="en-US" sz="1200" dirty="0"/>
              <a:t> </a:t>
            </a:r>
            <a:r>
              <a:rPr lang="en-US" sz="1200" dirty="0" err="1"/>
              <a:t>Goldfelder</a:t>
            </a:r>
            <a:r>
              <a:rPr lang="en-US" sz="1200" dirty="0"/>
              <a:t>, </a:t>
            </a:r>
            <a:r>
              <a:rPr lang="en-US" sz="1200" dirty="0" err="1"/>
              <a:t>aber</a:t>
            </a:r>
            <a:r>
              <a:rPr lang="en-US" sz="1200" dirty="0"/>
              <a:t> </a:t>
            </a:r>
            <a:r>
              <a:rPr lang="en-US" sz="1200" dirty="0" err="1"/>
              <a:t>nur</a:t>
            </a:r>
            <a:r>
              <a:rPr lang="en-US" sz="1200" dirty="0"/>
              <a:t> </a:t>
            </a:r>
            <a:r>
              <a:rPr lang="en-US" sz="1200" dirty="0" err="1"/>
              <a:t>eines</a:t>
            </a:r>
            <a:r>
              <a:rPr lang="en-US" sz="1200" dirty="0"/>
              <a:t> in Top 3. Fall </a:t>
            </a:r>
            <a:r>
              <a:rPr lang="en-US" sz="1200" dirty="0" err="1"/>
              <a:t>teilweise</a:t>
            </a:r>
            <a:r>
              <a:rPr lang="en-US" sz="1200" dirty="0"/>
              <a:t> </a:t>
            </a:r>
            <a:r>
              <a:rPr lang="en-US" sz="1200" dirty="0" err="1"/>
              <a:t>erfüllt</a:t>
            </a:r>
            <a:r>
              <a:rPr lang="en-US" sz="1200" dirty="0"/>
              <a:t>.</a:t>
            </a:r>
            <a:endParaRPr lang="de-DE" sz="1200" dirty="0"/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809EFE55-360B-4269-93D9-0FDFBFCC8CED}"/>
              </a:ext>
            </a:extLst>
          </p:cNvPr>
          <p:cNvSpPr>
            <a:spLocks noGrp="1"/>
          </p:cNvSpPr>
          <p:nvPr/>
        </p:nvSpPr>
        <p:spPr>
          <a:xfrm>
            <a:off x="5448300" y="2013204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D59B14"/>
                </a:solidFill>
              </a:defRPr>
            </a:pPr>
            <a:r>
              <a:rPr lang="de-DE" sz="1050" b="1" dirty="0"/>
              <a:t>unvollständige Evidenz</a:t>
            </a:r>
            <a:endParaRPr sz="1050" b="1" i="0" dirty="0">
              <a:solidFill>
                <a:srgbClr val="D59B14"/>
              </a:solidFill>
            </a:endParaRPr>
          </a:p>
        </p:txBody>
      </p:sp>
      <p:sp>
        <p:nvSpPr>
          <p:cNvPr id="18" name="Dikdörtgen: Köşeleri Yuvarlatılmış 17">
            <a:extLst>
              <a:ext uri="{FF2B5EF4-FFF2-40B4-BE49-F238E27FC236}">
                <a16:creationId xmlns:a16="http://schemas.microsoft.com/office/drawing/2014/main" id="{7E47EC70-F3FD-40E4-91C2-DBEDFA810569}"/>
              </a:ext>
            </a:extLst>
          </p:cNvPr>
          <p:cNvSpPr>
            <a:spLocks noGrp="1"/>
          </p:cNvSpPr>
          <p:nvPr/>
        </p:nvSpPr>
        <p:spPr>
          <a:xfrm>
            <a:off x="561975" y="2883027"/>
            <a:ext cx="7239000" cy="685800"/>
          </a:xfrm>
          <a:prstGeom prst="roundRect">
            <a:avLst>
              <a:gd name="adj" fmla="val 11111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Dikdörtgen: Köşeleri Yuvarlatılmış 18">
            <a:extLst>
              <a:ext uri="{FF2B5EF4-FFF2-40B4-BE49-F238E27FC236}">
                <a16:creationId xmlns:a16="http://schemas.microsoft.com/office/drawing/2014/main" id="{6CDAFDEA-8C42-4853-9C8A-0CC350AE01DB}"/>
              </a:ext>
            </a:extLst>
          </p:cNvPr>
          <p:cNvSpPr>
            <a:spLocks noGrp="1"/>
          </p:cNvSpPr>
          <p:nvPr/>
        </p:nvSpPr>
        <p:spPr>
          <a:xfrm>
            <a:off x="714375" y="3083052"/>
            <a:ext cx="666750" cy="266700"/>
          </a:xfrm>
          <a:prstGeom prst="roundRect">
            <a:avLst>
              <a:gd name="adj" fmla="val 50000"/>
            </a:avLst>
          </a:prstGeom>
          <a:solidFill>
            <a:srgbClr val="0B8F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7D049CEA-3D3C-47A3-A285-9FC4E9573452}"/>
              </a:ext>
            </a:extLst>
          </p:cNvPr>
          <p:cNvSpPr>
            <a:spLocks noGrp="1"/>
          </p:cNvSpPr>
          <p:nvPr/>
        </p:nvSpPr>
        <p:spPr>
          <a:xfrm>
            <a:off x="809625" y="3130677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q07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D1F7093A-3489-4BA1-B81C-725E225F6831}"/>
              </a:ext>
            </a:extLst>
          </p:cNvPr>
          <p:cNvSpPr>
            <a:spLocks noGrp="1"/>
          </p:cNvSpPr>
          <p:nvPr/>
        </p:nvSpPr>
        <p:spPr>
          <a:xfrm>
            <a:off x="1619250" y="3025902"/>
            <a:ext cx="2619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11827"/>
                </a:solidFill>
              </a:defRPr>
            </a:pPr>
            <a:r>
              <a:rPr sz="1200" b="1" i="0" dirty="0" err="1">
                <a:solidFill>
                  <a:srgbClr val="111827"/>
                </a:solidFill>
              </a:rPr>
              <a:t>Informationssuche</a:t>
            </a:r>
            <a:endParaRPr sz="1200" b="1" i="0" dirty="0">
              <a:solidFill>
                <a:srgbClr val="111827"/>
              </a:solidFill>
            </a:endParaRP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3B079072-F0EA-44EC-978F-652660D09443}"/>
              </a:ext>
            </a:extLst>
          </p:cNvPr>
          <p:cNvSpPr>
            <a:spLocks noGrp="1"/>
          </p:cNvSpPr>
          <p:nvPr/>
        </p:nvSpPr>
        <p:spPr>
          <a:xfrm>
            <a:off x="1595437" y="3211449"/>
            <a:ext cx="5779077" cy="3303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lvl="0" rtl="0"/>
            <a:r>
              <a:rPr lang="en-US" sz="1200" dirty="0" err="1"/>
              <a:t>richtiges</a:t>
            </a:r>
            <a:r>
              <a:rPr lang="en-US" sz="1200" dirty="0"/>
              <a:t> Modul WP3, </a:t>
            </a:r>
            <a:r>
              <a:rPr lang="en-US" sz="1200" dirty="0" err="1"/>
              <a:t>Goldabschnitt</a:t>
            </a:r>
            <a:r>
              <a:rPr lang="en-US" sz="1200" dirty="0"/>
              <a:t> erst auf Rang 2. Hit@1 </a:t>
            </a:r>
            <a:r>
              <a:rPr lang="en-US" sz="1200" dirty="0" err="1"/>
              <a:t>falsch</a:t>
            </a:r>
            <a:r>
              <a:rPr lang="en-US" sz="1200" dirty="0"/>
              <a:t>, Recall@3 </a:t>
            </a:r>
            <a:r>
              <a:rPr lang="en-US" sz="1200" dirty="0" err="1"/>
              <a:t>vollständig</a:t>
            </a:r>
            <a:r>
              <a:rPr lang="en-US" sz="1200" dirty="0"/>
              <a:t>.</a:t>
            </a:r>
            <a:endParaRPr lang="de-DE" sz="1200" dirty="0"/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452224BB-B288-4C89-8FC3-7360706EA3BA}"/>
              </a:ext>
            </a:extLst>
          </p:cNvPr>
          <p:cNvSpPr>
            <a:spLocks noGrp="1"/>
          </p:cNvSpPr>
          <p:nvPr/>
        </p:nvSpPr>
        <p:spPr>
          <a:xfrm>
            <a:off x="5448300" y="2902077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0B8F6A"/>
                </a:solidFill>
              </a:defRPr>
            </a:pPr>
            <a:r>
              <a:rPr sz="1050" b="1" i="0" dirty="0">
                <a:solidFill>
                  <a:srgbClr val="0B8F6A"/>
                </a:solidFill>
              </a:rPr>
              <a:t>Recall </a:t>
            </a:r>
            <a:r>
              <a:rPr sz="1050" b="1" i="0" dirty="0" err="1">
                <a:solidFill>
                  <a:srgbClr val="0B8F6A"/>
                </a:solidFill>
              </a:rPr>
              <a:t>vollständig</a:t>
            </a:r>
            <a:r>
              <a:rPr lang="de-DE" sz="1050" b="1" i="0" dirty="0">
                <a:solidFill>
                  <a:srgbClr val="0B8F6A"/>
                </a:solidFill>
              </a:rPr>
              <a:t> + </a:t>
            </a:r>
            <a:r>
              <a:rPr lang="de-DE" sz="1050" b="1" dirty="0"/>
              <a:t>Rangfehler</a:t>
            </a:r>
            <a:endParaRPr lang="de-DE" sz="1050" b="1" i="0" dirty="0">
              <a:solidFill>
                <a:srgbClr val="0B8F6A"/>
              </a:solidFill>
            </a:endParaRPr>
          </a:p>
          <a:p>
            <a:pPr algn="r">
              <a:buNone/>
              <a:defRPr sz="1050" b="1" i="0">
                <a:solidFill>
                  <a:srgbClr val="0B8F6A"/>
                </a:solidFill>
              </a:defRPr>
            </a:pPr>
            <a:endParaRPr sz="1050" b="1" i="0" dirty="0">
              <a:solidFill>
                <a:srgbClr val="0B8F6A"/>
              </a:solidFill>
            </a:endParaRPr>
          </a:p>
        </p:txBody>
      </p:sp>
      <p:sp>
        <p:nvSpPr>
          <p:cNvPr id="24" name="Dikdörtgen: Köşeleri Yuvarlatılmış 23">
            <a:extLst>
              <a:ext uri="{FF2B5EF4-FFF2-40B4-BE49-F238E27FC236}">
                <a16:creationId xmlns:a16="http://schemas.microsoft.com/office/drawing/2014/main" id="{2DFC3DEC-BA9D-432F-89C7-26105DB5FD14}"/>
              </a:ext>
            </a:extLst>
          </p:cNvPr>
          <p:cNvSpPr>
            <a:spLocks noGrp="1"/>
          </p:cNvSpPr>
          <p:nvPr/>
        </p:nvSpPr>
        <p:spPr>
          <a:xfrm>
            <a:off x="8286750" y="1581150"/>
            <a:ext cx="3219450" cy="2438400"/>
          </a:xfrm>
          <a:prstGeom prst="roundRect">
            <a:avLst>
              <a:gd name="adj" fmla="val 4688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238873F6-11E1-47EC-91FF-17413BDC59FF}"/>
              </a:ext>
            </a:extLst>
          </p:cNvPr>
          <p:cNvSpPr>
            <a:spLocks noGrp="1"/>
          </p:cNvSpPr>
          <p:nvPr/>
        </p:nvSpPr>
        <p:spPr>
          <a:xfrm>
            <a:off x="8572500" y="18288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2F69D3"/>
                </a:solidFill>
              </a:defRPr>
            </a:pPr>
            <a:r>
              <a:rPr sz="1575" b="1" i="0">
                <a:solidFill>
                  <a:srgbClr val="2F69D3"/>
                </a:solidFill>
              </a:rPr>
              <a:t>Vollkorpus-Stresstest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01EC4E4F-536A-4BC7-9916-98E2AE64C38A}"/>
              </a:ext>
            </a:extLst>
          </p:cNvPr>
          <p:cNvSpPr>
            <a:spLocks noGrp="1"/>
          </p:cNvSpPr>
          <p:nvPr/>
        </p:nvSpPr>
        <p:spPr>
          <a:xfrm>
            <a:off x="8572500" y="2381250"/>
            <a:ext cx="114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2F69D3"/>
                </a:solidFill>
              </a:defRPr>
            </a:pPr>
            <a:r>
              <a:rPr sz="2850" b="1" i="0">
                <a:solidFill>
                  <a:srgbClr val="2F69D3"/>
                </a:solidFill>
              </a:rPr>
              <a:t>7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427BEA09-FC91-4FAE-B84C-BB2BB67D2512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Dokumente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84CB5CC9-9EC2-4FEE-B625-F0247F73F174}"/>
              </a:ext>
            </a:extLst>
          </p:cNvPr>
          <p:cNvSpPr>
            <a:spLocks noGrp="1"/>
          </p:cNvSpPr>
          <p:nvPr/>
        </p:nvSpPr>
        <p:spPr>
          <a:xfrm>
            <a:off x="9906000" y="2381250"/>
            <a:ext cx="133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0B8F6A"/>
                </a:solidFill>
              </a:defRPr>
            </a:pPr>
            <a:r>
              <a:rPr sz="2850" b="1" i="0">
                <a:solidFill>
                  <a:srgbClr val="0B8F6A"/>
                </a:solidFill>
              </a:rPr>
              <a:t>3.391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DF2695C8-0FC8-4F6A-939F-561655297C85}"/>
              </a:ext>
            </a:extLst>
          </p:cNvPr>
          <p:cNvSpPr>
            <a:spLocks noGrp="1"/>
          </p:cNvSpPr>
          <p:nvPr/>
        </p:nvSpPr>
        <p:spPr>
          <a:xfrm>
            <a:off x="9906000" y="2838450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Field Chunks</a:t>
            </a:r>
          </a:p>
        </p:txBody>
      </p:sp>
      <p:sp>
        <p:nvSpPr>
          <p:cNvPr id="30" name="Dikdörtgen: Köşeleri Yuvarlatılmış 29">
            <a:extLst>
              <a:ext uri="{FF2B5EF4-FFF2-40B4-BE49-F238E27FC236}">
                <a16:creationId xmlns:a16="http://schemas.microsoft.com/office/drawing/2014/main" id="{702A3BEA-6E72-4A2F-9339-41C3C82086E7}"/>
              </a:ext>
            </a:extLst>
          </p:cNvPr>
          <p:cNvSpPr>
            <a:spLocks noGrp="1"/>
          </p:cNvSpPr>
          <p:nvPr/>
        </p:nvSpPr>
        <p:spPr>
          <a:xfrm>
            <a:off x="8572500" y="3352800"/>
            <a:ext cx="2571750" cy="266700"/>
          </a:xfrm>
          <a:prstGeom prst="roundRect">
            <a:avLst>
              <a:gd name="adj" fmla="val 50000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749E1D88-782A-4777-A924-4A26DA389071}"/>
              </a:ext>
            </a:extLst>
          </p:cNvPr>
          <p:cNvSpPr>
            <a:spLocks noGrp="1"/>
          </p:cNvSpPr>
          <p:nvPr/>
        </p:nvSpPr>
        <p:spPr>
          <a:xfrm>
            <a:off x="8667750" y="3400425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0B8F6A"/>
                </a:solidFill>
              </a:defRPr>
            </a:pPr>
            <a:r>
              <a:rPr sz="825" b="1" i="0">
                <a:solidFill>
                  <a:srgbClr val="0B8F6A"/>
                </a:solidFill>
              </a:rPr>
              <a:t>0 doppelte Chunk-IDs</a:t>
            </a:r>
          </a:p>
        </p:txBody>
      </p:sp>
      <p:sp>
        <p:nvSpPr>
          <p:cNvPr id="33" name="Dikdörtgen: Köşeleri Yuvarlatılmış 32">
            <a:extLst>
              <a:ext uri="{FF2B5EF4-FFF2-40B4-BE49-F238E27FC236}">
                <a16:creationId xmlns:a16="http://schemas.microsoft.com/office/drawing/2014/main" id="{17D619F9-EEB6-4333-BE70-D8A099CEF063}"/>
              </a:ext>
            </a:extLst>
          </p:cNvPr>
          <p:cNvSpPr>
            <a:spLocks noGrp="1"/>
          </p:cNvSpPr>
          <p:nvPr/>
        </p:nvSpPr>
        <p:spPr>
          <a:xfrm>
            <a:off x="685800" y="4619625"/>
            <a:ext cx="7239000" cy="933450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D63A7816-013F-456D-BE37-985FE3575512}"/>
              </a:ext>
            </a:extLst>
          </p:cNvPr>
          <p:cNvSpPr>
            <a:spLocks noGrp="1"/>
          </p:cNvSpPr>
          <p:nvPr/>
        </p:nvSpPr>
        <p:spPr>
          <a:xfrm>
            <a:off x="933450" y="4838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2F69D3"/>
                </a:solidFill>
              </a:defRPr>
            </a:pPr>
            <a:r>
              <a:rPr sz="1050" b="1" i="0">
                <a:solidFill>
                  <a:srgbClr val="2F69D3"/>
                </a:solidFill>
              </a:rPr>
              <a:t>Per-Query-Audit</a:t>
            </a: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369DD45A-DCA7-4CC4-BDCA-C6510FA66365}"/>
              </a:ext>
            </a:extLst>
          </p:cNvPr>
          <p:cNvSpPr>
            <a:spLocks noGrp="1"/>
          </p:cNvSpPr>
          <p:nvPr/>
        </p:nvSpPr>
        <p:spPr>
          <a:xfrm>
            <a:off x="933450" y="5181600"/>
            <a:ext cx="657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de-DE" sz="1200" dirty="0"/>
              <a:t>Per-Query-Audit macht sichtbar, ob ein Fehler durch Rangposition oder fehlende Evidenz entsteht.</a:t>
            </a:r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7BC2EB65-EC9B-40C2-A644-F72FC4C0FE98}"/>
              </a:ext>
            </a:extLst>
          </p:cNvPr>
          <p:cNvSpPr>
            <a:spLocks noGrp="1"/>
          </p:cNvSpPr>
          <p:nvPr/>
        </p:nvSpPr>
        <p:spPr>
          <a:xfrm>
            <a:off x="7000875" y="6153150"/>
            <a:ext cx="45053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Auditpfad: Excel › Fehleranalyse + Korpus</a:t>
            </a:r>
          </a:p>
        </p:txBody>
      </p:sp>
    </p:spTree>
    <p:extLst>
      <p:ext uri="{BB962C8B-B14F-4D97-AF65-F5344CB8AC3E}">
        <p14:creationId xmlns:p14="http://schemas.microsoft.com/office/powerpoint/2010/main" val="2019229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ikdörtgen 30">
            <a:extLst>
              <a:ext uri="{FF2B5EF4-FFF2-40B4-BE49-F238E27FC236}">
                <a16:creationId xmlns:a16="http://schemas.microsoft.com/office/drawing/2014/main" id="{045DD3A4-88AF-476A-9894-9CD7B83F0A7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ANTWORTVERHALTEN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7B8246CD-FD1E-42D6-AF0F-BA95F77625A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Kontrollierter Pilot: antworten, nachfragen oder zurückhalten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845B2920-3CCA-472A-8648-F917A65D96A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52B032E9-1238-43D0-AA8E-ED246B6ED01D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De</a:t>
            </a:r>
            <a:r>
              <a:rPr lang="de-DE" sz="750" b="0" i="0" dirty="0">
                <a:solidFill>
                  <a:srgbClr val="667085"/>
                </a:solidFill>
              </a:rPr>
              <a:t>b</a:t>
            </a:r>
            <a:r>
              <a:rPr sz="750" b="0" i="0" dirty="0" err="1">
                <a:solidFill>
                  <a:srgbClr val="667085"/>
                </a:solidFill>
              </a:rPr>
              <a:t>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92E72BA3-01D0-4835-AC22-D18E6EC88E1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17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03E6AB8F-43B2-41F1-8738-5C42C969DE39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3333750" cy="2266950"/>
          </a:xfrm>
          <a:prstGeom prst="roundRect">
            <a:avLst>
              <a:gd name="adj" fmla="val 5042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B5519136-203A-480F-A8FF-0A0F52FFBBA0}"/>
              </a:ext>
            </a:extLst>
          </p:cNvPr>
          <p:cNvSpPr>
            <a:spLocks noGrp="1"/>
          </p:cNvSpPr>
          <p:nvPr/>
        </p:nvSpPr>
        <p:spPr>
          <a:xfrm>
            <a:off x="952500" y="1828800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2 beantwortbar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24220FA-DD0C-45E4-B979-3D5ABE2E170B}"/>
              </a:ext>
            </a:extLst>
          </p:cNvPr>
          <p:cNvSpPr>
            <a:spLocks noGrp="1"/>
          </p:cNvSpPr>
          <p:nvPr/>
        </p:nvSpPr>
        <p:spPr>
          <a:xfrm>
            <a:off x="952500" y="2343150"/>
            <a:ext cx="276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exakte Evidenz</a:t>
            </a:r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B88A5DE0-5F18-46A7-A65C-AACC6C904F12}"/>
              </a:ext>
            </a:extLst>
          </p:cNvPr>
          <p:cNvSpPr>
            <a:spLocks noGrp="1"/>
          </p:cNvSpPr>
          <p:nvPr/>
        </p:nvSpPr>
        <p:spPr>
          <a:xfrm>
            <a:off x="952500" y="3143250"/>
            <a:ext cx="2000250" cy="266700"/>
          </a:xfrm>
          <a:prstGeom prst="roundRect">
            <a:avLst>
              <a:gd name="adj" fmla="val 50000"/>
            </a:avLst>
          </a:prstGeom>
          <a:solidFill>
            <a:srgbClr val="0B8F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98FFAC74-CA04-434A-84FA-6EFC0D715029}"/>
              </a:ext>
            </a:extLst>
          </p:cNvPr>
          <p:cNvSpPr>
            <a:spLocks noGrp="1"/>
          </p:cNvSpPr>
          <p:nvPr/>
        </p:nvSpPr>
        <p:spPr>
          <a:xfrm>
            <a:off x="1047750" y="31908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ANTWORT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C64BB52D-ABF1-4641-87A3-69BB86BF34AA}"/>
              </a:ext>
            </a:extLst>
          </p:cNvPr>
          <p:cNvSpPr>
            <a:spLocks noGrp="1"/>
          </p:cNvSpPr>
          <p:nvPr/>
        </p:nvSpPr>
        <p:spPr>
          <a:xfrm>
            <a:off x="4324350" y="1571625"/>
            <a:ext cx="3333750" cy="2266950"/>
          </a:xfrm>
          <a:prstGeom prst="roundRect">
            <a:avLst>
              <a:gd name="adj" fmla="val 5042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25521634-33A0-4652-9A6E-01148F0169BC}"/>
              </a:ext>
            </a:extLst>
          </p:cNvPr>
          <p:cNvSpPr>
            <a:spLocks noGrp="1"/>
          </p:cNvSpPr>
          <p:nvPr/>
        </p:nvSpPr>
        <p:spPr>
          <a:xfrm>
            <a:off x="4591050" y="1828800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2 mehrdeutig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E69A667B-55F7-4F73-AC49-CF0A8DDFB4D3}"/>
              </a:ext>
            </a:extLst>
          </p:cNvPr>
          <p:cNvSpPr>
            <a:spLocks noGrp="1"/>
          </p:cNvSpPr>
          <p:nvPr/>
        </p:nvSpPr>
        <p:spPr>
          <a:xfrm>
            <a:off x="4591050" y="2343150"/>
            <a:ext cx="276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Modulcode in mehreren PDFs</a:t>
            </a: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3DA47A9B-B5AF-4EFA-AAED-70D0870B8B11}"/>
              </a:ext>
            </a:extLst>
          </p:cNvPr>
          <p:cNvSpPr>
            <a:spLocks noGrp="1"/>
          </p:cNvSpPr>
          <p:nvPr/>
        </p:nvSpPr>
        <p:spPr>
          <a:xfrm>
            <a:off x="4591050" y="3143250"/>
            <a:ext cx="2000250" cy="266700"/>
          </a:xfrm>
          <a:prstGeom prst="roundRect">
            <a:avLst>
              <a:gd name="adj" fmla="val 50000"/>
            </a:avLst>
          </a:prstGeom>
          <a:solidFill>
            <a:srgbClr val="D59B1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48DC8E0A-6929-4623-B596-ACA43F0BF964}"/>
              </a:ext>
            </a:extLst>
          </p:cNvPr>
          <p:cNvSpPr>
            <a:spLocks noGrp="1"/>
          </p:cNvSpPr>
          <p:nvPr/>
        </p:nvSpPr>
        <p:spPr>
          <a:xfrm>
            <a:off x="4686300" y="31908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NACHFRAGE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7CB5EDF5-ABC8-4716-9CC6-0F63B1DBCA19}"/>
              </a:ext>
            </a:extLst>
          </p:cNvPr>
          <p:cNvSpPr>
            <a:spLocks noGrp="1"/>
          </p:cNvSpPr>
          <p:nvPr/>
        </p:nvSpPr>
        <p:spPr>
          <a:xfrm>
            <a:off x="8324850" y="31908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ZURÜCKHALTEN</a:t>
            </a:r>
          </a:p>
        </p:txBody>
      </p:sp>
      <p:sp>
        <p:nvSpPr>
          <p:cNvPr id="21" name="Dikdörtgen: Köşeleri Yuvarlatılmış 20">
            <a:extLst>
              <a:ext uri="{FF2B5EF4-FFF2-40B4-BE49-F238E27FC236}">
                <a16:creationId xmlns:a16="http://schemas.microsoft.com/office/drawing/2014/main" id="{924C4A32-681E-4668-B461-C51E05145776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10820400" cy="1123950"/>
          </a:xfrm>
          <a:prstGeom prst="roundRect">
            <a:avLst>
              <a:gd name="adj" fmla="val 10169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2D672BEC-2A36-4574-9B74-20E79054CA8C}"/>
              </a:ext>
            </a:extLst>
          </p:cNvPr>
          <p:cNvSpPr>
            <a:spLocks noGrp="1"/>
          </p:cNvSpPr>
          <p:nvPr/>
        </p:nvSpPr>
        <p:spPr>
          <a:xfrm>
            <a:off x="971550" y="4524375"/>
            <a:ext cx="3714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 dirty="0">
                <a:solidFill>
                  <a:srgbClr val="FFFFFF"/>
                </a:solidFill>
              </a:rPr>
              <a:t>6 </a:t>
            </a:r>
            <a:r>
              <a:rPr sz="1650" b="1" i="0" dirty="0" err="1">
                <a:solidFill>
                  <a:srgbClr val="FFFFFF"/>
                </a:solidFill>
              </a:rPr>
              <a:t>Fälle</a:t>
            </a:r>
            <a:r>
              <a:rPr sz="1650" b="1" i="0" dirty="0">
                <a:solidFill>
                  <a:srgbClr val="FFFFFF"/>
                </a:solidFill>
              </a:rPr>
              <a:t> × 3 </a:t>
            </a:r>
            <a:r>
              <a:rPr sz="1650" b="1" i="0" dirty="0" err="1">
                <a:solidFill>
                  <a:srgbClr val="FFFFFF"/>
                </a:solidFill>
              </a:rPr>
              <a:t>Wiederholungen</a:t>
            </a:r>
            <a:r>
              <a:rPr lang="de-DE" sz="1650" b="1" i="0" dirty="0">
                <a:solidFill>
                  <a:srgbClr val="FFFFFF"/>
                </a:solidFill>
              </a:rPr>
              <a:t> = 18 Läufe</a:t>
            </a:r>
            <a:endParaRPr sz="1650" b="1" i="0" dirty="0">
              <a:solidFill>
                <a:srgbClr val="FFFFFF"/>
              </a:solidFill>
            </a:endParaRP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749016ED-6F5A-4290-9CC1-89CC84DCCD86}"/>
              </a:ext>
            </a:extLst>
          </p:cNvPr>
          <p:cNvSpPr>
            <a:spLocks noGrp="1"/>
          </p:cNvSpPr>
          <p:nvPr/>
        </p:nvSpPr>
        <p:spPr>
          <a:xfrm>
            <a:off x="971550" y="495300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C8D2DC"/>
                </a:solidFill>
              </a:defRPr>
            </a:pPr>
            <a:r>
              <a:rPr sz="1050" b="0" i="0">
                <a:solidFill>
                  <a:srgbClr val="C8D2DC"/>
                </a:solidFill>
              </a:rPr>
              <a:t>llama3.2:3b · Temperatur 0 · Seed 42</a:t>
            </a: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AF8ACE20-CCBF-4E42-9FBC-6D04DAA650B4}"/>
              </a:ext>
            </a:extLst>
          </p:cNvPr>
          <p:cNvSpPr>
            <a:spLocks noGrp="1"/>
          </p:cNvSpPr>
          <p:nvPr/>
        </p:nvSpPr>
        <p:spPr>
          <a:xfrm>
            <a:off x="5762625" y="4457700"/>
            <a:ext cx="220218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 i="0">
                <a:solidFill>
                  <a:srgbClr val="6FE2B8"/>
                </a:solidFill>
              </a:defRPr>
            </a:pPr>
            <a:r>
              <a:rPr lang="de-DE" sz="2400" b="1" i="0" dirty="0">
                <a:solidFill>
                  <a:srgbClr val="6FE2B8"/>
                </a:solidFill>
              </a:rPr>
              <a:t>18 von 18</a:t>
            </a:r>
            <a:endParaRPr sz="2400" b="1" i="0" dirty="0">
              <a:solidFill>
                <a:srgbClr val="6FE2B8"/>
              </a:solidFill>
            </a:endParaRP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E817FAA7-8DDD-4E9A-BEA3-9F540AAF23F9}"/>
              </a:ext>
            </a:extLst>
          </p:cNvPr>
          <p:cNvSpPr>
            <a:spLocks noGrp="1"/>
          </p:cNvSpPr>
          <p:nvPr/>
        </p:nvSpPr>
        <p:spPr>
          <a:xfrm>
            <a:off x="5762625" y="49530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FFFFFF"/>
                </a:solidFill>
              </a:defRPr>
            </a:pPr>
            <a:r>
              <a:rPr lang="de-DE" sz="1050" b="0" i="0" dirty="0">
                <a:solidFill>
                  <a:srgbClr val="FFFFFF"/>
                </a:solidFill>
              </a:rPr>
              <a:t>Läufe mit erwarteter Systemaktion</a:t>
            </a:r>
            <a:endParaRPr sz="1050" b="0" i="0" dirty="0">
              <a:solidFill>
                <a:srgbClr val="FFFFFF"/>
              </a:solidFill>
            </a:endParaRP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9265BA2C-5BF5-4F00-B1DE-96E5C29E5BA2}"/>
              </a:ext>
            </a:extLst>
          </p:cNvPr>
          <p:cNvSpPr>
            <a:spLocks noGrp="1"/>
          </p:cNvSpPr>
          <p:nvPr/>
        </p:nvSpPr>
        <p:spPr>
          <a:xfrm>
            <a:off x="8591550" y="4457700"/>
            <a:ext cx="142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 i="0">
                <a:solidFill>
                  <a:srgbClr val="79A8FF"/>
                </a:solidFill>
              </a:defRPr>
            </a:pPr>
            <a:r>
              <a:rPr lang="de-DE" sz="2400" b="1" i="0" dirty="0">
                <a:solidFill>
                  <a:srgbClr val="79A8FF"/>
                </a:solidFill>
              </a:rPr>
              <a:t>3 von 3</a:t>
            </a:r>
            <a:endParaRPr sz="2400" b="1" i="0" dirty="0">
              <a:solidFill>
                <a:srgbClr val="79A8FF"/>
              </a:solidFill>
            </a:endParaRP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3C1D94A9-E28E-41C6-A985-6B0E275B2069}"/>
              </a:ext>
            </a:extLst>
          </p:cNvPr>
          <p:cNvSpPr>
            <a:spLocks noGrp="1"/>
          </p:cNvSpPr>
          <p:nvPr/>
        </p:nvSpPr>
        <p:spPr>
          <a:xfrm>
            <a:off x="8591550" y="4857750"/>
            <a:ext cx="270700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FFFFFF"/>
                </a:solidFill>
              </a:defRPr>
            </a:pPr>
            <a:r>
              <a:rPr lang="de-DE" sz="1050" dirty="0">
                <a:solidFill>
                  <a:srgbClr val="FFFFFF"/>
                </a:solidFill>
              </a:rPr>
              <a:t>i</a:t>
            </a:r>
            <a:r>
              <a:rPr lang="de-DE" sz="1050" b="0" i="0" dirty="0">
                <a:solidFill>
                  <a:srgbClr val="FFFFFF"/>
                </a:solidFill>
              </a:rPr>
              <a:t>dentische Ausgaben bei 3 Wiederholungen</a:t>
            </a:r>
          </a:p>
          <a:p>
            <a:pPr algn="l">
              <a:buNone/>
              <a:defRPr sz="1050" b="0" i="0">
                <a:solidFill>
                  <a:srgbClr val="FFFFFF"/>
                </a:solidFill>
              </a:defRPr>
            </a:pPr>
            <a:r>
              <a:rPr sz="1050" b="0" i="0" dirty="0" err="1">
                <a:solidFill>
                  <a:srgbClr val="FFFFFF"/>
                </a:solidFill>
              </a:rPr>
              <a:t>exakte</a:t>
            </a:r>
            <a:r>
              <a:rPr sz="1050" b="0" i="0" dirty="0">
                <a:solidFill>
                  <a:srgbClr val="FFFFFF"/>
                </a:solidFill>
              </a:rPr>
              <a:t> </a:t>
            </a:r>
            <a:r>
              <a:rPr sz="1050" b="0" i="0" dirty="0" err="1">
                <a:solidFill>
                  <a:srgbClr val="FFFFFF"/>
                </a:solidFill>
              </a:rPr>
              <a:t>Reproduzierbarkeit</a:t>
            </a:r>
            <a:endParaRPr sz="1050" b="0" i="0" dirty="0">
              <a:solidFill>
                <a:srgbClr val="FFFFFF"/>
              </a:solidFill>
            </a:endParaRPr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7ACED240-424A-434D-B923-025D2FBA5BC7}"/>
              </a:ext>
            </a:extLst>
          </p:cNvPr>
          <p:cNvSpPr>
            <a:spLocks noGrp="1"/>
          </p:cNvSpPr>
          <p:nvPr/>
        </p:nvSpPr>
        <p:spPr>
          <a:xfrm>
            <a:off x="7000875" y="6127173"/>
            <a:ext cx="45053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Auditpfad: Excel › Antwortpilot</a:t>
            </a:r>
          </a:p>
        </p:txBody>
      </p:sp>
      <p:sp>
        <p:nvSpPr>
          <p:cNvPr id="16" name="Dikdörtgen: Köşeleri Yuvarlatılmış 10">
            <a:extLst>
              <a:ext uri="{FF2B5EF4-FFF2-40B4-BE49-F238E27FC236}">
                <a16:creationId xmlns:a16="http://schemas.microsoft.com/office/drawing/2014/main" id="{77E687F0-1161-C000-EFDD-5466833766F3}"/>
              </a:ext>
            </a:extLst>
          </p:cNvPr>
          <p:cNvSpPr>
            <a:spLocks noGrp="1"/>
          </p:cNvSpPr>
          <p:nvPr/>
        </p:nvSpPr>
        <p:spPr>
          <a:xfrm>
            <a:off x="7964805" y="1573530"/>
            <a:ext cx="3333750" cy="2266950"/>
          </a:xfrm>
          <a:prstGeom prst="roundRect">
            <a:avLst>
              <a:gd name="adj" fmla="val 5042"/>
            </a:avLst>
          </a:prstGeom>
          <a:solidFill>
            <a:schemeClr val="accent2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Dikdörtgen 11">
            <a:extLst>
              <a:ext uri="{FF2B5EF4-FFF2-40B4-BE49-F238E27FC236}">
                <a16:creationId xmlns:a16="http://schemas.microsoft.com/office/drawing/2014/main" id="{F5F295C0-86F0-7B25-AD22-453F76BDEC7C}"/>
              </a:ext>
            </a:extLst>
          </p:cNvPr>
          <p:cNvSpPr>
            <a:spLocks noGrp="1"/>
          </p:cNvSpPr>
          <p:nvPr/>
        </p:nvSpPr>
        <p:spPr>
          <a:xfrm>
            <a:off x="8231505" y="1830705"/>
            <a:ext cx="276225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11827"/>
                </a:solidFill>
              </a:defRPr>
            </a:pPr>
            <a:r>
              <a:rPr sz="1500" b="1" i="0" dirty="0">
                <a:solidFill>
                  <a:srgbClr val="111827"/>
                </a:solidFill>
              </a:rPr>
              <a:t>2 </a:t>
            </a:r>
            <a:r>
              <a:rPr lang="de-DE" sz="1500" b="1" i="0" dirty="0">
                <a:solidFill>
                  <a:srgbClr val="111827"/>
                </a:solidFill>
              </a:rPr>
              <a:t>unbelegbar</a:t>
            </a:r>
            <a:endParaRPr sz="1500" b="1" i="0" dirty="0">
              <a:solidFill>
                <a:srgbClr val="111827"/>
              </a:solidFill>
            </a:endParaRPr>
          </a:p>
        </p:txBody>
      </p:sp>
      <p:sp>
        <p:nvSpPr>
          <p:cNvPr id="18" name="Dikdörtgen 12">
            <a:extLst>
              <a:ext uri="{FF2B5EF4-FFF2-40B4-BE49-F238E27FC236}">
                <a16:creationId xmlns:a16="http://schemas.microsoft.com/office/drawing/2014/main" id="{952703C0-E1FC-2457-184E-C8DCF95B82D4}"/>
              </a:ext>
            </a:extLst>
          </p:cNvPr>
          <p:cNvSpPr>
            <a:spLocks noGrp="1"/>
          </p:cNvSpPr>
          <p:nvPr/>
        </p:nvSpPr>
        <p:spPr>
          <a:xfrm>
            <a:off x="8231505" y="2345055"/>
            <a:ext cx="2762250" cy="4762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lang="de-DE" sz="1125" b="0" i="0" dirty="0">
                <a:solidFill>
                  <a:srgbClr val="667085"/>
                </a:solidFill>
              </a:rPr>
              <a:t>Information fehlt im Korpus</a:t>
            </a:r>
            <a:endParaRPr sz="1125" b="0" i="0" dirty="0">
              <a:solidFill>
                <a:srgbClr val="667085"/>
              </a:solidFill>
            </a:endParaRPr>
          </a:p>
        </p:txBody>
      </p:sp>
      <p:sp>
        <p:nvSpPr>
          <p:cNvPr id="19" name="Dikdörtgen: Köşeleri Yuvarlatılmış 13">
            <a:extLst>
              <a:ext uri="{FF2B5EF4-FFF2-40B4-BE49-F238E27FC236}">
                <a16:creationId xmlns:a16="http://schemas.microsoft.com/office/drawing/2014/main" id="{5BED7793-DAFA-F316-9D71-4F794EE9104B}"/>
              </a:ext>
            </a:extLst>
          </p:cNvPr>
          <p:cNvSpPr>
            <a:spLocks noGrp="1"/>
          </p:cNvSpPr>
          <p:nvPr/>
        </p:nvSpPr>
        <p:spPr>
          <a:xfrm>
            <a:off x="8231505" y="3145155"/>
            <a:ext cx="2000250" cy="266700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Dikdörtgen: Köşeleri Yuvarlatılmış 13">
            <a:extLst>
              <a:ext uri="{FF2B5EF4-FFF2-40B4-BE49-F238E27FC236}">
                <a16:creationId xmlns:a16="http://schemas.microsoft.com/office/drawing/2014/main" id="{1E3916C9-C43B-1331-88CE-0E4E81EE572A}"/>
              </a:ext>
            </a:extLst>
          </p:cNvPr>
          <p:cNvSpPr>
            <a:spLocks noGrp="1"/>
          </p:cNvSpPr>
          <p:nvPr/>
        </p:nvSpPr>
        <p:spPr>
          <a:xfrm>
            <a:off x="8229600" y="3143250"/>
            <a:ext cx="2000250" cy="266700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9" name="Dikdörtgen 14">
            <a:extLst>
              <a:ext uri="{FF2B5EF4-FFF2-40B4-BE49-F238E27FC236}">
                <a16:creationId xmlns:a16="http://schemas.microsoft.com/office/drawing/2014/main" id="{939F49C7-52E1-D8D3-CEAF-6D221B778C16}"/>
              </a:ext>
            </a:extLst>
          </p:cNvPr>
          <p:cNvSpPr>
            <a:spLocks noGrp="1"/>
          </p:cNvSpPr>
          <p:nvPr/>
        </p:nvSpPr>
        <p:spPr>
          <a:xfrm>
            <a:off x="8324850" y="3171825"/>
            <a:ext cx="1809750" cy="17145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0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pPr algn="ctr">
              <a:buNone/>
              <a:defRPr sz="825" b="1" i="0">
                <a:solidFill>
                  <a:srgbClr val="FFFFFF"/>
                </a:solidFill>
              </a:defRPr>
            </a:pPr>
            <a:r>
              <a:rPr lang="de-DE" sz="825" b="1" i="0" dirty="0">
                <a:solidFill>
                  <a:srgbClr val="FFFFFF"/>
                </a:solidFill>
              </a:rPr>
              <a:t>ZURÜCKHALTEN</a:t>
            </a:r>
            <a:endParaRPr sz="825" b="1" i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731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Dikdörtgen 29">
            <a:extLst>
              <a:ext uri="{FF2B5EF4-FFF2-40B4-BE49-F238E27FC236}">
                <a16:creationId xmlns:a16="http://schemas.microsoft.com/office/drawing/2014/main" id="{7DCB1A5C-D756-4005-9EAE-508C61D23A08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 dirty="0">
                <a:solidFill>
                  <a:srgbClr val="2F69D3"/>
                </a:solidFill>
              </a:rPr>
              <a:t>DEMO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F08E8E9F-0BB5-41FE-8448-509D0E59DF3F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 dirty="0">
                <a:solidFill>
                  <a:srgbClr val="111827"/>
                </a:solidFill>
              </a:rPr>
              <a:t>Drei </a:t>
            </a:r>
            <a:r>
              <a:rPr sz="2325" b="1" i="0" dirty="0" err="1">
                <a:solidFill>
                  <a:srgbClr val="111827"/>
                </a:solidFill>
              </a:rPr>
              <a:t>Anfragen</a:t>
            </a:r>
            <a:r>
              <a:rPr sz="2325" b="1" i="0" dirty="0">
                <a:solidFill>
                  <a:srgbClr val="111827"/>
                </a:solidFill>
              </a:rPr>
              <a:t> </a:t>
            </a:r>
            <a:r>
              <a:rPr sz="2325" b="1" i="0" dirty="0" err="1">
                <a:solidFill>
                  <a:srgbClr val="111827"/>
                </a:solidFill>
              </a:rPr>
              <a:t>zeigen</a:t>
            </a:r>
            <a:r>
              <a:rPr sz="2325" b="1" i="0" dirty="0">
                <a:solidFill>
                  <a:srgbClr val="111827"/>
                </a:solidFill>
              </a:rPr>
              <a:t> die </a:t>
            </a:r>
            <a:r>
              <a:rPr sz="2325" b="1" i="0" dirty="0" err="1">
                <a:solidFill>
                  <a:srgbClr val="111827"/>
                </a:solidFill>
              </a:rPr>
              <a:t>Antwortpolitik</a:t>
            </a:r>
            <a:endParaRPr sz="2325" b="1" i="0" dirty="0">
              <a:solidFill>
                <a:srgbClr val="111827"/>
              </a:solidFill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4FFD12A6-9A76-4BC5-A506-054AB80A71C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A7678DC3-C008-4A21-85A8-05F7BC799664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05988C87-38BE-4E85-919B-6B3A9FE8442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18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288B6D2A-B511-4E73-9FC1-CCCA4FAE29F1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7524750" cy="990600"/>
          </a:xfrm>
          <a:prstGeom prst="roundRect">
            <a:avLst>
              <a:gd name="adj" fmla="val 11538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2E690145-C9F3-428A-B8F9-E886B352AA1F}"/>
              </a:ext>
            </a:extLst>
          </p:cNvPr>
          <p:cNvSpPr>
            <a:spLocks noGrp="1"/>
          </p:cNvSpPr>
          <p:nvPr/>
        </p:nvSpPr>
        <p:spPr>
          <a:xfrm>
            <a:off x="933450" y="1762125"/>
            <a:ext cx="523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0B8F6A"/>
                </a:solidFill>
              </a:defRPr>
            </a:pPr>
            <a:r>
              <a:rPr sz="2550" b="1" i="0">
                <a:solidFill>
                  <a:srgbClr val="0B8F6A"/>
                </a:solidFill>
              </a:rPr>
              <a:t>1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2F987594-4B58-424E-9D94-51B23A939390}"/>
              </a:ext>
            </a:extLst>
          </p:cNvPr>
          <p:cNvSpPr>
            <a:spLocks noGrp="1"/>
          </p:cNvSpPr>
          <p:nvPr/>
        </p:nvSpPr>
        <p:spPr>
          <a:xfrm>
            <a:off x="1657350" y="1714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0B8F6A"/>
                </a:solidFill>
              </a:defRPr>
            </a:pPr>
            <a:r>
              <a:rPr sz="1125" b="1" i="0">
                <a:solidFill>
                  <a:srgbClr val="0B8F6A"/>
                </a:solidFill>
              </a:rPr>
              <a:t>Beantwortbar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E4CA2AFC-EC77-4A91-A93E-943A94C206EB}"/>
              </a:ext>
            </a:extLst>
          </p:cNvPr>
          <p:cNvSpPr>
            <a:spLocks noGrp="1"/>
          </p:cNvSpPr>
          <p:nvPr/>
        </p:nvSpPr>
        <p:spPr>
          <a:xfrm>
            <a:off x="1657350" y="1952625"/>
            <a:ext cx="433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Wie viele ECTS hat WP3 im Bachelor Computerlinguistik?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30D695E6-10A5-4BFA-ABA2-5D45DF286B0A}"/>
              </a:ext>
            </a:extLst>
          </p:cNvPr>
          <p:cNvSpPr>
            <a:spLocks noGrp="1"/>
          </p:cNvSpPr>
          <p:nvPr/>
        </p:nvSpPr>
        <p:spPr>
          <a:xfrm>
            <a:off x="6096000" y="1943100"/>
            <a:ext cx="1762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0B8F6A"/>
                </a:solidFill>
              </a:defRPr>
            </a:pPr>
            <a:r>
              <a:rPr sz="1050" b="1" i="0">
                <a:solidFill>
                  <a:srgbClr val="0B8F6A"/>
                </a:solidFill>
              </a:rPr>
              <a:t>exakter Wert + Quelle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0E6C0EE5-2596-4BB5-A488-388C8E180B80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7524750" cy="990600"/>
          </a:xfrm>
          <a:prstGeom prst="roundRect">
            <a:avLst>
              <a:gd name="adj" fmla="val 11538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AEB3746-06B3-4F56-97FE-3999117367DE}"/>
              </a:ext>
            </a:extLst>
          </p:cNvPr>
          <p:cNvSpPr>
            <a:spLocks noGrp="1"/>
          </p:cNvSpPr>
          <p:nvPr/>
        </p:nvSpPr>
        <p:spPr>
          <a:xfrm>
            <a:off x="933450" y="3000375"/>
            <a:ext cx="523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D59B14"/>
                </a:solidFill>
              </a:defRPr>
            </a:pPr>
            <a:r>
              <a:rPr sz="2550" b="1" i="0">
                <a:solidFill>
                  <a:srgbClr val="D59B14"/>
                </a:solidFill>
              </a:rPr>
              <a:t>2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E0DE9A6E-4DFF-419A-B0E3-092CCB15AF17}"/>
              </a:ext>
            </a:extLst>
          </p:cNvPr>
          <p:cNvSpPr>
            <a:spLocks noGrp="1"/>
          </p:cNvSpPr>
          <p:nvPr/>
        </p:nvSpPr>
        <p:spPr>
          <a:xfrm>
            <a:off x="1657350" y="29527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D59B14"/>
                </a:solidFill>
              </a:defRPr>
            </a:pPr>
            <a:r>
              <a:rPr sz="1125" b="1" i="0">
                <a:solidFill>
                  <a:srgbClr val="D59B14"/>
                </a:solidFill>
              </a:rPr>
              <a:t>Mehrdeutig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AD7EE742-115E-4DA3-8ED3-9319A510FE31}"/>
              </a:ext>
            </a:extLst>
          </p:cNvPr>
          <p:cNvSpPr>
            <a:spLocks noGrp="1"/>
          </p:cNvSpPr>
          <p:nvPr/>
        </p:nvSpPr>
        <p:spPr>
          <a:xfrm>
            <a:off x="1657350" y="3190875"/>
            <a:ext cx="433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Wie viele ECTS hat P1?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F88BAC3D-A55B-49B2-82AA-2E7D50BA0C1C}"/>
              </a:ext>
            </a:extLst>
          </p:cNvPr>
          <p:cNvSpPr>
            <a:spLocks noGrp="1"/>
          </p:cNvSpPr>
          <p:nvPr/>
        </p:nvSpPr>
        <p:spPr>
          <a:xfrm>
            <a:off x="6096000" y="3181350"/>
            <a:ext cx="1762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D59B14"/>
                </a:solidFill>
              </a:defRPr>
            </a:pPr>
            <a:r>
              <a:rPr sz="1050" b="1" i="0">
                <a:solidFill>
                  <a:srgbClr val="D59B14"/>
                </a:solidFill>
              </a:rPr>
              <a:t>Studiengang präzisieren</a:t>
            </a:r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416CC0CE-5BD3-421B-9A41-7ACF32ED2284}"/>
              </a:ext>
            </a:extLst>
          </p:cNvPr>
          <p:cNvSpPr>
            <a:spLocks noGrp="1"/>
          </p:cNvSpPr>
          <p:nvPr/>
        </p:nvSpPr>
        <p:spPr>
          <a:xfrm>
            <a:off x="685800" y="4019550"/>
            <a:ext cx="7524750" cy="990600"/>
          </a:xfrm>
          <a:prstGeom prst="roundRect">
            <a:avLst>
              <a:gd name="adj" fmla="val 11538"/>
            </a:avLst>
          </a:prstGeom>
          <a:solidFill>
            <a:srgbClr val="FDEB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4CD82605-A2D8-4A0F-AB54-24FB1919F75E}"/>
              </a:ext>
            </a:extLst>
          </p:cNvPr>
          <p:cNvSpPr>
            <a:spLocks noGrp="1"/>
          </p:cNvSpPr>
          <p:nvPr/>
        </p:nvSpPr>
        <p:spPr>
          <a:xfrm>
            <a:off x="933450" y="4238625"/>
            <a:ext cx="523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E05D4B"/>
                </a:solidFill>
              </a:defRPr>
            </a:pPr>
            <a:r>
              <a:rPr sz="2550" b="1" i="0">
                <a:solidFill>
                  <a:srgbClr val="E05D4B"/>
                </a:solidFill>
              </a:rPr>
              <a:t>3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D6C10099-F352-47CB-B633-8585408E248C}"/>
              </a:ext>
            </a:extLst>
          </p:cNvPr>
          <p:cNvSpPr>
            <a:spLocks noGrp="1"/>
          </p:cNvSpPr>
          <p:nvPr/>
        </p:nvSpPr>
        <p:spPr>
          <a:xfrm>
            <a:off x="1657350" y="41910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E05D4B"/>
                </a:solidFill>
              </a:defRPr>
            </a:pPr>
            <a:r>
              <a:rPr sz="1125" b="1" i="0">
                <a:solidFill>
                  <a:srgbClr val="E05D4B"/>
                </a:solidFill>
              </a:rPr>
              <a:t>Unbelegbar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B0DDB274-5BD1-4814-B7F4-C2D188BF0F72}"/>
              </a:ext>
            </a:extLst>
          </p:cNvPr>
          <p:cNvSpPr>
            <a:spLocks noGrp="1"/>
          </p:cNvSpPr>
          <p:nvPr/>
        </p:nvSpPr>
        <p:spPr>
          <a:xfrm>
            <a:off x="1657350" y="4429125"/>
            <a:ext cx="433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An welchem Datum findet die nächste Prüfung für WP3</a:t>
            </a:r>
          </a:p>
          <a:p>
            <a:pPr algn="l">
              <a:buNone/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im Bachelor Computerlinguistik statt?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DB1B1AD9-AEDE-408C-BB10-BE5BB4658573}"/>
              </a:ext>
            </a:extLst>
          </p:cNvPr>
          <p:cNvSpPr>
            <a:spLocks noGrp="1"/>
          </p:cNvSpPr>
          <p:nvPr/>
        </p:nvSpPr>
        <p:spPr>
          <a:xfrm>
            <a:off x="6096000" y="4419600"/>
            <a:ext cx="1762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E05D4B"/>
                </a:solidFill>
              </a:defRPr>
            </a:pPr>
            <a:r>
              <a:rPr sz="1050" b="1" i="0">
                <a:solidFill>
                  <a:srgbClr val="E05D4B"/>
                </a:solidFill>
              </a:rPr>
              <a:t>keine Halluzination</a:t>
            </a:r>
          </a:p>
        </p:txBody>
      </p:sp>
      <p:sp>
        <p:nvSpPr>
          <p:cNvPr id="28" name="Dikdörtgen: Köşeleri Yuvarlatılmış 27">
            <a:extLst>
              <a:ext uri="{FF2B5EF4-FFF2-40B4-BE49-F238E27FC236}">
                <a16:creationId xmlns:a16="http://schemas.microsoft.com/office/drawing/2014/main" id="{1CBBD75E-7C53-491D-8E71-6C0A216111AA}"/>
              </a:ext>
            </a:extLst>
          </p:cNvPr>
          <p:cNvSpPr>
            <a:spLocks noGrp="1"/>
          </p:cNvSpPr>
          <p:nvPr/>
        </p:nvSpPr>
        <p:spPr>
          <a:xfrm>
            <a:off x="8945431" y="1429140"/>
            <a:ext cx="2188733" cy="372293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pPr algn="ctr"/>
            <a:r>
              <a:rPr lang="de-DE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Reihenfolge</a:t>
            </a:r>
            <a:r>
              <a:rPr lang="de-DE" dirty="0">
                <a:solidFill>
                  <a:srgbClr val="0070C0"/>
                </a:solidFill>
              </a:rPr>
              <a:t>:</a:t>
            </a:r>
          </a:p>
          <a:p>
            <a:pPr algn="ctr"/>
            <a:endParaRPr lang="de-DE" dirty="0">
              <a:solidFill>
                <a:srgbClr val="0070C0"/>
              </a:solidFill>
            </a:endParaRPr>
          </a:p>
          <a:p>
            <a:pPr algn="ctr"/>
            <a:r>
              <a:rPr lang="de-DE" dirty="0">
                <a:solidFill>
                  <a:srgbClr val="0070C0"/>
                </a:solidFill>
              </a:rPr>
              <a:t>Antwort</a:t>
            </a:r>
          </a:p>
          <a:p>
            <a:pPr algn="ctr"/>
            <a:endParaRPr lang="de-DE" dirty="0">
              <a:solidFill>
                <a:srgbClr val="0070C0"/>
              </a:solidFill>
            </a:endParaRPr>
          </a:p>
          <a:p>
            <a:pPr algn="ctr"/>
            <a:endParaRPr lang="de-DE" dirty="0">
              <a:solidFill>
                <a:srgbClr val="0070C0"/>
              </a:solidFill>
            </a:endParaRPr>
          </a:p>
          <a:p>
            <a:pPr algn="ctr"/>
            <a:endParaRPr lang="de-DE" dirty="0">
              <a:solidFill>
                <a:srgbClr val="0070C0"/>
              </a:solidFill>
            </a:endParaRPr>
          </a:p>
          <a:p>
            <a:pPr algn="ctr"/>
            <a:r>
              <a:rPr lang="de-DE" dirty="0">
                <a:solidFill>
                  <a:srgbClr val="0070C0"/>
                </a:solidFill>
              </a:rPr>
              <a:t>Nachfrage</a:t>
            </a:r>
          </a:p>
          <a:p>
            <a:pPr algn="ctr"/>
            <a:endParaRPr lang="de-DE" dirty="0">
              <a:solidFill>
                <a:srgbClr val="0070C0"/>
              </a:solidFill>
            </a:endParaRPr>
          </a:p>
          <a:p>
            <a:pPr algn="ctr"/>
            <a:endParaRPr lang="de-DE" dirty="0">
              <a:solidFill>
                <a:srgbClr val="0070C0"/>
              </a:solidFill>
            </a:endParaRPr>
          </a:p>
          <a:p>
            <a:pPr algn="ctr"/>
            <a:endParaRPr lang="de-DE" dirty="0">
              <a:solidFill>
                <a:srgbClr val="0070C0"/>
              </a:solidFill>
            </a:endParaRPr>
          </a:p>
          <a:p>
            <a:pPr algn="ctr"/>
            <a:r>
              <a:rPr lang="de-DE" dirty="0">
                <a:solidFill>
                  <a:srgbClr val="0070C0"/>
                </a:solidFill>
              </a:rPr>
              <a:t>Zurückhaltung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0CE1849E-3561-487A-ADF8-C6933D3CFDD8}"/>
              </a:ext>
            </a:extLst>
          </p:cNvPr>
          <p:cNvSpPr>
            <a:spLocks noGrp="1"/>
          </p:cNvSpPr>
          <p:nvPr/>
        </p:nvSpPr>
        <p:spPr>
          <a:xfrm>
            <a:off x="2352675" y="5591175"/>
            <a:ext cx="7486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2F69D3"/>
                </a:solidFill>
              </a:defRPr>
            </a:pPr>
            <a:endParaRPr sz="825" b="1" i="0" dirty="0">
              <a:solidFill>
                <a:srgbClr val="2F69D3"/>
              </a:solidFill>
            </a:endParaRPr>
          </a:p>
        </p:txBody>
      </p:sp>
      <p:sp>
        <p:nvSpPr>
          <p:cNvPr id="32" name="Pfeil: nach unten 31">
            <a:extLst>
              <a:ext uri="{FF2B5EF4-FFF2-40B4-BE49-F238E27FC236}">
                <a16:creationId xmlns:a16="http://schemas.microsoft.com/office/drawing/2014/main" id="{C90A5E67-D6AE-7FB2-E8FC-6C62B066FA6F}"/>
              </a:ext>
            </a:extLst>
          </p:cNvPr>
          <p:cNvSpPr/>
          <p:nvPr/>
        </p:nvSpPr>
        <p:spPr>
          <a:xfrm>
            <a:off x="9884651" y="2836489"/>
            <a:ext cx="310291" cy="4286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Pfeil: nach unten 32">
            <a:extLst>
              <a:ext uri="{FF2B5EF4-FFF2-40B4-BE49-F238E27FC236}">
                <a16:creationId xmlns:a16="http://schemas.microsoft.com/office/drawing/2014/main" id="{3BCDD400-4DF3-A246-A5AE-6FBA2F495857}"/>
              </a:ext>
            </a:extLst>
          </p:cNvPr>
          <p:cNvSpPr/>
          <p:nvPr/>
        </p:nvSpPr>
        <p:spPr>
          <a:xfrm>
            <a:off x="9884651" y="3941389"/>
            <a:ext cx="310291" cy="4286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5964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39D3A6-3CA9-0C7C-AC1E-2CAAA18C6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Dikdörtgen 29">
            <a:extLst>
              <a:ext uri="{FF2B5EF4-FFF2-40B4-BE49-F238E27FC236}">
                <a16:creationId xmlns:a16="http://schemas.microsoft.com/office/drawing/2014/main" id="{7FEBC5C2-8182-8C08-DECC-CC4298EF750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 dirty="0">
                <a:solidFill>
                  <a:srgbClr val="2F69D3"/>
                </a:solidFill>
              </a:rPr>
              <a:t>DEMO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A167110C-4CCE-4C02-BE7F-8EEC58232CA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4A8E2D06-FA09-C960-41C5-CC545307DC39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2D91BC43-9425-1D98-4448-4FE3B64DDDCC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18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F8077574-20D2-E1AC-DBB9-08CFF236AE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72" y="449326"/>
            <a:ext cx="6260921" cy="4000754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83BF723F-7525-4D27-7DC0-3C2678A413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141" y="1135432"/>
            <a:ext cx="6260920" cy="500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546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ikdörtgen 15">
            <a:extLst>
              <a:ext uri="{FF2B5EF4-FFF2-40B4-BE49-F238E27FC236}">
                <a16:creationId xmlns:a16="http://schemas.microsoft.com/office/drawing/2014/main" id="{166923C0-FAC9-4DEE-8849-B7118496679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FAZIT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A29A4396-BA0B-42C1-B77F-2566E0E2034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Was wir belastbar zeigen – und was noch offen bleibt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C88854A8-C90E-41B5-944F-46D0875E408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476FAA9A-6B7C-40ED-84D2-2BCB6B082549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241A73BC-3898-449E-BFFA-9BA01E8E416C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19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FEA9FDF8-8A46-49A2-B117-AAD241A785DE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3333750" cy="3543300"/>
          </a:xfrm>
          <a:prstGeom prst="roundRect">
            <a:avLst>
              <a:gd name="adj" fmla="val 3429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E340A92F-7A09-4322-BC15-29A1E2FCA16D}"/>
              </a:ext>
            </a:extLst>
          </p:cNvPr>
          <p:cNvSpPr>
            <a:spLocks noGrp="1"/>
          </p:cNvSpPr>
          <p:nvPr/>
        </p:nvSpPr>
        <p:spPr>
          <a:xfrm>
            <a:off x="952500" y="18288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 i="0">
                <a:solidFill>
                  <a:srgbClr val="0B8F6A"/>
                </a:solidFill>
              </a:defRPr>
            </a:pPr>
            <a:r>
              <a:rPr sz="1650" b="1" i="0">
                <a:solidFill>
                  <a:srgbClr val="0B8F6A"/>
                </a:solidFill>
              </a:rPr>
              <a:t>Befund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06B0A3B4-7973-4B10-9253-59CCF2BD6B1A}"/>
              </a:ext>
            </a:extLst>
          </p:cNvPr>
          <p:cNvSpPr>
            <a:spLocks noGrp="1"/>
          </p:cNvSpPr>
          <p:nvPr/>
        </p:nvSpPr>
        <p:spPr>
          <a:xfrm>
            <a:off x="4324350" y="1571625"/>
            <a:ext cx="3333750" cy="3543300"/>
          </a:xfrm>
          <a:prstGeom prst="roundRect">
            <a:avLst>
              <a:gd name="adj" fmla="val 3429"/>
            </a:avLst>
          </a:prstGeom>
          <a:solidFill>
            <a:srgbClr val="FDEB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25D538A8-2445-4882-A5C9-6C5112ADB827}"/>
              </a:ext>
            </a:extLst>
          </p:cNvPr>
          <p:cNvSpPr>
            <a:spLocks noGrp="1"/>
          </p:cNvSpPr>
          <p:nvPr/>
        </p:nvSpPr>
        <p:spPr>
          <a:xfrm>
            <a:off x="4591050" y="18288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 i="0">
                <a:solidFill>
                  <a:srgbClr val="E05D4B"/>
                </a:solidFill>
              </a:defRPr>
            </a:pPr>
            <a:r>
              <a:rPr sz="1650" b="1" i="0">
                <a:solidFill>
                  <a:srgbClr val="E05D4B"/>
                </a:solidFill>
              </a:rPr>
              <a:t>Grenze</a:t>
            </a:r>
          </a:p>
        </p:txBody>
      </p:sp>
      <p:sp>
        <p:nvSpPr>
          <p:cNvPr id="10" name="Dikdörtgen: Köşeleri Yuvarlatılmış 9">
            <a:extLst>
              <a:ext uri="{FF2B5EF4-FFF2-40B4-BE49-F238E27FC236}">
                <a16:creationId xmlns:a16="http://schemas.microsoft.com/office/drawing/2014/main" id="{ABA379AC-AB21-40D6-A375-33AF5D4597F9}"/>
              </a:ext>
            </a:extLst>
          </p:cNvPr>
          <p:cNvSpPr>
            <a:spLocks noGrp="1"/>
          </p:cNvSpPr>
          <p:nvPr/>
        </p:nvSpPr>
        <p:spPr>
          <a:xfrm>
            <a:off x="7962900" y="1571625"/>
            <a:ext cx="3333750" cy="3543300"/>
          </a:xfrm>
          <a:prstGeom prst="roundRect">
            <a:avLst>
              <a:gd name="adj" fmla="val 3429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12B2D373-558E-4FF4-A39C-A9F553EBE2F3}"/>
              </a:ext>
            </a:extLst>
          </p:cNvPr>
          <p:cNvSpPr>
            <a:spLocks noGrp="1"/>
          </p:cNvSpPr>
          <p:nvPr/>
        </p:nvSpPr>
        <p:spPr>
          <a:xfrm>
            <a:off x="8229600" y="18288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 i="0">
                <a:solidFill>
                  <a:srgbClr val="2F69D3"/>
                </a:solidFill>
              </a:defRPr>
            </a:pPr>
            <a:r>
              <a:rPr sz="1650" b="1" i="0">
                <a:solidFill>
                  <a:srgbClr val="2F69D3"/>
                </a:solidFill>
              </a:rPr>
              <a:t>Nächster Schritt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2D935C45-6644-42BF-8D23-CD6235A64A17}"/>
              </a:ext>
            </a:extLst>
          </p:cNvPr>
          <p:cNvSpPr>
            <a:spLocks noGrp="1"/>
          </p:cNvSpPr>
          <p:nvPr/>
        </p:nvSpPr>
        <p:spPr>
          <a:xfrm>
            <a:off x="952500" y="2428875"/>
            <a:ext cx="278130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111827"/>
                </a:solidFill>
              </a:defRPr>
            </a:pPr>
            <a:r>
              <a:rPr sz="1275" b="1" i="0" dirty="0">
                <a:solidFill>
                  <a:srgbClr val="111827"/>
                </a:solidFill>
              </a:rPr>
              <a:t>• </a:t>
            </a:r>
            <a:r>
              <a:rPr lang="de-DE" sz="1275" b="1" dirty="0"/>
              <a:t>Module Chunking schlägt die naive Baseline beim Modulfund.</a:t>
            </a:r>
          </a:p>
          <a:p>
            <a:pPr>
              <a:defRPr sz="1275" b="1" i="0">
                <a:solidFill>
                  <a:srgbClr val="111827"/>
                </a:solidFill>
              </a:defRPr>
            </a:pPr>
            <a:endParaRPr sz="1275" b="1" i="0" dirty="0">
              <a:solidFill>
                <a:srgbClr val="111827"/>
              </a:solidFill>
            </a:endParaRPr>
          </a:p>
          <a:p>
            <a:pPr algn="l">
              <a:buNone/>
              <a:defRPr sz="1275" b="1" i="0">
                <a:solidFill>
                  <a:srgbClr val="111827"/>
                </a:solidFill>
              </a:defRPr>
            </a:pPr>
            <a:r>
              <a:rPr sz="1275" b="1" i="0" dirty="0">
                <a:solidFill>
                  <a:srgbClr val="111827"/>
                </a:solidFill>
              </a:rPr>
              <a:t>• Hybrid α = 0,25 </a:t>
            </a:r>
            <a:r>
              <a:rPr sz="1275" b="1" i="0" dirty="0" err="1">
                <a:solidFill>
                  <a:srgbClr val="111827"/>
                </a:solidFill>
              </a:rPr>
              <a:t>liefert</a:t>
            </a:r>
            <a:r>
              <a:rPr sz="1275" b="1" i="0" dirty="0">
                <a:solidFill>
                  <a:srgbClr val="111827"/>
                </a:solidFill>
              </a:rPr>
              <a:t> </a:t>
            </a:r>
            <a:r>
              <a:rPr lang="de-DE" sz="1275" b="1" i="0" dirty="0">
                <a:solidFill>
                  <a:srgbClr val="111827"/>
                </a:solidFill>
              </a:rPr>
              <a:t>das höchste Hit@1</a:t>
            </a:r>
            <a:r>
              <a:rPr sz="1275" b="1" i="0" dirty="0">
                <a:solidFill>
                  <a:srgbClr val="111827"/>
                </a:solidFill>
              </a:rPr>
              <a:t>.</a:t>
            </a:r>
          </a:p>
          <a:p>
            <a:endParaRPr sz="1275" b="1" i="0" dirty="0">
              <a:solidFill>
                <a:srgbClr val="111827"/>
              </a:solidFill>
            </a:endParaRPr>
          </a:p>
          <a:p>
            <a:pPr algn="l">
              <a:buNone/>
              <a:defRPr sz="1275" b="1" i="0">
                <a:solidFill>
                  <a:srgbClr val="111827"/>
                </a:solidFill>
              </a:defRPr>
            </a:pPr>
            <a:r>
              <a:rPr sz="1275" b="1" i="0" dirty="0">
                <a:solidFill>
                  <a:srgbClr val="111827"/>
                </a:solidFill>
              </a:rPr>
              <a:t>• BM25 </a:t>
            </a:r>
            <a:r>
              <a:rPr sz="1275" b="1" i="0" dirty="0" err="1">
                <a:solidFill>
                  <a:srgbClr val="111827"/>
                </a:solidFill>
              </a:rPr>
              <a:t>trägt</a:t>
            </a:r>
            <a:r>
              <a:rPr sz="1275" b="1" i="0" dirty="0">
                <a:solidFill>
                  <a:srgbClr val="111827"/>
                </a:solidFill>
              </a:rPr>
              <a:t> den Hybrid </a:t>
            </a:r>
            <a:r>
              <a:rPr sz="1275" b="1" i="0" dirty="0" err="1">
                <a:solidFill>
                  <a:srgbClr val="111827"/>
                </a:solidFill>
              </a:rPr>
              <a:t>wesentlich</a:t>
            </a:r>
            <a:r>
              <a:rPr sz="1275" b="1" i="0" dirty="0">
                <a:solidFill>
                  <a:srgbClr val="111827"/>
                </a:solidFill>
              </a:rPr>
              <a:t>.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41CA1362-672B-4640-9D0F-7B5CD400B282}"/>
              </a:ext>
            </a:extLst>
          </p:cNvPr>
          <p:cNvSpPr>
            <a:spLocks noGrp="1"/>
          </p:cNvSpPr>
          <p:nvPr/>
        </p:nvSpPr>
        <p:spPr>
          <a:xfrm>
            <a:off x="4591050" y="2428875"/>
            <a:ext cx="278130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111827"/>
                </a:solidFill>
              </a:defRPr>
            </a:pPr>
            <a:r>
              <a:rPr sz="1275" b="1" i="0" dirty="0">
                <a:solidFill>
                  <a:srgbClr val="111827"/>
                </a:solidFill>
              </a:rPr>
              <a:t>• </a:t>
            </a:r>
            <a:r>
              <a:rPr lang="de-DE" sz="1275" b="1" i="0" dirty="0">
                <a:solidFill>
                  <a:srgbClr val="111827"/>
                </a:solidFill>
              </a:rPr>
              <a:t>Goldlabels</a:t>
            </a:r>
            <a:r>
              <a:rPr sz="1275" b="1" i="0" dirty="0">
                <a:solidFill>
                  <a:srgbClr val="111827"/>
                </a:solidFill>
              </a:rPr>
              <a:t> </a:t>
            </a:r>
            <a:r>
              <a:rPr sz="1275" b="1" i="0" dirty="0" err="1">
                <a:solidFill>
                  <a:srgbClr val="111827"/>
                </a:solidFill>
              </a:rPr>
              <a:t>nur</a:t>
            </a:r>
            <a:r>
              <a:rPr sz="1275" b="1" i="0" dirty="0">
                <a:solidFill>
                  <a:srgbClr val="111827"/>
                </a:solidFill>
              </a:rPr>
              <a:t> für CL Bachelor.</a:t>
            </a:r>
          </a:p>
          <a:p>
            <a:endParaRPr sz="1275" b="1" i="0" dirty="0">
              <a:solidFill>
                <a:srgbClr val="111827"/>
              </a:solidFill>
            </a:endParaRPr>
          </a:p>
          <a:p>
            <a:pPr algn="l">
              <a:buNone/>
              <a:defRPr sz="1275" b="1" i="0">
                <a:solidFill>
                  <a:srgbClr val="111827"/>
                </a:solidFill>
              </a:defRPr>
            </a:pPr>
            <a:r>
              <a:rPr sz="1275" b="1" i="0" dirty="0">
                <a:solidFill>
                  <a:srgbClr val="111827"/>
                </a:solidFill>
              </a:rPr>
              <a:t>• </a:t>
            </a:r>
            <a:r>
              <a:rPr lang="de-DE" sz="1275" b="1" i="0" dirty="0">
                <a:solidFill>
                  <a:srgbClr val="111827"/>
                </a:solidFill>
              </a:rPr>
              <a:t>Mehrsprachiges Set</a:t>
            </a:r>
            <a:r>
              <a:rPr sz="1275" b="1" i="0" dirty="0">
                <a:solidFill>
                  <a:srgbClr val="111827"/>
                </a:solidFill>
              </a:rPr>
              <a:t> n = 18.</a:t>
            </a:r>
          </a:p>
          <a:p>
            <a:endParaRPr sz="1275" b="1" i="0" dirty="0">
              <a:solidFill>
                <a:srgbClr val="111827"/>
              </a:solidFill>
            </a:endParaRPr>
          </a:p>
          <a:p>
            <a:pPr>
              <a:defRPr sz="1275" b="1" i="0">
                <a:solidFill>
                  <a:srgbClr val="111827"/>
                </a:solidFill>
              </a:defRPr>
            </a:pPr>
            <a:r>
              <a:rPr sz="1275" b="1" i="0" dirty="0">
                <a:solidFill>
                  <a:srgbClr val="111827"/>
                </a:solidFill>
              </a:rPr>
              <a:t>• </a:t>
            </a:r>
            <a:r>
              <a:rPr lang="de-DE" sz="1275" b="1" dirty="0"/>
              <a:t>Der 6×3-Pilot misst Systemaktionen, nicht allgemeine Textqualität. 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617EAC34-6E34-4B71-B038-9ED1C45E9082}"/>
              </a:ext>
            </a:extLst>
          </p:cNvPr>
          <p:cNvSpPr>
            <a:spLocks noGrp="1"/>
          </p:cNvSpPr>
          <p:nvPr/>
        </p:nvSpPr>
        <p:spPr>
          <a:xfrm>
            <a:off x="8229600" y="2428875"/>
            <a:ext cx="278130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111827"/>
                </a:solidFill>
              </a:defRPr>
            </a:pPr>
            <a:r>
              <a:rPr sz="1275" b="1" i="0" dirty="0">
                <a:solidFill>
                  <a:srgbClr val="111827"/>
                </a:solidFill>
              </a:rPr>
              <a:t>• </a:t>
            </a:r>
            <a:r>
              <a:rPr sz="1275" b="1" i="0" dirty="0" err="1">
                <a:solidFill>
                  <a:srgbClr val="111827"/>
                </a:solidFill>
              </a:rPr>
              <a:t>Goldlabels</a:t>
            </a:r>
            <a:r>
              <a:rPr sz="1275" b="1" i="0" dirty="0">
                <a:solidFill>
                  <a:srgbClr val="111827"/>
                </a:solidFill>
              </a:rPr>
              <a:t> für </a:t>
            </a:r>
            <a:r>
              <a:rPr sz="1275" b="1" i="0" dirty="0" err="1">
                <a:solidFill>
                  <a:srgbClr val="111827"/>
                </a:solidFill>
              </a:rPr>
              <a:t>sechs</a:t>
            </a:r>
            <a:r>
              <a:rPr sz="1275" b="1" i="0" dirty="0">
                <a:solidFill>
                  <a:srgbClr val="111827"/>
                </a:solidFill>
              </a:rPr>
              <a:t> </a:t>
            </a:r>
            <a:r>
              <a:rPr sz="1275" b="1" i="0" dirty="0" err="1">
                <a:solidFill>
                  <a:srgbClr val="111827"/>
                </a:solidFill>
              </a:rPr>
              <a:t>weitere</a:t>
            </a:r>
            <a:r>
              <a:rPr sz="1275" b="1" i="0" dirty="0">
                <a:solidFill>
                  <a:srgbClr val="111827"/>
                </a:solidFill>
              </a:rPr>
              <a:t> </a:t>
            </a:r>
            <a:r>
              <a:rPr sz="1275" b="1" i="0" dirty="0" err="1">
                <a:solidFill>
                  <a:srgbClr val="111827"/>
                </a:solidFill>
              </a:rPr>
              <a:t>Handbücher</a:t>
            </a:r>
            <a:r>
              <a:rPr sz="1275" b="1" i="0" dirty="0">
                <a:solidFill>
                  <a:srgbClr val="111827"/>
                </a:solidFill>
              </a:rPr>
              <a:t>.</a:t>
            </a:r>
          </a:p>
          <a:p>
            <a:endParaRPr sz="1275" b="1" i="0" dirty="0">
              <a:solidFill>
                <a:srgbClr val="111827"/>
              </a:solidFill>
            </a:endParaRPr>
          </a:p>
          <a:p>
            <a:pPr algn="l">
              <a:buNone/>
              <a:defRPr sz="1275" b="1" i="0">
                <a:solidFill>
                  <a:srgbClr val="111827"/>
                </a:solidFill>
              </a:defRPr>
            </a:pPr>
            <a:r>
              <a:rPr sz="1275" b="1" i="0" dirty="0">
                <a:solidFill>
                  <a:srgbClr val="111827"/>
                </a:solidFill>
              </a:rPr>
              <a:t>• Reranking / Late Chunking </a:t>
            </a:r>
            <a:r>
              <a:rPr sz="1275" b="1" i="0" dirty="0" err="1">
                <a:solidFill>
                  <a:srgbClr val="111827"/>
                </a:solidFill>
              </a:rPr>
              <a:t>evaluieren</a:t>
            </a:r>
            <a:r>
              <a:rPr sz="1275" b="1" i="0" dirty="0">
                <a:solidFill>
                  <a:srgbClr val="111827"/>
                </a:solidFill>
              </a:rPr>
              <a:t>.</a:t>
            </a:r>
            <a:endParaRPr lang="de-DE" sz="1275" b="1" i="0" dirty="0">
              <a:solidFill>
                <a:srgbClr val="111827"/>
              </a:solidFill>
            </a:endParaRPr>
          </a:p>
          <a:p>
            <a:pPr algn="l">
              <a:buNone/>
              <a:defRPr sz="1275" b="1" i="0">
                <a:solidFill>
                  <a:srgbClr val="111827"/>
                </a:solidFill>
              </a:defRPr>
            </a:pPr>
            <a:endParaRPr sz="1275" b="1" i="0" dirty="0">
              <a:solidFill>
                <a:srgbClr val="111827"/>
              </a:solidFill>
            </a:endParaRPr>
          </a:p>
          <a:p>
            <a:r>
              <a:rPr lang="de-DE" sz="1275" b="1" dirty="0">
                <a:solidFill>
                  <a:srgbClr val="111827"/>
                </a:solidFill>
              </a:rPr>
              <a:t>• Strukturierter Faktenindex für feste Felder. </a:t>
            </a:r>
          </a:p>
          <a:p>
            <a:endParaRPr sz="1275" b="1" i="0" dirty="0">
              <a:solidFill>
                <a:srgbClr val="111827"/>
              </a:solidFill>
            </a:endParaRP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4A00D98F-AD3F-4AB1-9405-7EEDF09AEAD8}"/>
              </a:ext>
            </a:extLst>
          </p:cNvPr>
          <p:cNvSpPr>
            <a:spLocks noGrp="1"/>
          </p:cNvSpPr>
          <p:nvPr/>
        </p:nvSpPr>
        <p:spPr>
          <a:xfrm>
            <a:off x="1771650" y="5619750"/>
            <a:ext cx="864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Die Kernidee bleibt: Retrieval entscheidet, was das System wissen darf.</a:t>
            </a:r>
          </a:p>
        </p:txBody>
      </p:sp>
    </p:spTree>
    <p:extLst>
      <p:ext uri="{BB962C8B-B14F-4D97-AF65-F5344CB8AC3E}">
        <p14:creationId xmlns:p14="http://schemas.microsoft.com/office/powerpoint/2010/main" val="1147707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kdörtgen 23">
            <a:extLst>
              <a:ext uri="{FF2B5EF4-FFF2-40B4-BE49-F238E27FC236}">
                <a16:creationId xmlns:a16="http://schemas.microsoft.com/office/drawing/2014/main" id="{FE8A91B0-D9AF-4483-935B-4CE882A9EFB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ANHANG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0B7623AE-36F5-4118-85FD-069C50C4CD41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Metriken: welche Frage beantwortet welche Zahl?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D6FB51B6-4C82-424B-BF70-74DE7C4668A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2D29C89F-24D6-496C-BECC-2CB776AA40AC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B0EF00A9-66E5-441F-8CD2-A7301D4E79F2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20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08F5A596-ED43-425E-BFE7-F8C402F1C806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5105400" cy="1619250"/>
          </a:xfrm>
          <a:prstGeom prst="roundRect">
            <a:avLst>
              <a:gd name="adj" fmla="val 7059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58E41864-A3B6-4603-8BCE-2055E8E95971}"/>
              </a:ext>
            </a:extLst>
          </p:cNvPr>
          <p:cNvSpPr>
            <a:spLocks noGrp="1"/>
          </p:cNvSpPr>
          <p:nvPr/>
        </p:nvSpPr>
        <p:spPr>
          <a:xfrm>
            <a:off x="933450" y="180022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2F69D3"/>
                </a:solidFill>
              </a:defRPr>
            </a:pPr>
            <a:r>
              <a:rPr sz="2025" b="1" i="0">
                <a:solidFill>
                  <a:srgbClr val="2F69D3"/>
                </a:solidFill>
              </a:rPr>
              <a:t>Hit@1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71787D24-EE76-4D3E-A05F-0C7505AAA202}"/>
              </a:ext>
            </a:extLst>
          </p:cNvPr>
          <p:cNvSpPr>
            <a:spLocks noGrp="1"/>
          </p:cNvSpPr>
          <p:nvPr/>
        </p:nvSpPr>
        <p:spPr>
          <a:xfrm>
            <a:off x="2495550" y="180975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Ist der erste Treffer relevant?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AFB586A3-55FE-474A-8EBE-7A2EF0B74C0D}"/>
              </a:ext>
            </a:extLst>
          </p:cNvPr>
          <p:cNvSpPr>
            <a:spLocks noGrp="1"/>
          </p:cNvSpPr>
          <p:nvPr/>
        </p:nvSpPr>
        <p:spPr>
          <a:xfrm>
            <a:off x="2495550" y="246697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Für die direkte Antwort besonders wichtig.</a:t>
            </a:r>
          </a:p>
        </p:txBody>
      </p:sp>
      <p:sp>
        <p:nvSpPr>
          <p:cNvPr id="10" name="Dikdörtgen: Köşeleri Yuvarlatılmış 9">
            <a:extLst>
              <a:ext uri="{FF2B5EF4-FFF2-40B4-BE49-F238E27FC236}">
                <a16:creationId xmlns:a16="http://schemas.microsoft.com/office/drawing/2014/main" id="{C2A9569A-45BC-4372-8B0F-BAAD568D57CA}"/>
              </a:ext>
            </a:extLst>
          </p:cNvPr>
          <p:cNvSpPr>
            <a:spLocks noGrp="1"/>
          </p:cNvSpPr>
          <p:nvPr/>
        </p:nvSpPr>
        <p:spPr>
          <a:xfrm>
            <a:off x="6134100" y="1571625"/>
            <a:ext cx="5105400" cy="1619250"/>
          </a:xfrm>
          <a:prstGeom prst="roundRect">
            <a:avLst>
              <a:gd name="adj" fmla="val 7059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DDA51900-AFD6-46EF-9E4C-BCE3517A1ADB}"/>
              </a:ext>
            </a:extLst>
          </p:cNvPr>
          <p:cNvSpPr>
            <a:spLocks noGrp="1"/>
          </p:cNvSpPr>
          <p:nvPr/>
        </p:nvSpPr>
        <p:spPr>
          <a:xfrm>
            <a:off x="6381750" y="180022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0B8F6A"/>
                </a:solidFill>
              </a:defRPr>
            </a:pPr>
            <a:r>
              <a:rPr sz="2025" b="1" i="0">
                <a:solidFill>
                  <a:srgbClr val="0B8F6A"/>
                </a:solidFill>
              </a:rPr>
              <a:t>Recall@3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75469A9-0FFF-4C4C-B44E-A1DFC142E793}"/>
              </a:ext>
            </a:extLst>
          </p:cNvPr>
          <p:cNvSpPr>
            <a:spLocks noGrp="1"/>
          </p:cNvSpPr>
          <p:nvPr/>
        </p:nvSpPr>
        <p:spPr>
          <a:xfrm>
            <a:off x="7943850" y="180975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de-DE" sz="1350" b="1" dirty="0"/>
              <a:t>Welcher Anteil der relevanten Gold-Evidenz liegt in den Top 3?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68D7EBB4-28D4-4407-9AD9-4A0D5D486D8A}"/>
              </a:ext>
            </a:extLst>
          </p:cNvPr>
          <p:cNvSpPr>
            <a:spLocks noGrp="1"/>
          </p:cNvSpPr>
          <p:nvPr/>
        </p:nvSpPr>
        <p:spPr>
          <a:xfrm>
            <a:off x="7943850" y="246697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Bei mehreren relevanten Feldern aussagekräftiger.</a:t>
            </a: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DACC1CE3-DB42-42CA-B0E7-7E61E2ED670F}"/>
              </a:ext>
            </a:extLst>
          </p:cNvPr>
          <p:cNvSpPr>
            <a:spLocks noGrp="1"/>
          </p:cNvSpPr>
          <p:nvPr/>
        </p:nvSpPr>
        <p:spPr>
          <a:xfrm>
            <a:off x="685800" y="3552825"/>
            <a:ext cx="5105400" cy="1619250"/>
          </a:xfrm>
          <a:prstGeom prst="roundRect">
            <a:avLst>
              <a:gd name="adj" fmla="val 7059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C184A3A4-7409-4A97-A17C-53FC128A4895}"/>
              </a:ext>
            </a:extLst>
          </p:cNvPr>
          <p:cNvSpPr>
            <a:spLocks noGrp="1"/>
          </p:cNvSpPr>
          <p:nvPr/>
        </p:nvSpPr>
        <p:spPr>
          <a:xfrm>
            <a:off x="933450" y="378142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D59B14"/>
                </a:solidFill>
              </a:defRPr>
            </a:pPr>
            <a:r>
              <a:rPr sz="2025" b="1" i="0">
                <a:solidFill>
                  <a:srgbClr val="D59B14"/>
                </a:solidFill>
              </a:rPr>
              <a:t>MRR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E68187E4-A7F8-4CFE-B102-D2184A769B53}"/>
              </a:ext>
            </a:extLst>
          </p:cNvPr>
          <p:cNvSpPr>
            <a:spLocks noGrp="1"/>
          </p:cNvSpPr>
          <p:nvPr/>
        </p:nvSpPr>
        <p:spPr>
          <a:xfrm>
            <a:off x="2495550" y="379095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Wie früh erscheint der erste relevante Treffer?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F012F740-AC3C-42E0-B7A8-FE1F5964576D}"/>
              </a:ext>
            </a:extLst>
          </p:cNvPr>
          <p:cNvSpPr>
            <a:spLocks noGrp="1"/>
          </p:cNvSpPr>
          <p:nvPr/>
        </p:nvSpPr>
        <p:spPr>
          <a:xfrm>
            <a:off x="2495550" y="444817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Belohnt Rang 1 stärker als Rang 2 oder 3.</a:t>
            </a:r>
          </a:p>
        </p:txBody>
      </p:sp>
      <p:sp>
        <p:nvSpPr>
          <p:cNvPr id="18" name="Dikdörtgen: Köşeleri Yuvarlatılmış 17">
            <a:extLst>
              <a:ext uri="{FF2B5EF4-FFF2-40B4-BE49-F238E27FC236}">
                <a16:creationId xmlns:a16="http://schemas.microsoft.com/office/drawing/2014/main" id="{E509CE8B-BCD8-4E99-A058-05A47DBF23FA}"/>
              </a:ext>
            </a:extLst>
          </p:cNvPr>
          <p:cNvSpPr>
            <a:spLocks noGrp="1"/>
          </p:cNvSpPr>
          <p:nvPr/>
        </p:nvSpPr>
        <p:spPr>
          <a:xfrm>
            <a:off x="6134100" y="3552825"/>
            <a:ext cx="5105400" cy="1619250"/>
          </a:xfrm>
          <a:prstGeom prst="roundRect">
            <a:avLst>
              <a:gd name="adj" fmla="val 7059"/>
            </a:avLst>
          </a:prstGeom>
          <a:solidFill>
            <a:srgbClr val="FDEB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2B908733-1A82-4E89-8167-E09C7711F2DD}"/>
              </a:ext>
            </a:extLst>
          </p:cNvPr>
          <p:cNvSpPr>
            <a:spLocks noGrp="1"/>
          </p:cNvSpPr>
          <p:nvPr/>
        </p:nvSpPr>
        <p:spPr>
          <a:xfrm>
            <a:off x="6381750" y="378142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E05D4B"/>
                </a:solidFill>
              </a:defRPr>
            </a:pPr>
            <a:r>
              <a:rPr sz="2025" b="1" i="0">
                <a:solidFill>
                  <a:srgbClr val="E05D4B"/>
                </a:solidFill>
              </a:rPr>
              <a:t>nDCG@3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6A5A7FF5-58DF-4156-A429-ADF1B44DE208}"/>
              </a:ext>
            </a:extLst>
          </p:cNvPr>
          <p:cNvSpPr>
            <a:spLocks noGrp="1"/>
          </p:cNvSpPr>
          <p:nvPr/>
        </p:nvSpPr>
        <p:spPr>
          <a:xfrm>
            <a:off x="7943850" y="379095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de-DE" sz="1350" b="1" dirty="0"/>
              <a:t>Wie gut sind relevante Treffer innerhalb der Top 3 angeordnet?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F61C16D1-A63E-4AF0-B693-505BB8A823DB}"/>
              </a:ext>
            </a:extLst>
          </p:cNvPr>
          <p:cNvSpPr>
            <a:spLocks noGrp="1"/>
          </p:cNvSpPr>
          <p:nvPr/>
        </p:nvSpPr>
        <p:spPr>
          <a:xfrm>
            <a:off x="7943850" y="444817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Berücksichtigt mehrere relevante Treffer und Positionen.</a:t>
            </a:r>
          </a:p>
        </p:txBody>
      </p:sp>
      <p:sp>
        <p:nvSpPr>
          <p:cNvPr id="22" name="Dikdörtgen: Köşeleri Yuvarlatılmış 21">
            <a:extLst>
              <a:ext uri="{FF2B5EF4-FFF2-40B4-BE49-F238E27FC236}">
                <a16:creationId xmlns:a16="http://schemas.microsoft.com/office/drawing/2014/main" id="{8941D28A-C1C0-481F-A07C-2C59FD16909C}"/>
              </a:ext>
            </a:extLst>
          </p:cNvPr>
          <p:cNvSpPr>
            <a:spLocks noGrp="1"/>
          </p:cNvSpPr>
          <p:nvPr/>
        </p:nvSpPr>
        <p:spPr>
          <a:xfrm>
            <a:off x="2714625" y="5638800"/>
            <a:ext cx="6762750" cy="2667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0AB5B310-3E38-44C0-9A59-DFB05E8CECC2}"/>
              </a:ext>
            </a:extLst>
          </p:cNvPr>
          <p:cNvSpPr>
            <a:spLocks noGrp="1"/>
          </p:cNvSpPr>
          <p:nvPr/>
        </p:nvSpPr>
        <p:spPr>
          <a:xfrm>
            <a:off x="2809875" y="5657849"/>
            <a:ext cx="6572250" cy="2666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2F69D3"/>
                </a:solidFill>
              </a:defRPr>
            </a:pPr>
            <a:r>
              <a:rPr sz="1200" b="1" i="0">
                <a:solidFill>
                  <a:srgbClr val="2F69D3"/>
                </a:solidFill>
              </a:rPr>
              <a:t>Alle Werte werden aus denselben per-query Goldschlüsseln aggregiert</a:t>
            </a:r>
          </a:p>
        </p:txBody>
      </p:sp>
    </p:spTree>
    <p:extLst>
      <p:ext uri="{BB962C8B-B14F-4D97-AF65-F5344CB8AC3E}">
        <p14:creationId xmlns:p14="http://schemas.microsoft.com/office/powerpoint/2010/main" val="2090843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kdörtgen 23">
            <a:extLst>
              <a:ext uri="{FF2B5EF4-FFF2-40B4-BE49-F238E27FC236}">
                <a16:creationId xmlns:a16="http://schemas.microsoft.com/office/drawing/2014/main" id="{77AB4FE1-4478-436B-B1F2-1AB3B29F21B9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ANHANG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604CDB4A-A252-4FC3-BA92-5FDF8C02BF50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Reproduktion: ein Release-Lauf, ein Commit, ein Auditpfad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2667E6D4-4D0B-4EC9-B6FC-07D80B41F4B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9368FD2F-F753-4D47-9E03-3B042C9388E9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De</a:t>
            </a:r>
            <a:r>
              <a:rPr lang="de-DE" sz="750" b="0" i="0" dirty="0">
                <a:solidFill>
                  <a:srgbClr val="667085"/>
                </a:solidFill>
              </a:rPr>
              <a:t>b</a:t>
            </a:r>
            <a:r>
              <a:rPr sz="750" b="0" i="0" dirty="0" err="1">
                <a:solidFill>
                  <a:srgbClr val="667085"/>
                </a:solidFill>
              </a:rPr>
              <a:t>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6874C18F-E7FC-4139-9D12-90E9D37963BC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21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DE302F33-5BB4-4295-BA27-329C9866A59E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7000875" cy="314325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75704BEA-2311-4C60-98AE-58872060CCFA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8AD8FF"/>
                </a:solidFill>
              </a:defRPr>
            </a:pPr>
            <a:r>
              <a:rPr sz="975" b="1" i="0">
                <a:solidFill>
                  <a:srgbClr val="8AD8FF"/>
                </a:solidFill>
              </a:rPr>
              <a:t>PowerShell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BEC9055E-829B-4EC5-8AF6-417D03C5DD3A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.\scripts\run_release_validation.ps1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FDE57F9F-9E8C-48ED-9225-D765ADB307C6}"/>
              </a:ext>
            </a:extLst>
          </p:cNvPr>
          <p:cNvSpPr>
            <a:spLocks noGrp="1"/>
          </p:cNvSpPr>
          <p:nvPr/>
        </p:nvSpPr>
        <p:spPr>
          <a:xfrm>
            <a:off x="952500" y="2828925"/>
            <a:ext cx="6191250" cy="952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CB36EF78-41DE-4195-89EE-2181090725A3}"/>
              </a:ext>
            </a:extLst>
          </p:cNvPr>
          <p:cNvSpPr>
            <a:spLocks noGrp="1"/>
          </p:cNvSpPr>
          <p:nvPr/>
        </p:nvSpPr>
        <p:spPr>
          <a:xfrm>
            <a:off x="879348" y="3305175"/>
            <a:ext cx="619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CBD5E1"/>
                </a:solidFill>
              </a:defRPr>
            </a:pPr>
            <a:r>
              <a:rPr sz="1050" b="0" i="0">
                <a:solidFill>
                  <a:srgbClr val="CBD5E1"/>
                </a:solidFill>
              </a:rPr>
              <a:t>Dense-Modell lokal aus identischem Hugging-Face-Snapshot; Offline-Flag verhindert nur die Netzprüfung.</a:t>
            </a:r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5E3F479D-FA5B-465A-9EAE-12524D8291AA}"/>
              </a:ext>
            </a:extLst>
          </p:cNvPr>
          <p:cNvSpPr>
            <a:spLocks noGrp="1"/>
          </p:cNvSpPr>
          <p:nvPr/>
        </p:nvSpPr>
        <p:spPr>
          <a:xfrm>
            <a:off x="8058150" y="1571625"/>
            <a:ext cx="34480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66A4327F-A997-4668-B80C-6B3B1CAE27C5}"/>
              </a:ext>
            </a:extLst>
          </p:cNvPr>
          <p:cNvSpPr>
            <a:spLocks noGrp="1"/>
          </p:cNvSpPr>
          <p:nvPr/>
        </p:nvSpPr>
        <p:spPr>
          <a:xfrm>
            <a:off x="8343900" y="18478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0B8F6A"/>
                </a:solidFill>
              </a:defRPr>
            </a:pPr>
            <a:r>
              <a:rPr sz="2850" b="1" i="0">
                <a:solidFill>
                  <a:srgbClr val="0B8F6A"/>
                </a:solidFill>
              </a:rPr>
              <a:t>13/13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2A530B50-4805-4FD8-ABCA-09D353F35947}"/>
              </a:ext>
            </a:extLst>
          </p:cNvPr>
          <p:cNvSpPr>
            <a:spLocks noGrp="1"/>
          </p:cNvSpPr>
          <p:nvPr/>
        </p:nvSpPr>
        <p:spPr>
          <a:xfrm>
            <a:off x="8343900" y="23050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automatisierte Tests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E0D68958-C816-45A8-BEEF-6D4C4A1CBC0A}"/>
              </a:ext>
            </a:extLst>
          </p:cNvPr>
          <p:cNvSpPr>
            <a:spLocks noGrp="1"/>
          </p:cNvSpPr>
          <p:nvPr/>
        </p:nvSpPr>
        <p:spPr>
          <a:xfrm>
            <a:off x="8343900" y="289560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2F69D3"/>
                </a:solidFill>
              </a:defRPr>
            </a:pPr>
            <a:r>
              <a:rPr sz="2850" b="1" i="0">
                <a:solidFill>
                  <a:srgbClr val="2F69D3"/>
                </a:solidFill>
              </a:rPr>
              <a:t>0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24A68F56-3145-4D7E-997A-75619C7DEF44}"/>
              </a:ext>
            </a:extLst>
          </p:cNvPr>
          <p:cNvSpPr>
            <a:spLocks noGrp="1"/>
          </p:cNvSpPr>
          <p:nvPr/>
        </p:nvSpPr>
        <p:spPr>
          <a:xfrm>
            <a:off x="8343900" y="33528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doppelte Chunk-IDs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8054D89E-62DF-4AAF-8602-4583F395777D}"/>
              </a:ext>
            </a:extLst>
          </p:cNvPr>
          <p:cNvSpPr>
            <a:spLocks noGrp="1"/>
          </p:cNvSpPr>
          <p:nvPr/>
        </p:nvSpPr>
        <p:spPr>
          <a:xfrm>
            <a:off x="8343900" y="394335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D59B14"/>
                </a:solidFill>
              </a:defRPr>
            </a:pPr>
            <a:r>
              <a:rPr sz="2850" b="1" i="0">
                <a:solidFill>
                  <a:srgbClr val="D59B14"/>
                </a:solidFill>
              </a:rPr>
              <a:t>172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4E4E6737-A307-4FB1-8E3F-6F7AA86FFD6E}"/>
              </a:ext>
            </a:extLst>
          </p:cNvPr>
          <p:cNvSpPr>
            <a:spLocks noGrp="1"/>
          </p:cNvSpPr>
          <p:nvPr/>
        </p:nvSpPr>
        <p:spPr>
          <a:xfrm>
            <a:off x="8343900" y="44005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auditable per-query Zeilen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58967CAB-C234-4844-9926-3B940AD1585D}"/>
              </a:ext>
            </a:extLst>
          </p:cNvPr>
          <p:cNvSpPr>
            <a:spLocks noGrp="1"/>
          </p:cNvSpPr>
          <p:nvPr/>
        </p:nvSpPr>
        <p:spPr>
          <a:xfrm>
            <a:off x="685800" y="5191125"/>
            <a:ext cx="952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2F69D3"/>
                </a:solidFill>
              </a:defRPr>
            </a:pPr>
            <a:r>
              <a:rPr sz="975" b="1" i="0">
                <a:solidFill>
                  <a:srgbClr val="2F69D3"/>
                </a:solidFill>
              </a:rPr>
              <a:t>Ausgabe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CB5C428D-2347-45ED-8B1E-52C695825B03}"/>
              </a:ext>
            </a:extLst>
          </p:cNvPr>
          <p:cNvSpPr>
            <a:spLocks noGrp="1"/>
          </p:cNvSpPr>
          <p:nvPr/>
        </p:nvSpPr>
        <p:spPr>
          <a:xfrm>
            <a:off x="1676400" y="5181600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11827"/>
                </a:solidFill>
              </a:defRPr>
            </a:pPr>
            <a:r>
              <a:rPr sz="1125" b="1" i="0">
                <a:solidFill>
                  <a:srgbClr val="111827"/>
                </a:solidFill>
              </a:rPr>
              <a:t>outputs/final_release · deliverables/Modulhandbuch_RAG_Finalauswertung.xlsx · docs/TEST_RUNBOOK.md</a:t>
            </a:r>
          </a:p>
        </p:txBody>
      </p:sp>
      <p:sp>
        <p:nvSpPr>
          <p:cNvPr id="22" name="Dikdörtgen: Köşeleri Yuvarlatılmış 21">
            <a:extLst>
              <a:ext uri="{FF2B5EF4-FFF2-40B4-BE49-F238E27FC236}">
                <a16:creationId xmlns:a16="http://schemas.microsoft.com/office/drawing/2014/main" id="{AFC9FFCC-FC4F-4CF6-B931-049299F9155A}"/>
              </a:ext>
            </a:extLst>
          </p:cNvPr>
          <p:cNvSpPr>
            <a:spLocks noGrp="1"/>
          </p:cNvSpPr>
          <p:nvPr/>
        </p:nvSpPr>
        <p:spPr>
          <a:xfrm>
            <a:off x="4476750" y="5781675"/>
            <a:ext cx="3238500" cy="2667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EC74D0F7-3493-4F36-AB4B-6FE371A0059A}"/>
              </a:ext>
            </a:extLst>
          </p:cNvPr>
          <p:cNvSpPr>
            <a:spLocks noGrp="1"/>
          </p:cNvSpPr>
          <p:nvPr/>
        </p:nvSpPr>
        <p:spPr>
          <a:xfrm>
            <a:off x="4572000" y="5829299"/>
            <a:ext cx="3048000" cy="2666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2F69D3"/>
                </a:solidFill>
              </a:defRPr>
            </a:pPr>
            <a:r>
              <a:rPr sz="1200" b="1" i="0">
                <a:solidFill>
                  <a:srgbClr val="2F69D3"/>
                </a:solidFill>
              </a:rPr>
              <a:t>Excel › Reproduktion</a:t>
            </a:r>
          </a:p>
        </p:txBody>
      </p:sp>
    </p:spTree>
    <p:extLst>
      <p:ext uri="{BB962C8B-B14F-4D97-AF65-F5344CB8AC3E}">
        <p14:creationId xmlns:p14="http://schemas.microsoft.com/office/powerpoint/2010/main" val="12196858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ikdörtgen 8">
            <a:extLst>
              <a:ext uri="{FF2B5EF4-FFF2-40B4-BE49-F238E27FC236}">
                <a16:creationId xmlns:a16="http://schemas.microsoft.com/office/drawing/2014/main" id="{C4DDB34C-5D61-4FA0-9FA3-F90D100BE709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F69D3"/>
                </a:solidFill>
              </a:defRPr>
            </a:pPr>
            <a:r>
              <a:rPr sz="900" b="1">
                <a:solidFill>
                  <a:srgbClr val="2F69D3"/>
                </a:solidFill>
              </a:rPr>
              <a:t>ABSCHLUSS</a:t>
            </a:r>
          </a:p>
        </p:txBody>
      </p:sp>
      <p:sp>
        <p:nvSpPr>
          <p:cNvPr id="2" name="Dikdörtgen: Köşeleri Yuvarlatılmış 1">
            <a:extLst>
              <a:ext uri="{FF2B5EF4-FFF2-40B4-BE49-F238E27FC236}">
                <a16:creationId xmlns:a16="http://schemas.microsoft.com/office/drawing/2014/main" id="{2B4ED45E-4BAB-4F58-9767-C028198052C9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3829050"/>
          </a:xfrm>
          <a:prstGeom prst="roundRect">
            <a:avLst>
              <a:gd name="adj" fmla="val 1990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A40A07B8-DDE5-4E18-B747-318DD182DC36}"/>
              </a:ext>
            </a:extLst>
          </p:cNvPr>
          <p:cNvSpPr>
            <a:spLocks noGrp="1"/>
          </p:cNvSpPr>
          <p:nvPr/>
        </p:nvSpPr>
        <p:spPr>
          <a:xfrm>
            <a:off x="1295400" y="1924050"/>
            <a:ext cx="96012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75" b="1">
                <a:solidFill>
                  <a:srgbClr val="111827"/>
                </a:solidFill>
              </a:defRPr>
            </a:pPr>
            <a:r>
              <a:rPr sz="3375" b="1">
                <a:solidFill>
                  <a:srgbClr val="111827"/>
                </a:solidFill>
              </a:rPr>
              <a:t>Vielen Dank für Ihre</a:t>
            </a:r>
          </a:p>
          <a:p>
            <a:pPr algn="ctr">
              <a:defRPr sz="3375" b="1">
                <a:solidFill>
                  <a:srgbClr val="111827"/>
                </a:solidFill>
              </a:defRPr>
            </a:pPr>
            <a:r>
              <a:rPr sz="3375" b="1">
                <a:solidFill>
                  <a:srgbClr val="111827"/>
                </a:solidFill>
              </a:rPr>
              <a:t>Aufmerksamkeit</a:t>
            </a:r>
          </a:p>
        </p:txBody>
      </p:sp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4AF1C641-8A43-4F5E-9D3D-E95123F4B98B}"/>
              </a:ext>
            </a:extLst>
          </p:cNvPr>
          <p:cNvSpPr>
            <a:spLocks noGrp="1"/>
          </p:cNvSpPr>
          <p:nvPr/>
        </p:nvSpPr>
        <p:spPr>
          <a:xfrm>
            <a:off x="4524375" y="3524250"/>
            <a:ext cx="3143250" cy="781050"/>
          </a:xfrm>
          <a:prstGeom prst="roundRect">
            <a:avLst>
              <a:gd name="adj" fmla="val 9756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5DEF9FE9-45DC-4AFA-9117-5F672F9ADFB1}"/>
              </a:ext>
            </a:extLst>
          </p:cNvPr>
          <p:cNvSpPr>
            <a:spLocks noGrp="1"/>
          </p:cNvSpPr>
          <p:nvPr/>
        </p:nvSpPr>
        <p:spPr>
          <a:xfrm>
            <a:off x="4714875" y="3705225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2F69D3"/>
                </a:solidFill>
              </a:defRPr>
            </a:pPr>
            <a:r>
              <a:rPr sz="2325" b="1">
                <a:solidFill>
                  <a:srgbClr val="2F69D3"/>
                </a:solidFill>
              </a:rPr>
              <a:t>Fragen?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1E6C7E57-F55E-4B58-97B1-F88EF839F80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0F30B176-7B50-49CE-B9E9-98F709EBA725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085"/>
                </a:solidFill>
              </a:defRPr>
            </a:pPr>
            <a:r>
              <a:rPr sz="750" b="0" dirty="0" err="1">
                <a:solidFill>
                  <a:srgbClr val="667085"/>
                </a:solidFill>
              </a:rPr>
              <a:t>Modulhandbuch</a:t>
            </a:r>
            <a:r>
              <a:rPr sz="750" b="0" dirty="0">
                <a:solidFill>
                  <a:srgbClr val="667085"/>
                </a:solidFill>
              </a:rPr>
              <a:t>-RAG · </a:t>
            </a:r>
            <a:r>
              <a:rPr sz="750" b="0" dirty="0" err="1">
                <a:solidFill>
                  <a:srgbClr val="667085"/>
                </a:solidFill>
              </a:rPr>
              <a:t>Selvinaz</a:t>
            </a:r>
            <a:r>
              <a:rPr sz="750" b="0" dirty="0">
                <a:solidFill>
                  <a:srgbClr val="667085"/>
                </a:solidFill>
              </a:rPr>
              <a:t> Tiryaki &amp; Salem </a:t>
            </a:r>
            <a:r>
              <a:rPr lang="de-DE" sz="750" b="0" dirty="0">
                <a:solidFill>
                  <a:srgbClr val="667085"/>
                </a:solidFill>
              </a:rPr>
              <a:t>Debebe</a:t>
            </a:r>
            <a:endParaRPr sz="750" b="0" dirty="0">
              <a:solidFill>
                <a:srgbClr val="667085"/>
              </a:solidFill>
            </a:endParaRP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89EFF98D-0E39-4E25-AA45-3631886CF5AC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526184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2457</Words>
  <Application>Microsoft Office PowerPoint</Application>
  <DocSecurity>0</DocSecurity>
  <PresentationFormat>Breitbild</PresentationFormat>
  <Paragraphs>455</Paragraphs>
  <Slides>23</Slides>
  <Notes>23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6" baseType="lpstr">
      <vt:lpstr>Aptos</vt:lpstr>
      <vt:lpstr>Calibri</vt:lpstr>
      <vt:lpstr>ChatGPT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Salem Debebe</cp:lastModifiedBy>
  <cp:revision>7</cp:revision>
  <dcterms:created xsi:type="dcterms:W3CDTF">2026-07-14T13:00:33Z</dcterms:created>
  <dcterms:modified xsi:type="dcterms:W3CDTF">2026-07-15T11:52:14Z</dcterms:modified>
</cp:coreProperties>
</file>