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>
              <a:gd name="adj" fmla="val 2222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8ECF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AAB3C8">
                <a:alpha val="16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85623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Modulhandbuch-RAG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944" y="266090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Struktur-aware Retrieval für LMU-Modulhandbücher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4944" y="3346704"/>
            <a:ext cx="242316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3374136"/>
            <a:ext cx="2331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  Deutsch · English · Türkçe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" y="3858768"/>
            <a:ext cx="22860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388620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≋  BM25 · Dense · Hybrid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5961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F"/>
                </a:solidFill>
              </a:rPr>
              <a:t>Seminar Suchmaschinen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52360" y="1536192"/>
            <a:ext cx="1261872" cy="1325880"/>
          </a:xfrm>
          <a:prstGeom prst="roundRect">
            <a:avLst>
              <a:gd name="adj" fmla="val 8696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9CA7B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18120" y="1801368"/>
            <a:ext cx="475488" cy="475488"/>
          </a:xfrm>
          <a:prstGeom prst="ellipse">
            <a:avLst/>
          </a:prstGeom>
          <a:solidFill>
            <a:srgbClr val="F2F4FF"/>
          </a:solidFill>
          <a:ln w="12700">
            <a:solidFill>
              <a:srgbClr val="F2F4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71809A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18120" y="1805940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8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54112" y="2432304"/>
            <a:ext cx="694944" cy="0"/>
          </a:xfrm>
          <a:prstGeom prst="line">
            <a:avLst/>
          </a:prstGeom>
          <a:noFill/>
          <a:ln w="25400">
            <a:solidFill>
              <a:srgbClr val="D6DC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54112" y="2596896"/>
            <a:ext cx="493776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1097280"/>
            <a:ext cx="1755648" cy="1755648"/>
          </a:xfrm>
          <a:prstGeom prst="roundRect">
            <a:avLst>
              <a:gd name="adj" fmla="val 6250"/>
            </a:avLst>
          </a:prstGeom>
          <a:solidFill>
            <a:srgbClr val="EAF3FF">
              <a:alpha val="98000"/>
            </a:srgbClr>
          </a:solidFill>
          <a:ln w="10160">
            <a:solidFill>
              <a:srgbClr val="B8D9FF">
                <a:alpha val="90000"/>
              </a:srgbClr>
            </a:solidFill>
            <a:prstDash val="solid"/>
          </a:ln>
          <a:effectLst>
            <a:outerShdw sx="100000" sy="100000" kx="0" ky="0" algn="bl" rotWithShape="0" blurRad="403225000" dist="645160000" dir="162000000000">
              <a:srgbClr val="9CA7BD">
                <a:alpha val="18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0032" y="1426464"/>
            <a:ext cx="603504" cy="603504"/>
          </a:xfrm>
          <a:prstGeom prst="ellipse">
            <a:avLst/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00032" y="1431036"/>
            <a:ext cx="60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189720" y="2212848"/>
            <a:ext cx="1005840" cy="0"/>
          </a:xfrm>
          <a:prstGeom prst="line">
            <a:avLst/>
          </a:prstGeom>
          <a:noFill/>
          <a:ln w="38100">
            <a:solidFill>
              <a:srgbClr val="C5D9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9720" y="2450592"/>
            <a:ext cx="694944" cy="0"/>
          </a:xfrm>
          <a:prstGeom prst="line">
            <a:avLst/>
          </a:prstGeom>
          <a:noFill/>
          <a:ln w="38100">
            <a:solidFill>
              <a:srgbClr val="D7E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08208" y="1865376"/>
            <a:ext cx="804672" cy="841248"/>
          </a:xfrm>
          <a:prstGeom prst="roundRect">
            <a:avLst>
              <a:gd name="adj" fmla="val 13636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5120957500000" dist="8193532000000" dir="9720000000000000">
              <a:srgbClr val="9CA7BD">
                <a:alpha val="1800000000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91088" y="2029968"/>
            <a:ext cx="438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4FF"/>
                </a:solidFill>
              </a:rPr>
              <a:t>•••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9B74FF"/>
                </a:solidFill>
              </a:rPr>
              <a:t>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92440" y="3310128"/>
            <a:ext cx="2240280" cy="960120"/>
          </a:xfrm>
          <a:prstGeom prst="roundRect">
            <a:avLst>
              <a:gd name="adj" fmla="val 11429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65036160250000000" dist="104057856400000000" dir="583200000000000000000">
              <a:srgbClr val="9CA7BD">
                <a:alpha val="180000000000000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3566160"/>
            <a:ext cx="365760" cy="365760"/>
          </a:xfrm>
          <a:prstGeom prst="ellipse">
            <a:avLst/>
          </a:prstGeom>
          <a:solidFill>
            <a:srgbClr val="EDE8FF"/>
          </a:solidFill>
          <a:ln w="12700">
            <a:solidFill>
              <a:srgbClr val="EDE8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0" y="3570732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96528" y="3611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74FF"/>
                </a:solidFill>
              </a:rPr>
              <a:t>EVIDENZ GEFUNDEN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796528" y="3931920"/>
            <a:ext cx="1133856" cy="0"/>
          </a:xfrm>
          <a:prstGeom prst="line">
            <a:avLst/>
          </a:prstGeom>
          <a:noFill/>
          <a:ln w="38100">
            <a:solidFill>
              <a:srgbClr val="E0DB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526280"/>
            <a:ext cx="1572768" cy="758952"/>
          </a:xfrm>
          <a:prstGeom prst="roundRect">
            <a:avLst>
              <a:gd name="adj" fmla="val 1445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825959235175000000000" dist="1.32153477628e+21" dir="3.4992e+25">
              <a:srgbClr val="9CA7BD">
                <a:alpha val="1.8e+2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16952" y="4681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7CFF"/>
                </a:solidFill>
              </a:rPr>
              <a:t>“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955280" y="4828032"/>
            <a:ext cx="713232" cy="0"/>
          </a:xfrm>
          <a:prstGeom prst="line">
            <a:avLst/>
          </a:prstGeom>
          <a:noFill/>
          <a:ln w="38100">
            <a:solidFill>
              <a:srgbClr val="DCE5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4526280"/>
            <a:ext cx="1572768" cy="758952"/>
          </a:xfrm>
          <a:prstGeom prst="roundRect">
            <a:avLst>
              <a:gd name="adj" fmla="val 1445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0489682286722501e+25" dist="1.6783491658756e+25" dir="2.09952e+30">
              <a:srgbClr val="9CA7BD">
                <a:alpha val="1.8e+29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45168" y="4681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74FF"/>
                </a:solidFill>
              </a:rPr>
              <a:t>“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692640" y="4828032"/>
            <a:ext cx="713232" cy="0"/>
          </a:xfrm>
          <a:prstGeom prst="line">
            <a:avLst/>
          </a:prstGeom>
          <a:noFill/>
          <a:ln w="38100">
            <a:solidFill>
              <a:srgbClr val="E5DDF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Ziel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892040" cy="3977640"/>
          </a:xfrm>
          <a:prstGeom prst="roundRect">
            <a:avLst>
              <a:gd name="adj" fmla="val 2759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3321896504137577e+29" dist="2.1315034406620118e+29" dir="1.259712e+35">
              <a:srgbClr val="9CA7BD">
                <a:alpha val="1.7999999999999998e+3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48840"/>
            <a:ext cx="425196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Modulhandbücher sind lang, heterogen und halb-strukturiert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Nutzer:innen stellen Fragen in natürlicher Sprache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Reine PDF-Suche liefert oft unpräzise Treffer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Antworten sind nur nützlich, wenn die Evidenz stimmt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239512" cy="2423160"/>
          </a:xfrm>
          <a:prstGeom prst="roundRect">
            <a:avLst>
              <a:gd name="adj" fmla="val 4528"/>
            </a:avLst>
          </a:prstGeom>
          <a:solidFill>
            <a:srgbClr val="EEF5FF">
              <a:alpha val="98000"/>
            </a:srgbClr>
          </a:solidFill>
          <a:ln w="10160">
            <a:solidFill>
              <a:srgbClr val="D7E5FF">
                <a:alpha val="90000"/>
              </a:srgbClr>
            </a:solidFill>
            <a:prstDash val="solid"/>
          </a:ln>
          <a:effectLst>
            <a:outerShdw sx="100000" sy="100000" kx="0" ky="0" algn="bl" rotWithShape="0" blurRad="1.6918808560254722e+33" dist="2.707009369640755e+33" dir="7.558272e+39">
              <a:srgbClr val="9CA7BD">
                <a:alpha val="1.8e+3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1911096"/>
            <a:ext cx="384048" cy="38404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1915668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76872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Unser Ziel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73952" y="257860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richtige answer-bearing evidence finden: präzise, nachvollziehbar und zitierbar.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172200" y="4315968"/>
            <a:ext cx="1490472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2.1486886871523496e+37" dist="3.437901899443759e+37" dir="4.5349632000000006e+44">
              <a:srgbClr val="9CA7BD">
                <a:alpha val="1.8e+4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56832" y="4498848"/>
            <a:ext cx="475488" cy="475488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EF3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56832" y="4503420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507492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42F"/>
                </a:solidFill>
              </a:rPr>
              <a:t>Mehrere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42F"/>
                </a:solidFill>
              </a:rPr>
              <a:t>Dokumente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27848" y="4315968"/>
            <a:ext cx="1490472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2.728834632683484e+41" dist="4.366135412293574e+41" dir="2.72097792e+49">
              <a:srgbClr val="9CA7BD">
                <a:alpha val="1.8e+4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4498848"/>
            <a:ext cx="475488" cy="475488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EF3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4503420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65008" y="507492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42F"/>
                </a:solidFill>
              </a:rPr>
              <a:t>Natürliche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42F"/>
                </a:solidFill>
              </a:rPr>
              <a:t>Sprache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83496" y="4315968"/>
            <a:ext cx="1490472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3.465619983508025e+45" dist="5.544991973612839e+45" dir="1.6325867520000003e+54">
              <a:srgbClr val="9CA7BD">
                <a:alpha val="1.8e+5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68128" y="4498848"/>
            <a:ext cx="475488" cy="475488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EF3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68128" y="4503420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20656" y="507492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42F"/>
                </a:solidFill>
              </a:rPr>
              <a:t>Transparente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7142F"/>
                </a:solidFill>
              </a:rPr>
              <a:t>Evidenz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Systemüberblick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Von Dokumenten zur belegten Antwort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1673352" cy="2267712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4.401337379055192e+49" dist="7.042139806488305e+49" dir="9.795520512000002e+58">
              <a:srgbClr val="9CA7BD">
                <a:alpha val="1.8000000000000001e+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52144" y="2331720"/>
            <a:ext cx="502920" cy="50292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52144" y="233629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375" dirty="0"/>
          </a:p>
        </p:txBody>
      </p:sp>
      <p:sp>
        <p:nvSpPr>
          <p:cNvPr id="9" name="Text 7"/>
          <p:cNvSpPr/>
          <p:nvPr/>
        </p:nvSpPr>
        <p:spPr>
          <a:xfrm>
            <a:off x="722376" y="30449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42F"/>
                </a:solidFill>
              </a:rPr>
              <a:t>Ingestion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9848" y="3483864"/>
            <a:ext cx="667512" cy="0"/>
          </a:xfrm>
          <a:prstGeom prst="line">
            <a:avLst/>
          </a:prstGeom>
          <a:noFill/>
          <a:ln w="38100">
            <a:solidFill>
              <a:srgbClr val="A9C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2160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PDF, TXT, Markdown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58568" y="30449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7CF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9736" y="2057400"/>
            <a:ext cx="1673352" cy="2267712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5.589698471400094e+53" dist="8.943517554240149e+53" dir="5.877312307200001e+63">
              <a:srgbClr val="9CA7BD">
                <a:alpha val="1.8e+6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44952" y="2331720"/>
            <a:ext cx="502920" cy="50292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44952" y="233629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375" dirty="0"/>
          </a:p>
        </p:txBody>
      </p:sp>
      <p:sp>
        <p:nvSpPr>
          <p:cNvPr id="16" name="Text 14"/>
          <p:cNvSpPr/>
          <p:nvPr/>
        </p:nvSpPr>
        <p:spPr>
          <a:xfrm>
            <a:off x="2615184" y="30449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42F"/>
                </a:solidFill>
              </a:rPr>
              <a:t>Cleaning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62656" y="3483864"/>
            <a:ext cx="667512" cy="0"/>
          </a:xfrm>
          <a:prstGeom prst="line">
            <a:avLst/>
          </a:prstGeom>
          <a:noFill/>
          <a:ln w="38100">
            <a:solidFill>
              <a:srgbClr val="C8B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372160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Text extrahieren und normalisieren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51376" y="30449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7CF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52544" y="2057400"/>
            <a:ext cx="1673352" cy="2267712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7.09891705867812e+57" dist="1.1358267293884988e+58" dir="3.526387384320001e+68">
              <a:srgbClr val="9CA7BD">
                <a:alpha val="1.8e+6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331720"/>
            <a:ext cx="502920" cy="50292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33629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⬡</a:t>
            </a:r>
            <a:endParaRPr lang="en-US" sz="1375" dirty="0"/>
          </a:p>
        </p:txBody>
      </p:sp>
      <p:sp>
        <p:nvSpPr>
          <p:cNvPr id="23" name="Text 21"/>
          <p:cNvSpPr/>
          <p:nvPr/>
        </p:nvSpPr>
        <p:spPr>
          <a:xfrm>
            <a:off x="4507992" y="30449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42F"/>
                </a:solidFill>
              </a:rPr>
              <a:t>Chunking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55464" y="3483864"/>
            <a:ext cx="667512" cy="0"/>
          </a:xfrm>
          <a:prstGeom prst="line">
            <a:avLst/>
          </a:prstGeom>
          <a:noFill/>
          <a:ln w="38100">
            <a:solidFill>
              <a:srgbClr val="A9C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372160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naive · module · field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44184" y="30449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7CFF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45352" y="2057400"/>
            <a:ext cx="1673352" cy="2267712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9.015624664521212e+61" dist="1.4424999463233936e+62" dir="2.1158324305920003e+73">
              <a:srgbClr val="9CA7BD">
                <a:alpha val="1.8000000000000002e+7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30568" y="2331720"/>
            <a:ext cx="502920" cy="50292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30568" y="233629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1375" dirty="0"/>
          </a:p>
        </p:txBody>
      </p:sp>
      <p:sp>
        <p:nvSpPr>
          <p:cNvPr id="30" name="Text 28"/>
          <p:cNvSpPr/>
          <p:nvPr/>
        </p:nvSpPr>
        <p:spPr>
          <a:xfrm>
            <a:off x="6400800" y="30449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42F"/>
                </a:solidFill>
              </a:rPr>
              <a:t>Retrieval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48272" y="3483864"/>
            <a:ext cx="667512" cy="0"/>
          </a:xfrm>
          <a:prstGeom prst="line">
            <a:avLst/>
          </a:prstGeom>
          <a:noFill/>
          <a:ln w="38100">
            <a:solidFill>
              <a:srgbClr val="C8B7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372160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BM25 · Dense · Hybrid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36992" y="30449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7CFF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138160" y="2057400"/>
            <a:ext cx="1673352" cy="2267712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144984332394194e+66" dist="1.83197493183071e+66" dir="1.2694994583552002e+78">
              <a:srgbClr val="9CA7BD">
                <a:alpha val="1.8000000000000003e+7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23376" y="2331720"/>
            <a:ext cx="502920" cy="50292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723376" y="233629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75" dirty="0"/>
          </a:p>
        </p:txBody>
      </p:sp>
      <p:sp>
        <p:nvSpPr>
          <p:cNvPr id="37" name="Text 35"/>
          <p:cNvSpPr/>
          <p:nvPr/>
        </p:nvSpPr>
        <p:spPr>
          <a:xfrm>
            <a:off x="8293608" y="30449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42F"/>
                </a:solidFill>
              </a:rPr>
              <a:t>Evidence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41080" y="3483864"/>
            <a:ext cx="667512" cy="0"/>
          </a:xfrm>
          <a:prstGeom prst="line">
            <a:avLst/>
          </a:prstGeom>
          <a:noFill/>
          <a:ln w="38100">
            <a:solidFill>
              <a:srgbClr val="A9C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2752" y="372160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Top-k relevante Chunks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829800" y="304495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7CFF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030968" y="2057400"/>
            <a:ext cx="1673352" cy="2267712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4541301021406264e+70" dist="2.3266081634250016e+70" dir="7.616996750131201e+82">
              <a:srgbClr val="9CA7BD">
                <a:alpha val="1.8000000000000004e+84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616184" y="2331720"/>
            <a:ext cx="502920" cy="50292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616184" y="2336292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◌</a:t>
            </a:r>
            <a:endParaRPr lang="en-US" sz="1375" dirty="0"/>
          </a:p>
        </p:txBody>
      </p:sp>
      <p:sp>
        <p:nvSpPr>
          <p:cNvPr id="44" name="Text 42"/>
          <p:cNvSpPr/>
          <p:nvPr/>
        </p:nvSpPr>
        <p:spPr>
          <a:xfrm>
            <a:off x="10186416" y="304495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42F"/>
                </a:solidFill>
              </a:rPr>
              <a:t>Antwort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533888" y="3483864"/>
            <a:ext cx="667512" cy="0"/>
          </a:xfrm>
          <a:prstGeom prst="line">
            <a:avLst/>
          </a:prstGeom>
          <a:noFill/>
          <a:ln w="38100">
            <a:solidFill>
              <a:srgbClr val="C8B7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95560" y="3721608"/>
            <a:ext cx="134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optional mit LLM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468880" y="4901184"/>
            <a:ext cx="7269480" cy="768096"/>
          </a:xfrm>
          <a:prstGeom prst="roundRect">
            <a:avLst>
              <a:gd name="adj" fmla="val 14286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61488" y="5074920"/>
            <a:ext cx="384048" cy="38404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761488" y="5079492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73552" y="51023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</a:rPr>
              <a:t>Wichtig: Der Kernbeitrag ist die Evidenzsuche, nicht nur die Generierung.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 &amp; Evaluation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Drei Chunking-Strategien, drei Retriever, klare Metriken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3063240" cy="3602736"/>
          </a:xfrm>
          <a:prstGeom prst="roundRect">
            <a:avLst>
              <a:gd name="adj" fmla="val 3582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8467452297185954e+74" dist="2.954792367549752e+74" dir="4.57019805007872e+87">
              <a:srgbClr val="9CA7BD">
                <a:alpha val="1.8000000000000005e+8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30552"/>
            <a:ext cx="475488" cy="47548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135124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36192" y="2185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42F"/>
                </a:solidFill>
              </a:rPr>
              <a:t>Chunking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9848" y="2852928"/>
            <a:ext cx="22860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05840" y="4434840"/>
            <a:ext cx="2377440" cy="0"/>
          </a:xfrm>
          <a:prstGeom prst="line">
            <a:avLst/>
          </a:prstGeom>
          <a:noFill/>
          <a:ln w="15240">
            <a:solidFill>
              <a:srgbClr val="E2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4645152"/>
            <a:ext cx="347472" cy="347472"/>
          </a:xfrm>
          <a:prstGeom prst="ellipse">
            <a:avLst/>
          </a:prstGeom>
          <a:solidFill>
            <a:srgbClr val="F3F1FF"/>
          </a:solidFill>
          <a:ln w="12700">
            <a:solidFill>
              <a:srgbClr val="F3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464972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53896" y="46451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Field-Level-Chunks liefern häufig präzisere Evidenz.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96512" y="1847088"/>
            <a:ext cx="3063240" cy="3602736"/>
          </a:xfrm>
          <a:prstGeom prst="roundRect">
            <a:avLst>
              <a:gd name="adj" fmla="val 3582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2.345366441742616e+78" dist="3.752586306788185e+78" dir="2.742118830047232e+92">
              <a:srgbClr val="9CA7BD">
                <a:alpha val="1.8000000000000007e+9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0832" y="2130552"/>
            <a:ext cx="475488" cy="47548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135124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74336" y="2185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42F"/>
                </a:solidFill>
              </a:rPr>
              <a:t>Retriever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07992" y="2852928"/>
            <a:ext cx="22860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Retrieval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Retrieval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43984" y="4434840"/>
            <a:ext cx="2377440" cy="0"/>
          </a:xfrm>
          <a:prstGeom prst="line">
            <a:avLst/>
          </a:prstGeom>
          <a:noFill/>
          <a:ln w="15240">
            <a:solidFill>
              <a:srgbClr val="E2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4645152"/>
            <a:ext cx="347472" cy="347472"/>
          </a:xfrm>
          <a:prstGeom prst="ellipse">
            <a:avLst/>
          </a:prstGeom>
          <a:solidFill>
            <a:srgbClr val="F3F1FF"/>
          </a:solidFill>
          <a:ln w="12700">
            <a:solidFill>
              <a:srgbClr val="F3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16552" y="464972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46451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Dense und Hybrid helfen bei semantischen und mehrsprachigen Fragen.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34656" y="1847088"/>
            <a:ext cx="3063240" cy="3602736"/>
          </a:xfrm>
          <a:prstGeom prst="roundRect">
            <a:avLst>
              <a:gd name="adj" fmla="val 3582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2.9786153810131225e+82" dist="4.765784609620995e+82" dir="1.6452712980283393e+97">
              <a:srgbClr val="9CA7BD">
                <a:alpha val="1.8000000000000008e+9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08976" y="2130552"/>
            <a:ext cx="475488" cy="47548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08976" y="2135124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2185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42F"/>
                </a:solidFill>
              </a:rPr>
              <a:t>Metriken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946136" y="2852928"/>
            <a:ext cx="22860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Hit@1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nDCG@k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71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Precision@k / Recall@k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882128" y="4434840"/>
            <a:ext cx="2377440" cy="0"/>
          </a:xfrm>
          <a:prstGeom prst="line">
            <a:avLst/>
          </a:prstGeom>
          <a:noFill/>
          <a:ln w="15240">
            <a:solidFill>
              <a:srgbClr val="E2E7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54696" y="4645152"/>
            <a:ext cx="347472" cy="347472"/>
          </a:xfrm>
          <a:prstGeom prst="ellipse">
            <a:avLst/>
          </a:prstGeom>
          <a:solidFill>
            <a:srgbClr val="F3F1FF"/>
          </a:solidFill>
          <a:ln w="12700">
            <a:solidFill>
              <a:srgbClr val="F3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54696" y="464972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▥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30184" y="464515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Bewertet wird die gefundene Evidenz.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5650992"/>
            <a:ext cx="9939528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742432"/>
            <a:ext cx="347472" cy="347472"/>
          </a:xfrm>
          <a:prstGeom prst="ellipse">
            <a:avLst/>
          </a:prstGeom>
          <a:solidFill>
            <a:srgbClr val="EDE8FF"/>
          </a:solidFill>
          <a:ln w="12700">
            <a:solidFill>
              <a:srgbClr val="EDE8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5747004"/>
            <a:ext cx="347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⚗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344168" y="5788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F"/>
                </a:solidFill>
              </a:rPr>
              <a:t>Ablation: BM25-Baseline vs. Section-Boosting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Mehrsprachig &amp; natürlich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müssen weder Modulnummer noch exakten Modultitel nennen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856232"/>
            <a:ext cx="3063240" cy="1709928"/>
          </a:xfrm>
          <a:prstGeom prst="roundRect">
            <a:avLst>
              <a:gd name="adj" fmla="val 641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3.782841533886666e+86" dist="6.052546454218663e+86" dir="9.871627788170037e+101">
              <a:srgbClr val="9CA7BD">
                <a:alpha val="1.800000000000001e+10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084832"/>
            <a:ext cx="420624" cy="420624"/>
          </a:xfrm>
          <a:prstGeom prst="ellipse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208940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63040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7CFF"/>
                </a:solidFill>
              </a:rPr>
              <a:t>Deutsch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6883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7CFF"/>
                </a:solidFill>
              </a:rPr>
              <a:t>“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316736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42F"/>
                </a:solidFill>
              </a:rPr>
              <a:t>Welche Veranstaltung behandelt Information Retrieval?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069080" y="1856232"/>
            <a:ext cx="3063240" cy="1709928"/>
          </a:xfrm>
          <a:prstGeom prst="roundRect">
            <a:avLst>
              <a:gd name="adj" fmla="val 641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4.8042087480360655e+90" dist="7.6867339968577025e+90" dir="5.9229766729020215e+106">
              <a:srgbClr val="9CA7BD">
                <a:alpha val="1.800000000000001e+10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084832"/>
            <a:ext cx="420624" cy="420624"/>
          </a:xfrm>
          <a:prstGeom prst="ellipse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208940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73752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7CFF"/>
                </a:solidFill>
              </a:rPr>
              <a:t>English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25112" y="26883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7CFF"/>
                </a:solidFill>
              </a:rPr>
              <a:t>“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27448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42F"/>
                </a:solidFill>
              </a:rPr>
              <a:t>Which course covers information retrieval?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79792" y="1856232"/>
            <a:ext cx="3063240" cy="1709928"/>
          </a:xfrm>
          <a:prstGeom prst="roundRect">
            <a:avLst>
              <a:gd name="adj" fmla="val 641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6.101345110005803e+94" dist="9.762152176009283e+94" dir="3.553786003741213e+111">
              <a:srgbClr val="9CA7BD">
                <a:alpha val="1.800000000000001e+11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54112" y="2084832"/>
            <a:ext cx="420624" cy="420624"/>
          </a:xfrm>
          <a:prstGeom prst="ellipse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54112" y="2089404"/>
            <a:ext cx="420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84464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7CFF"/>
                </a:solidFill>
              </a:rPr>
              <a:t>Türkçe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35824" y="26883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B74FF"/>
                </a:solidFill>
              </a:rPr>
              <a:t>“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13816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7142F"/>
                </a:solidFill>
              </a:rPr>
              <a:t>Bilgi erişimi ile ilgili hangi ders var?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8368" y="3931920"/>
            <a:ext cx="9893808" cy="1444752"/>
          </a:xfrm>
          <a:prstGeom prst="roundRect">
            <a:avLst>
              <a:gd name="adj" fmla="val 759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7.74870828970737e+98" dist="1.2397933263531789e+99" dir="2.1322716022447277e+116">
              <a:srgbClr val="9CA7BD">
                <a:alpha val="1.800000000000001e+11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" y="4325112"/>
            <a:ext cx="512064" cy="512064"/>
          </a:xfrm>
          <a:prstGeom prst="ellipse">
            <a:avLst/>
          </a:prstGeom>
          <a:solidFill>
            <a:srgbClr val="EDE8FF"/>
          </a:solidFill>
          <a:ln w="12700">
            <a:solidFill>
              <a:srgbClr val="EDE8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4329684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00784" y="4197096"/>
            <a:ext cx="81838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Explizite Modulnamen helfen, sind aber nicht zwingend nötig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und Hybrid verstehen semantisch ähnliche Formulierungen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 ist besonders stark, wenn die Frage deutsche Handbuchbegriffe trifft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58368" y="5632704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5660136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≋  Deutsch: Auto / Hybrid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90672" y="5632704"/>
            <a:ext cx="301752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160">
            <a:solidFill>
              <a:srgbClr val="9B74FF">
                <a:alpha val="2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36392" y="566013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  English / Türkçe: Dense / Hybrid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Mehrere Modulhandbücher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Auswahl ist automatisch möglich, bleibt aber transparent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5349240" cy="3493008"/>
          </a:xfrm>
          <a:prstGeom prst="roundRect">
            <a:avLst>
              <a:gd name="adj" fmla="val 3141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9.840859527928359e+102" dist="1.574537524468537e+103" dir="1.2793629613468366e+121">
              <a:srgbClr val="9CA7BD">
                <a:alpha val="1.800000000000001e+12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2121408"/>
            <a:ext cx="384048" cy="38404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9264" y="2125980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72184" y="2148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Demo Corpus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42416" y="2944368"/>
            <a:ext cx="4498848" cy="1883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Computerlinguistik Bachelor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Computerlinguistik Master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 Bachelor, integriertes Anwendungsfach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 Master, Beginn WiSe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263640" y="1847088"/>
            <a:ext cx="5074920" cy="3493008"/>
          </a:xfrm>
          <a:prstGeom prst="roundRect">
            <a:avLst>
              <a:gd name="adj" fmla="val 3141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2497891600469016e+107" dist="1.9996626560750422e+107" dir="7.67617776808102e+125">
              <a:srgbClr val="9CA7BD">
                <a:alpha val="1.800000000000001e+12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2121408"/>
            <a:ext cx="384048" cy="38404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25980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86600" y="21488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Automatische Auswahl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56832" y="2944368"/>
            <a:ext cx="4114800" cy="1883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„Master Computerlinguistik“ → CL Master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„Informatik Bachelor“ → integriertes Anwendungsfach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„Nebenfach 60 ECTS“ → passende Nebenfachvariante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„Beginn im SoSe“ → Informatik Master SoSe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5596128"/>
            <a:ext cx="10680192" cy="530352"/>
          </a:xfrm>
          <a:prstGeom prst="roundRect">
            <a:avLst>
              <a:gd name="adj" fmla="val 2069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7424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26078"/>
                </a:solidFill>
              </a:rPr>
              <a:t>Ohne Studiengangsangabe wird der empfohlene Vier-Dokumente-Korpus durchsucht. Die Quelle jedes Treffers bleibt sichtbar.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clean, verspielt und vollständig transparent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" y="3337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078"/>
                </a:solidFill>
              </a:rPr>
              <a:t>Das Texteingabefeld ist bewusst abgerundet.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2761488"/>
            <a:ext cx="502920" cy="502920"/>
          </a:xfrm>
          <a:prstGeom prst="ellipse">
            <a:avLst/>
          </a:prstGeom>
          <a:solidFill>
            <a:srgbClr val="EDE8FF"/>
          </a:solidFill>
          <a:ln w="12700">
            <a:solidFill>
              <a:srgbClr val="EDE8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66060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5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375" dirty="0"/>
          </a:p>
        </p:txBody>
      </p:sp>
      <p:sp>
        <p:nvSpPr>
          <p:cNvPr id="9" name="Shape 7"/>
          <p:cNvSpPr/>
          <p:nvPr/>
        </p:nvSpPr>
        <p:spPr>
          <a:xfrm>
            <a:off x="3383280" y="1078992"/>
            <a:ext cx="8001000" cy="4983480"/>
          </a:xfrm>
          <a:prstGeom prst="roundRect">
            <a:avLst>
              <a:gd name="adj" fmla="val 2202"/>
            </a:avLst>
          </a:prstGeom>
          <a:solidFill>
            <a:srgbClr val="FBFCFF">
              <a:alpha val="98000"/>
            </a:srgbClr>
          </a:solidFill>
          <a:ln w="10160">
            <a:solidFill>
              <a:srgbClr val="D7DDF0">
                <a:alpha val="90000"/>
              </a:srgbClr>
            </a:solidFill>
            <a:prstDash val="solid"/>
          </a:ln>
          <a:effectLst>
            <a:outerShdw sx="100000" sy="100000" kx="0" ky="0" algn="bl" rotWithShape="0" blurRad="1.587232233259565e+111" dist="2.5395715732153033e+111" dir="4.605706660848612e+130">
              <a:srgbClr val="9CA7BD">
                <a:alpha val="1.800000000000001e+13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36192"/>
            <a:ext cx="8001000" cy="0"/>
          </a:xfrm>
          <a:prstGeom prst="line">
            <a:avLst/>
          </a:prstGeom>
          <a:noFill/>
          <a:ln w="12700">
            <a:solidFill>
              <a:srgbClr val="E2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280160"/>
            <a:ext cx="82296" cy="822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1280160"/>
            <a:ext cx="82296" cy="82296"/>
          </a:xfrm>
          <a:prstGeom prst="ellipse">
            <a:avLst/>
          </a:prstGeom>
          <a:solidFill>
            <a:srgbClr val="FFB65C"/>
          </a:solidFill>
          <a:ln w="12700">
            <a:solidFill>
              <a:srgbClr val="FFB65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22776" y="1280160"/>
            <a:ext cx="82296" cy="82296"/>
          </a:xfrm>
          <a:prstGeom prst="ellipse">
            <a:avLst/>
          </a:prstGeom>
          <a:solidFill>
            <a:srgbClr val="50C878"/>
          </a:solidFill>
          <a:ln w="12700">
            <a:solidFill>
              <a:srgbClr val="50C87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691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42F"/>
                </a:solidFill>
              </a:rPr>
              <a:t>≋  Modulhandbuch-RAG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0" y="2139696"/>
            <a:ext cx="6629400" cy="566928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3970">
            <a:solidFill>
              <a:srgbClr val="B9C6FF"/>
            </a:solidFill>
            <a:prstDash val="solid"/>
          </a:ln>
          <a:effectLst>
            <a:outerShdw sx="100000" sy="100000" kx="0" ky="0" algn="bl" rotWithShape="0" blurRad="2.0157849362396478e+115" dist="3.2252558979834354e+115" dir="2.763423996509167e+135">
              <a:srgbClr val="9CA7BD">
                <a:alpha val="1.800000000000001e+13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70832" y="231343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9A2"/>
                </a:solidFill>
              </a:rPr>
              <a:t>Stelle eine Frage zum Modulhandbuch 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177272" y="2212848"/>
            <a:ext cx="420624" cy="420624"/>
          </a:xfrm>
          <a:prstGeom prst="ellipse">
            <a:avLst/>
          </a:prstGeom>
          <a:solidFill>
            <a:srgbClr val="5F7CFF"/>
          </a:solidFill>
          <a:ln w="12700">
            <a:solidFill>
              <a:srgbClr val="5F7C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7272" y="226771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0" y="29260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9535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Sprache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68112" y="29260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13832" y="29535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Korpus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21424" y="292608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2953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66176" y="292608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2953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36608" y="2926080"/>
            <a:ext cx="130759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82328" y="295351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Boost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0" y="340156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34290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Deutsch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340156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4290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60720" y="3401568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4290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Türkçe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12280" y="3401568"/>
            <a:ext cx="630936" cy="292608"/>
          </a:xfrm>
          <a:prstGeom prst="roundRect">
            <a:avLst>
              <a:gd name="adj" fmla="val 25000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429000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507224" y="3401568"/>
            <a:ext cx="63093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3429000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02168" y="3401568"/>
            <a:ext cx="63093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3429000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897112" y="3401568"/>
            <a:ext cx="630936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526078">
                <a:alpha val="2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42832" y="3429000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0" y="4005072"/>
            <a:ext cx="662940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79392" y="4087368"/>
            <a:ext cx="41148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25112" y="41148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64608" y="411480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42F"/>
                </a:solidFill>
              </a:rPr>
              <a:t>WP3 · Information Retrieval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98080" y="41148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8"/>
                </a:solidFill>
              </a:rPr>
              <a:t>Inhalte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012680" y="41148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26078"/>
                </a:solidFill>
              </a:rPr>
              <a:t>0.92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0" y="4535424"/>
            <a:ext cx="662940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79392" y="4617720"/>
            <a:ext cx="41148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5112" y="46451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864608" y="464515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42F"/>
                </a:solidFill>
              </a:rPr>
              <a:t>WP3 · Information Retrieval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498080" y="46451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8"/>
                </a:solidFill>
              </a:rPr>
              <a:t>Form der Modulprüfung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012680" y="46451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26078"/>
                </a:solidFill>
              </a:rPr>
              <a:t>0.87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114800" y="5065776"/>
            <a:ext cx="662940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79392" y="5148072"/>
            <a:ext cx="41148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25112" y="51755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864608" y="5175504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7142F"/>
                </a:solidFill>
              </a:rPr>
              <a:t>WP2 · Grundlagen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498080" y="51755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78"/>
                </a:solidFill>
              </a:rPr>
              <a:t>Lernziele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012680" y="51755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26078"/>
                </a:solidFill>
              </a:rPr>
              <a:t>0.78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Aktueller BM25-Benchmark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Queries · top-k = 3 · veröffentlichter Stand des Repos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6537960" cy="3566160"/>
          </a:xfrm>
          <a:prstGeom prst="roundRect">
            <a:avLst>
              <a:gd name="adj" fmla="val 3077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2.5600468690243525e+119" dist="4.0960749904389626e+119" dir="1.6580543979055002e+140">
              <a:srgbClr val="9CA7BD">
                <a:alpha val="1.800000000000001e+144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42F"/>
                </a:solidFill>
              </a:rPr>
              <a:t>Hit@1, Modul-Level-Relevanz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88950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78"/>
                </a:solidFill>
              </a:rPr>
              <a:t>naive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65960" y="2816352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816352"/>
            <a:ext cx="3196742" cy="347472"/>
          </a:xfrm>
          <a:prstGeom prst="roundRect">
            <a:avLst>
              <a:gd name="adj" fmla="val 21053"/>
            </a:avLst>
          </a:prstGeom>
          <a:solidFill>
            <a:srgbClr val="A9CFFF"/>
          </a:solidFill>
          <a:ln w="12700">
            <a:solidFill>
              <a:srgbClr val="A9C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287121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7142F"/>
                </a:solidFill>
              </a:rPr>
              <a:t>0.760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6027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78"/>
                </a:solidFill>
              </a:rPr>
              <a:t>module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65960" y="3529584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3529584"/>
            <a:ext cx="4037990" cy="347472"/>
          </a:xfrm>
          <a:prstGeom prst="roundRect">
            <a:avLst>
              <a:gd name="adj" fmla="val 21053"/>
            </a:avLst>
          </a:prstGeom>
          <a:solidFill>
            <a:srgbClr val="8B7CFF"/>
          </a:solidFill>
          <a:ln w="12700">
            <a:solidFill>
              <a:srgbClr val="8B7C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35844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7142F"/>
                </a:solidFill>
              </a:rPr>
              <a:t>0.960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315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78"/>
                </a:solidFill>
              </a:rPr>
              <a:t>field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65960" y="4242816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EEF1F7"/>
          </a:solidFill>
          <a:ln w="12700">
            <a:solidFill>
              <a:srgbClr val="EEF1F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4242816"/>
            <a:ext cx="3533242" cy="347472"/>
          </a:xfrm>
          <a:prstGeom prst="roundRect">
            <a:avLst>
              <a:gd name="adj" fmla="val 21053"/>
            </a:avLst>
          </a:prstGeom>
          <a:solidFill>
            <a:srgbClr val="6CA9FF"/>
          </a:solidFill>
          <a:ln w="12700">
            <a:solidFill>
              <a:srgbClr val="6CA9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429768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7142F"/>
                </a:solidFill>
              </a:rPr>
              <a:t>0.840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8737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078"/>
                </a:solidFill>
              </a:rPr>
              <a:t>Interpretation: Module-Level-Chunking ist am stärksten, wenn nur das richtige Modul gesucht wird.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52360" y="1847088"/>
            <a:ext cx="3886200" cy="3566160"/>
          </a:xfrm>
          <a:prstGeom prst="roundRect">
            <a:avLst>
              <a:gd name="adj" fmla="val 3077"/>
            </a:avLst>
          </a:prstGeom>
          <a:solidFill>
            <a:srgbClr val="F4F1FF">
              <a:alpha val="98000"/>
            </a:srgbClr>
          </a:solidFill>
          <a:ln w="10160">
            <a:solidFill>
              <a:srgbClr val="E1D9FF">
                <a:alpha val="90000"/>
              </a:srgbClr>
            </a:solidFill>
            <a:prstDash val="solid"/>
          </a:ln>
          <a:effectLst>
            <a:outerShdw sx="100000" sy="100000" kx="0" ky="0" algn="bl" rotWithShape="0" blurRad="3.2512595236609277e+123" dist="5.2020152378574823e+123" dir="9.948326387433002e+144">
              <a:srgbClr val="9CA7BD">
                <a:alpha val="1.8000000000000009e+14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0" y="2139696"/>
            <a:ext cx="384048" cy="38404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2144268"/>
            <a:ext cx="3840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75320" y="21671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Strikte Field-Relevanz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0" y="288036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9B74FF"/>
                </a:solidFill>
              </a:rPr>
              <a:t>0.680</a:t>
            </a:r>
            <a:endParaRPr lang="en-US" sz="4300" dirty="0"/>
          </a:p>
        </p:txBody>
      </p:sp>
      <p:sp>
        <p:nvSpPr>
          <p:cNvPr id="26" name="Text 24"/>
          <p:cNvSpPr/>
          <p:nvPr/>
        </p:nvSpPr>
        <p:spPr>
          <a:xfrm>
            <a:off x="9400032" y="32552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78"/>
                </a:solidFill>
              </a:rPr>
              <a:t>Hit@1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0" y="3822192"/>
            <a:ext cx="2926080" cy="0"/>
          </a:xfrm>
          <a:prstGeom prst="line">
            <a:avLst/>
          </a:prstGeom>
          <a:noFill/>
          <a:ln w="15240">
            <a:solidFill>
              <a:srgbClr val="D8C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069080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7142F"/>
                </a:solidFill>
              </a:rPr>
              <a:t>MRR 0.733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F"/>
                </a:solidFill>
              </a:rPr>
              <a:t>nDCG@3 0.735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F"/>
                </a:solidFill>
              </a:rPr>
              <a:t>Recall@3 0.780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0" y="4919472"/>
            <a:ext cx="3108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26078"/>
                </a:solidFill>
              </a:rPr>
              <a:t>Wichtig: Das ist die anspruchsvollere RAG-Einstellung, weil Modul und korrektes Feld stimmen müssen.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" y="59893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D"/>
                </a:solidFill>
              </a:rPr>
              <a:t>Quelle: docs/evaluation_results.md im Projekt-Repository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versteht das System wirklich?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Natürliche Sprache ja, aber ohne übertriebene Versprechen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4.129099595049378e+127" dist="6.606559352079002e+127" dir="5.968995832459801e+149">
              <a:srgbClr val="9CA7BD">
                <a:alpha val="1.800000000000001e+15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0976" y="2139696"/>
            <a:ext cx="475488" cy="47548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144268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42F"/>
                </a:solidFill>
              </a:rPr>
              <a:t>Funktioniert gut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22860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Themenfragen ohne Modulnummer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Paraphrasen über Dense/Hybrid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Deutsch, English und Türkçe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nach Prüfung, ECTS oder Inhalten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4069080" y="1847088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9F2">
              <a:alpha val="98000"/>
            </a:srgbClr>
          </a:solidFill>
          <a:ln w="10160">
            <a:solidFill>
              <a:srgbClr val="F7DFC1">
                <a:alpha val="90000"/>
              </a:srgbClr>
            </a:solidFill>
            <a:prstDash val="solid"/>
          </a:ln>
          <a:effectLst>
            <a:outerShdw sx="100000" sy="100000" kx="0" ky="0" algn="bl" rotWithShape="0" blurRad="5.243956485712711e+131" dist="8.390330377140333e+131" dir="3.581397499475881e+154">
              <a:srgbClr val="9CA7BD">
                <a:alpha val="1.800000000000001e+1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2139696"/>
            <a:ext cx="475488" cy="475488"/>
          </a:xfrm>
          <a:prstGeom prst="ellipse">
            <a:avLst/>
          </a:prstGeom>
          <a:solidFill>
            <a:srgbClr val="FFF1DE"/>
          </a:solidFill>
          <a:ln w="12700">
            <a:solidFill>
              <a:srgbClr val="FFF1DE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FFB65C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61688" y="2144268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6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2194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42F"/>
                </a:solidFill>
              </a:rPr>
              <a:t>Bleibt schwierig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62272" y="2880360"/>
            <a:ext cx="22860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vage Fragen ohne Kontext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Mehrere gleichartige Module im selben Korpus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Antworten, die mehrere Felder kombinieren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Cross-linguale Suche ohne Dense-Modell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7479792" y="1847088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6.659824736855143e+135" dist="1.0655719578968222e+136" dir="2.1488384996855287e+159">
              <a:srgbClr val="9CA7BD">
                <a:alpha val="1.800000000000001e+16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0" y="2139696"/>
            <a:ext cx="475488" cy="475488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2144268"/>
            <a:ext cx="475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75904" y="2194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42F"/>
                </a:solidFill>
              </a:rPr>
              <a:t>Methodisch sauber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872984" y="2880360"/>
            <a:ext cx="22860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 und Korpus werden angezeigt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Quellen bleiben sichtbar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BM25-Boost wird als Ablation berichtet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LLM-Antwort ist optional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658368" y="5669280"/>
            <a:ext cx="987552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8064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7142F"/>
                </a:solidFill>
              </a:rPr>
              <a:t>Präsentationsclaim: Explizite Modulnamen helfen, sind aber nicht zwingend nötig. Hybrid Retrieval ist der robuste Default für freie Fragen.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502920" cy="256032"/>
          </a:xfrm>
          <a:prstGeom prst="roundRect">
            <a:avLst>
              <a:gd name="adj" fmla="val 28571"/>
            </a:avLst>
          </a:prstGeom>
          <a:solidFill>
            <a:srgbClr val="EEF1FF"/>
          </a:solidFill>
          <a:ln w="10160">
            <a:solidFill>
              <a:srgbClr val="5F7CFF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466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714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Fazit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Wesentliche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315468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8.457977415806031e+139" dist="1.3532763865289643e+140" dir="1.2893030998113172e+164">
              <a:srgbClr val="9CA7BD">
                <a:alpha val="1.800000000000001e+16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0976" y="2633472"/>
            <a:ext cx="493776" cy="493776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263804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54480" y="26883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7142F"/>
                </a:solidFill>
              </a:rPr>
              <a:t>Präzise Evidenz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554480" y="3182112"/>
            <a:ext cx="502920" cy="0"/>
          </a:xfrm>
          <a:prstGeom prst="line">
            <a:avLst/>
          </a:prstGeom>
          <a:noFill/>
          <a:ln w="38100">
            <a:solidFill>
              <a:srgbClr val="A9C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52044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26078"/>
                </a:solidFill>
              </a:rPr>
              <a:t>Struktur-aware Chunking verbessert die Auffindbarkeit relevanter Textstellen.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4151376" y="2331720"/>
            <a:ext cx="315468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074163131807366e+144" dist="1.7186610108917847e+144" dir="7.735818598867904e+168">
              <a:srgbClr val="9CA7BD">
                <a:alpha val="1.800000000000001e+17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43984" y="2633472"/>
            <a:ext cx="493776" cy="493776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9B74FF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43984" y="263804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7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◯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47488" y="26883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7142F"/>
                </a:solidFill>
              </a:rPr>
              <a:t>Natürliche Sprache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047488" y="3182112"/>
            <a:ext cx="502920" cy="0"/>
          </a:xfrm>
          <a:prstGeom prst="line">
            <a:avLst/>
          </a:prstGeom>
          <a:noFill/>
          <a:ln w="38100">
            <a:solidFill>
              <a:srgbClr val="C8B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352044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26078"/>
                </a:solidFill>
              </a:rPr>
              <a:t>Fragen können frei formuliert werden, auch ohne Modulnummer.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7644384" y="2331720"/>
            <a:ext cx="315468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  <a:effectLst>
            <a:outerShdw sx="100000" sy="100000" kx="0" ky="0" algn="bl" rotWithShape="0" blurRad="1.3641871773953548e+148" dist="2.1826994838325667e+148" dir="4.6414911593207425e+173">
              <a:srgbClr val="9CA7BD">
                <a:alpha val="1.800000000000001e+17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36992" y="2633472"/>
            <a:ext cx="493776" cy="493776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36992" y="263804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0496" y="26883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7142F"/>
                </a:solidFill>
              </a:rPr>
              <a:t>Klare Demo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540496" y="3182112"/>
            <a:ext cx="502920" cy="0"/>
          </a:xfrm>
          <a:prstGeom prst="line">
            <a:avLst/>
          </a:prstGeom>
          <a:noFill/>
          <a:ln w="38100">
            <a:solidFill>
              <a:srgbClr val="A9C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3520440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26078"/>
                </a:solidFill>
              </a:rPr>
              <a:t>Korpuswahl, Retriever und Quellen bleiben im modernen Interface sichtbar.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58368" y="5138928"/>
            <a:ext cx="10424160" cy="749808"/>
          </a:xfrm>
          <a:prstGeom prst="roundRect">
            <a:avLst>
              <a:gd name="adj" fmla="val 14634"/>
            </a:avLst>
          </a:prstGeom>
          <a:solidFill>
            <a:srgbClr val="FFFFFF">
              <a:alpha val="98000"/>
            </a:srgbClr>
          </a:solidFill>
          <a:ln w="10160">
            <a:solidFill>
              <a:srgbClr val="E2E7F2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5321808"/>
            <a:ext cx="365760" cy="365760"/>
          </a:xfrm>
          <a:prstGeom prst="ellipse">
            <a:avLst/>
          </a:prstGeom>
          <a:solidFill>
            <a:srgbClr val="EEF1FF"/>
          </a:solidFill>
          <a:ln w="12700">
            <a:solidFill>
              <a:srgbClr val="EEF1FF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5F7CFF">
                <a:alpha val="11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5326380"/>
            <a:ext cx="365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44752" y="53766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7CFF"/>
                </a:solidFill>
              </a:rPr>
              <a:t>Demo-Frage: Welche Veranstaltung behandelt Information Retrieval?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98280" y="52852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07142F"/>
                </a:solidFill>
              </a:rPr>
              <a:t>Danke.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658368" y="63825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Seminar Suchmaschinen · LMU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5B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Modulhandbuch-RAG</dc:title>
  <dc:subject>Seminar Suchmaschinen, LMU</dc:subject>
  <dc:creator>Modulhandbuch-RAG Team</dc:creator>
  <cp:lastModifiedBy>Modulhandbuch-RAG Team</cp:lastModifiedBy>
  <cp:revision>1</cp:revision>
  <dcterms:created xsi:type="dcterms:W3CDTF">2026-07-12T10:32:01Z</dcterms:created>
  <dcterms:modified xsi:type="dcterms:W3CDTF">2026-07-12T10:32:01Z</dcterms:modified>
</cp:coreProperties>
</file>