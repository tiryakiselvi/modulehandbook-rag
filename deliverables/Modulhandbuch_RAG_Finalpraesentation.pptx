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1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2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3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c1dd0734fd14ebf" /><Relationship Type="http://schemas.openxmlformats.org/officeDocument/2006/relationships/extended-properties" Target="/docProps/app.xml" Id="R1b92344287bf4dc5" /><Relationship Type="http://schemas.openxmlformats.org/officeDocument/2006/relationships/officeDocument" Target="/ppt/presentation.xml" Id="Rcf6fd4c329b847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ef461dc8b984dfa"/>
  </p:sldMasterIdLst>
  <p:notesMasterIdLst>
    <p:notesMasterId xmlns:r="http://schemas.openxmlformats.org/officeDocument/2006/relationships" r:id="R5e488201b3cd41e6"/>
  </p:notesMasterIdLst>
  <p:sldIdLst>
    <p:sldId xmlns:r="http://schemas.openxmlformats.org/officeDocument/2006/relationships" id="256" r:id="Rf03f81902de2491b"/>
    <p:sldId xmlns:r="http://schemas.openxmlformats.org/officeDocument/2006/relationships" id="257" r:id="Rff3944c1b4ca4662"/>
    <p:sldId xmlns:r="http://schemas.openxmlformats.org/officeDocument/2006/relationships" id="258" r:id="R5fd3a024adf74398"/>
    <p:sldId xmlns:r="http://schemas.openxmlformats.org/officeDocument/2006/relationships" id="259" r:id="Rf35b2cb33fe94b2c"/>
    <p:sldId xmlns:r="http://schemas.openxmlformats.org/officeDocument/2006/relationships" id="260" r:id="R81322f18d9064b77"/>
    <p:sldId xmlns:r="http://schemas.openxmlformats.org/officeDocument/2006/relationships" id="261" r:id="R43dfc1f479834aa1"/>
    <p:sldId xmlns:r="http://schemas.openxmlformats.org/officeDocument/2006/relationships" id="262" r:id="R24229a73ffc44339"/>
    <p:sldId xmlns:r="http://schemas.openxmlformats.org/officeDocument/2006/relationships" id="263" r:id="Ra449fd28ee75421f"/>
    <p:sldId xmlns:r="http://schemas.openxmlformats.org/officeDocument/2006/relationships" id="264" r:id="R586fcc6b66104ac4"/>
    <p:sldId xmlns:r="http://schemas.openxmlformats.org/officeDocument/2006/relationships" id="265" r:id="Ref714837be2842fa"/>
    <p:sldId xmlns:r="http://schemas.openxmlformats.org/officeDocument/2006/relationships" id="266" r:id="Re63f6247af7f4eb3"/>
    <p:sldId xmlns:r="http://schemas.openxmlformats.org/officeDocument/2006/relationships" id="267" r:id="R23fa182787ad45e7"/>
    <p:sldId xmlns:r="http://schemas.openxmlformats.org/officeDocument/2006/relationships" id="268" r:id="R6781128936bf4423"/>
    <p:sldId xmlns:r="http://schemas.openxmlformats.org/officeDocument/2006/relationships" id="269" r:id="R7208eda5036245f7"/>
    <p:sldId xmlns:r="http://schemas.openxmlformats.org/officeDocument/2006/relationships" id="270" r:id="R48fae523dac5475d"/>
    <p:sldId xmlns:r="http://schemas.openxmlformats.org/officeDocument/2006/relationships" id="271" r:id="Rad290437089648ee"/>
    <p:sldId xmlns:r="http://schemas.openxmlformats.org/officeDocument/2006/relationships" id="272" r:id="Rc7904f73cca34a3a"/>
    <p:sldId xmlns:r="http://schemas.openxmlformats.org/officeDocument/2006/relationships" id="273" r:id="R3a6ef48348b74c42"/>
    <p:sldId xmlns:r="http://schemas.openxmlformats.org/officeDocument/2006/relationships" id="274" r:id="R3648ae539bc648a8"/>
    <p:sldId xmlns:r="http://schemas.openxmlformats.org/officeDocument/2006/relationships" id="275" r:id="R0e24a27154384b8f"/>
    <p:sldId xmlns:r="http://schemas.openxmlformats.org/officeDocument/2006/relationships" id="276" r:id="Ra041069946a84e6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81c55813ed74509" /><Relationship Type="http://schemas.openxmlformats.org/officeDocument/2006/relationships/slideMaster" Target="/ppt/slideMasters/slideMaster1.xml" Id="R4ef461dc8b984dfa" /><Relationship Type="http://schemas.openxmlformats.org/officeDocument/2006/relationships/notesMaster" Target="/ppt/notesMasters/notesMaster1.xml" Id="R5e488201b3cd41e6" /><Relationship Type="http://schemas.openxmlformats.org/officeDocument/2006/relationships/presProps" Target="/ppt/presProps.xml" Id="R38e937bd47fc4e2c" /><Relationship Type="http://schemas.openxmlformats.org/officeDocument/2006/relationships/tableStyles" Target="/ppt/tableStyles.xml" Id="R3be334aa5e1847ed" /><Relationship Type="http://schemas.openxmlformats.org/officeDocument/2006/relationships/slide" Target="/ppt/slides/slide1.xml" Id="Rf03f81902de2491b" /><Relationship Type="http://schemas.openxmlformats.org/officeDocument/2006/relationships/slide" Target="/ppt/slides/slide2.xml" Id="Rff3944c1b4ca4662" /><Relationship Type="http://schemas.openxmlformats.org/officeDocument/2006/relationships/slide" Target="/ppt/slides/slide3.xml" Id="R5fd3a024adf74398" /><Relationship Type="http://schemas.openxmlformats.org/officeDocument/2006/relationships/slide" Target="/ppt/slides/slide4.xml" Id="Rf35b2cb33fe94b2c" /><Relationship Type="http://schemas.openxmlformats.org/officeDocument/2006/relationships/slide" Target="/ppt/slides/slide5.xml" Id="R81322f18d9064b77" /><Relationship Type="http://schemas.openxmlformats.org/officeDocument/2006/relationships/slide" Target="/ppt/slides/slide6.xml" Id="R43dfc1f479834aa1" /><Relationship Type="http://schemas.openxmlformats.org/officeDocument/2006/relationships/slide" Target="/ppt/slides/slide7.xml" Id="R24229a73ffc44339" /><Relationship Type="http://schemas.openxmlformats.org/officeDocument/2006/relationships/slide" Target="/ppt/slides/slide8.xml" Id="Ra449fd28ee75421f" /><Relationship Type="http://schemas.openxmlformats.org/officeDocument/2006/relationships/slide" Target="/ppt/slides/slide9.xml" Id="R586fcc6b66104ac4" /><Relationship Type="http://schemas.openxmlformats.org/officeDocument/2006/relationships/slide" Target="/ppt/slides/slide10.xml" Id="Ref714837be2842fa" /><Relationship Type="http://schemas.openxmlformats.org/officeDocument/2006/relationships/slide" Target="/ppt/slides/slide11.xml" Id="Re63f6247af7f4eb3" /><Relationship Type="http://schemas.openxmlformats.org/officeDocument/2006/relationships/slide" Target="/ppt/slides/slide12.xml" Id="R23fa182787ad45e7" /><Relationship Type="http://schemas.openxmlformats.org/officeDocument/2006/relationships/slide" Target="/ppt/slides/slide13.xml" Id="R6781128936bf4423" /><Relationship Type="http://schemas.openxmlformats.org/officeDocument/2006/relationships/slide" Target="/ppt/slides/slide14.xml" Id="R7208eda5036245f7" /><Relationship Type="http://schemas.openxmlformats.org/officeDocument/2006/relationships/slide" Target="/ppt/slides/slide15.xml" Id="R48fae523dac5475d" /><Relationship Type="http://schemas.openxmlformats.org/officeDocument/2006/relationships/slide" Target="/ppt/slides/slide16.xml" Id="Rad290437089648ee" /><Relationship Type="http://schemas.openxmlformats.org/officeDocument/2006/relationships/slide" Target="/ppt/slides/slide17.xml" Id="Rc7904f73cca34a3a" /><Relationship Type="http://schemas.openxmlformats.org/officeDocument/2006/relationships/slide" Target="/ppt/slides/slide18.xml" Id="R3a6ef48348b74c42" /><Relationship Type="http://schemas.openxmlformats.org/officeDocument/2006/relationships/slide" Target="/ppt/slides/slide19.xml" Id="R3648ae539bc648a8" /><Relationship Type="http://schemas.openxmlformats.org/officeDocument/2006/relationships/slide" Target="/ppt/slides/slide20.xml" Id="R0e24a27154384b8f" /><Relationship Type="http://schemas.openxmlformats.org/officeDocument/2006/relationships/slide" Target="/ppt/slides/slide21.xml" Id="Ra041069946a84e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a6f56ec1f9d48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327e474e9e46c0" /><Relationship Type="http://schemas.openxmlformats.org/officeDocument/2006/relationships/notesMaster" Target="/ppt/notesMasters/notesMaster1.xml" Id="Rc00b4f6513f447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5e3881977540b3" /><Relationship Type="http://schemas.openxmlformats.org/officeDocument/2006/relationships/notesMaster" Target="/ppt/notesMasters/notesMaster1.xml" Id="R4c6490dbfc20424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2377e649b6c4480" /><Relationship Type="http://schemas.openxmlformats.org/officeDocument/2006/relationships/notesMaster" Target="/ppt/notesMasters/notesMaster1.xml" Id="Rdf5b9e6fc1904da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ad9f2ca9550413f" /><Relationship Type="http://schemas.openxmlformats.org/officeDocument/2006/relationships/notesMaster" Target="/ppt/notesMasters/notesMaster1.xml" Id="Rccaa2e6e60c34e5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29bb895a66b494a" /><Relationship Type="http://schemas.openxmlformats.org/officeDocument/2006/relationships/notesMaster" Target="/ppt/notesMasters/notesMaster1.xml" Id="R9dfe7bcebc484f9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a300a832bd4473a" /><Relationship Type="http://schemas.openxmlformats.org/officeDocument/2006/relationships/notesMaster" Target="/ppt/notesMasters/notesMaster1.xml" Id="Ref1876b04fbd41e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0d22ae64c084458" /><Relationship Type="http://schemas.openxmlformats.org/officeDocument/2006/relationships/notesMaster" Target="/ppt/notesMasters/notesMaster1.xml" Id="Rdb228ca2acd74f9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be078f2072e46eb" /><Relationship Type="http://schemas.openxmlformats.org/officeDocument/2006/relationships/notesMaster" Target="/ppt/notesMasters/notesMaster1.xml" Id="Rff6004b079de430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a0137f9f5f04a7c" /><Relationship Type="http://schemas.openxmlformats.org/officeDocument/2006/relationships/notesMaster" Target="/ppt/notesMasters/notesMaster1.xml" Id="Ra3274330c1a2431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da6128537b841ec" /><Relationship Type="http://schemas.openxmlformats.org/officeDocument/2006/relationships/notesMaster" Target="/ppt/notesMasters/notesMaster1.xml" Id="R958b38a08ebc42d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910e7fdccdb4fe2" /><Relationship Type="http://schemas.openxmlformats.org/officeDocument/2006/relationships/notesMaster" Target="/ppt/notesMasters/notesMaster1.xml" Id="Re0e94cf86592409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d59a491de15415f" /><Relationship Type="http://schemas.openxmlformats.org/officeDocument/2006/relationships/notesMaster" Target="/ppt/notesMasters/notesMaster1.xml" Id="Rabf58d9e08e040c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7e211eb2dd24997" /><Relationship Type="http://schemas.openxmlformats.org/officeDocument/2006/relationships/notesMaster" Target="/ppt/notesMasters/notesMaster1.xml" Id="Re200b895fecd406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21e115d7a1140f7" /><Relationship Type="http://schemas.openxmlformats.org/officeDocument/2006/relationships/notesMaster" Target="/ppt/notesMasters/notesMaster1.xml" Id="R0dec65b0124f4e5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d3e253200cc42c5" /><Relationship Type="http://schemas.openxmlformats.org/officeDocument/2006/relationships/notesMaster" Target="/ppt/notesMasters/notesMaster1.xml" Id="R9371a886fcc24e2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113f01a21f14a14" /><Relationship Type="http://schemas.openxmlformats.org/officeDocument/2006/relationships/notesMaster" Target="/ppt/notesMasters/notesMaster1.xml" Id="R54710a88015b4ca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a79cd82ac91457a" /><Relationship Type="http://schemas.openxmlformats.org/officeDocument/2006/relationships/notesMaster" Target="/ppt/notesMasters/notesMaster1.xml" Id="R73a5acf181ee43e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42cf11d1bc348e6" /><Relationship Type="http://schemas.openxmlformats.org/officeDocument/2006/relationships/notesMaster" Target="/ppt/notesMasters/notesMaster1.xml" Id="Reff1cb66e6ff442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22da3363706447f" /><Relationship Type="http://schemas.openxmlformats.org/officeDocument/2006/relationships/notesMaster" Target="/ppt/notesMasters/notesMaster1.xml" Id="R76afd65e40b24fc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35639ab85a24689" /><Relationship Type="http://schemas.openxmlformats.org/officeDocument/2006/relationships/notesMaster" Target="/ppt/notesMasters/notesMaster1.xml" Id="R6af8b17e69494ac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a9c90304d7f4fb5" /><Relationship Type="http://schemas.openxmlformats.org/officeDocument/2006/relationships/notesMaster" Target="/ppt/notesMasters/notesMaster1.xml" Id="R6713f635cbfc49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Selvi eröffnet: Ausgangspunkt ist eine einfache Frage mit einer schwierigen Evidenzkette. Danach kurz den Umfang nennen: sieben PDFs technisch verarbeitet, 43 Gold-Anfragen, drei Sprachen.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Die Beispielanfrage laut vorlesen. Dann die vier Stationen zeigen: PDF, Modul, Abschnitt und Beleg. Der zentrale Punkt: Ein sprachlich plausibler Treffer kann strukturell falsch sein.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Diese Folie trennt bewusst Retrieval und Generierung. Jeder frühe Fehler kann später nur noch schön formuliert werden. Deshalb messen wir zuerst, ob Dokument, Modul und Abschnitt stimmen.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Die drei Forschungsfragen knapp ankündigen. Erst Chunking, dann Retriever, dann Antwortverhalten. Damit ist zugleich die Struktur der restlichen Präsentation erklärt.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Die wissenschaftliche Grenze ausdrücklich sagen: Alle sieben PDFs laufen durch die Pipeline. Qualitätsmetriken stammen aber nur aus dem manuell gelabelten CL-Bachelor-Handbuch. Für die übrigen sechs erfinden wir keine Goldwerte.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Die Pipeline nur einmal von links nach rechts erklären. Wichtig ist die Policy zwischen Retrieval und Beleg: Nicht jede Anfrage darf direkt an das Sprachmodell weitergegeben werden.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Hier die frühere Angabe korrigieren: Naive Chunking verwendet 900 Zeichen mit 120 Zeichen Überlappung, nicht 180 Wörter. Danach den Zielkonflikt erklären: Modulkontext versus feldgenaue Evidenz.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Zuerst das Suchziel wiederholen: Nur das richtige Modul zählt. Dann 96 Prozent Hit@1 hervorheben. Field Chunking bleibt mit 84 Prozent gut, ist aber für die nächste, strengere Aufgabe gedacht.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Dieses Beispiel löst den scheinbaren Widerspruch zwischen hohen Modulwerten und niedrigeren Feldwerten auf. WP3 ist richtig, aber der relevante Abschnitt Inhalte steht erst auf Rang zwei.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Alpha eindeutig definieren: Es ist der Dense-Anteil. Bei alpha 0,25 kommen also 75 Prozent des kombinierten Scores aus BM25. Damit vermeiden wir eine häufige Fehlinterpretation der Ergebnisse.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Relaxed und strict sind keine zwei Versionen derselben Zahl. Sie prüfen unterschiedliche Ziele. Wir zeigen deshalb strukturell ungeeignete Kombinationen nicht als Nullwerte.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Die Ablation zeigt, woher die BM25-Leistung kommt. Query Expansion bringt den großen Sprung. Der Section Boost sortiert Rang eins besser, kostet aber zwei Punkte Recall@3 – ein echter Trade-off, kein Fehler.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Die beiden Ziele auseinanderhalten: alpha 0,25 ist die beste Wahl für Rang eins; alpha 0,50 findet mit 90 Prozent etwas mehr in den Top drei. Die korrigierten finalen Werte stammen aus dem deterministischen Release-Lauf.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Wir vergleichen nicht verschiedene Fragen, sondern dieselben sechs Intentionen in Deutsch, Englisch und Türkisch. Dokument, Modul und Abschnitt im Gold bleiben identisch.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Den vollständigen Recall hervorheben, aber die kleine Stichprobe nennen. BM25 erzielt schon 94,4 Prozent Recall@3. Hybrid verbessert Rang eins und schließt die letzte Recall-Lücke.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Nicht nur Fehler zeigen: q07 ist bei Hit@1 falsch, hat aber vollständigen Recall@3. q10 ist bei zwei relevanten Goldfeldern nur teilweise vollständig. Rechts den Stresstest strikt als Integritätsprüfung abgrenzen.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Diese Auswertung nicht als allgemeine LLM-Qualität verkaufen. Geprüft wird die kontrollierte Systempolitik in sechs Fällen mit je drei Wiederholungen. Die Werte gelten genau für diesen Pilotaufbau.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Vor dem Wechsel den Ablauf ankündigen. Genau diese drei Fragen in dieser Reihenfolge eingeben. Falls die Oberfläche nicht startet, sofort auf das Excel-Dashboard und den Antwortpilot wechseln; nicht live debuggen.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Mit drei belastbaren Befunden schließen. Dann die Grenzen offen nennen. Der letzte Satz ist die gemeinsame Leitidee und eignet sich als Übergang zu Fragen.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Nur bei Nachfrage öffnen. Hit@1 und Recall@3 sind die Hauptmetriken; MRR und nDCG erklären Rangposition und Reihenfolge genauer.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Nur bei Reproduktionsfragen öffnen. Den einen Release-Befehl, den Commit und 13 bestandene Tests zeigen. Offline bedeutet hier nicht ein anderes Modell, sondern ausschließlich keine externe Versionsprüfung.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c3b3825e6b438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b56f7e4f644c2e" /><Relationship Type="http://schemas.openxmlformats.org/officeDocument/2006/relationships/slideLayout" Target="/ppt/slideLayouts/slideLayout1.xml" Id="R6b48efc7c1894ae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48efc7c1894ae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fa71a7864c4256" /><Relationship Type="http://schemas.openxmlformats.org/officeDocument/2006/relationships/notesSlide" Target="/ppt/notesSlides/notesSlide1.xml" Id="R95477a985e03413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6f519cea1c4564" /><Relationship Type="http://schemas.openxmlformats.org/officeDocument/2006/relationships/notesSlide" Target="/ppt/notesSlides/notesSlide2.xml" Id="Rfb447595804149c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a40b5ebc8f4e7a" /><Relationship Type="http://schemas.openxmlformats.org/officeDocument/2006/relationships/notesSlide" Target="/ppt/notesSlides/notesSlide3.xml" Id="Rb2f06dc9e1cd4c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afc3fcf20c4466" /><Relationship Type="http://schemas.openxmlformats.org/officeDocument/2006/relationships/notesSlide" Target="/ppt/notesSlides/notesSlide4.xml" Id="R9b786a523d784d5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54c006cb87402a" /><Relationship Type="http://schemas.openxmlformats.org/officeDocument/2006/relationships/notesSlide" Target="/ppt/notesSlides/notesSlide5.xml" Id="R6091c14e3f6348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ca62498fa543c6" /><Relationship Type="http://schemas.openxmlformats.org/officeDocument/2006/relationships/notesSlide" Target="/ppt/notesSlides/notesSlide6.xml" Id="Rfac8a7f7f5564f7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6ec24c87434344" /><Relationship Type="http://schemas.openxmlformats.org/officeDocument/2006/relationships/notesSlide" Target="/ppt/notesSlides/notesSlide7.xml" Id="Re0f82304ddef48d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9943fb7bd748da" /><Relationship Type="http://schemas.openxmlformats.org/officeDocument/2006/relationships/notesSlide" Target="/ppt/notesSlides/notesSlide8.xml" Id="R0b68a683456d489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5423f4d0ea4343" /><Relationship Type="http://schemas.openxmlformats.org/officeDocument/2006/relationships/notesSlide" Target="/ppt/notesSlides/notesSlide9.xml" Id="R7c6af1c92d08438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fa91a6126841d6" /><Relationship Type="http://schemas.openxmlformats.org/officeDocument/2006/relationships/notesSlide" Target="/ppt/notesSlides/notesSlide10.xml" Id="Ref24189e4acb4c2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52fd583e2448c5" /><Relationship Type="http://schemas.openxmlformats.org/officeDocument/2006/relationships/notesSlide" Target="/ppt/notesSlides/notesSlide11.xml" Id="R1c11ee68381e4f3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e03fe7a26c4a28" /><Relationship Type="http://schemas.openxmlformats.org/officeDocument/2006/relationships/chart" Target="/ppt/slides/charts/chart1.xml" Id="R104d5de9368e4fc6" /><Relationship Type="http://schemas.openxmlformats.org/officeDocument/2006/relationships/notesSlide" Target="/ppt/notesSlides/notesSlide12.xml" Id="R9c3fda470a10433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e274d2e0314cd3" /><Relationship Type="http://schemas.openxmlformats.org/officeDocument/2006/relationships/chart" Target="/ppt/slides/charts/chart2.xml" Id="Ra315fde857cb4fef" /><Relationship Type="http://schemas.openxmlformats.org/officeDocument/2006/relationships/notesSlide" Target="/ppt/notesSlides/notesSlide13.xml" Id="R6a035258c1de4f8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4198b0b49744fd" /><Relationship Type="http://schemas.openxmlformats.org/officeDocument/2006/relationships/notesSlide" Target="/ppt/notesSlides/notesSlide14.xml" Id="R14ea210b5cdb45d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b500c0bd184543" /><Relationship Type="http://schemas.openxmlformats.org/officeDocument/2006/relationships/chart" Target="/ppt/slides/charts/chart3.xml" Id="Rafdf4176668944e2" /><Relationship Type="http://schemas.openxmlformats.org/officeDocument/2006/relationships/notesSlide" Target="/ppt/notesSlides/notesSlide15.xml" Id="R5aea22bdbf9c471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dc60c7d98344db" /><Relationship Type="http://schemas.openxmlformats.org/officeDocument/2006/relationships/notesSlide" Target="/ppt/notesSlides/notesSlide16.xml" Id="Rd09f2f0407df455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e176e564784c19" /><Relationship Type="http://schemas.openxmlformats.org/officeDocument/2006/relationships/notesSlide" Target="/ppt/notesSlides/notesSlide17.xml" Id="R10d4f7c9add9476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8a135a05fc4f35" /><Relationship Type="http://schemas.openxmlformats.org/officeDocument/2006/relationships/notesSlide" Target="/ppt/notesSlides/notesSlide18.xml" Id="R25d40e4dad9942c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2978b7a10a454d" /><Relationship Type="http://schemas.openxmlformats.org/officeDocument/2006/relationships/notesSlide" Target="/ppt/notesSlides/notesSlide19.xml" Id="R8fd855f38ae4444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f9986bc1064d0f" /><Relationship Type="http://schemas.openxmlformats.org/officeDocument/2006/relationships/notesSlide" Target="/ppt/notesSlides/notesSlide20.xml" Id="Ra99ee3e5646b48b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15be9e57eb466f" /><Relationship Type="http://schemas.openxmlformats.org/officeDocument/2006/relationships/notesSlide" Target="/ppt/notesSlides/notesSlide21.xml" Id="R2f2d45e14f8f4be2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Hit@1</c:v>
          </c:tx>
          <c:spPr>
            <a:solidFill xmlns:a="http://schemas.openxmlformats.org/drawingml/2006/main">
              <a:srgbClr val="2F69D3"/>
            </a:solidFill>
          </c:spPr>
          <c:cat>
            <c:strLit>
              <c:ptCount val="3"/>
              <c:pt idx="0">
                <c:v>Plain</c:v>
              </c:pt>
              <c:pt idx="1">
                <c:v>+ Query Expansion</c:v>
              </c:pt>
              <c:pt idx="2">
                <c:v>+ Section Boost</c:v>
              </c:pt>
            </c:strLit>
          </c:cat>
          <c:val>
            <c:numLit>
              <c:formatCode>0%</c:formatCode>
              <c:ptCount val="3"/>
              <c:pt idx="0">
                <c:v>0.28</c:v>
              </c:pt>
              <c:pt idx="1">
                <c:v>0.56</c:v>
              </c:pt>
              <c:pt idx="2">
                <c:v>0.68</c:v>
              </c:pt>
            </c:numLit>
          </c:val>
        </c:ser>
        <c:ser>
          <c:idx val="1"/>
          <c:order val="1"/>
          <c:tx>
            <c:v>Recall@3</c:v>
          </c:tx>
          <c:spPr>
            <a:solidFill xmlns:a="http://schemas.openxmlformats.org/drawingml/2006/main">
              <a:srgbClr val="0B8F6A"/>
            </a:solidFill>
          </c:spPr>
          <c:cat>
            <c:strLit>
              <c:ptCount val="3"/>
              <c:pt idx="0">
                <c:v>Plain</c:v>
              </c:pt>
              <c:pt idx="1">
                <c:v>+ Query Expansion</c:v>
              </c:pt>
              <c:pt idx="2">
                <c:v>+ Section Boost</c:v>
              </c:pt>
            </c:strLit>
          </c:cat>
          <c:val>
            <c:numLit>
              <c:formatCode>0%</c:formatCode>
              <c:ptCount val="3"/>
              <c:pt idx="0">
                <c:v>0.28</c:v>
              </c:pt>
              <c:pt idx="1">
                <c:v>0.8</c:v>
              </c:pt>
              <c:pt idx="2">
                <c:v>0.78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DE3E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11827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3E6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667085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Hit@1</c:v>
          </c:tx>
          <c:spPr>
            <a:solidFill xmlns:a="http://schemas.openxmlformats.org/drawingml/2006/main">
              <a:srgbClr val="2F69D3"/>
            </a:solidFill>
          </c:spPr>
          <c:cat>
            <c:strLit>
              <c:ptCount val="4"/>
              <c:pt idx="0">
                <c:v>Dense</c:v>
              </c:pt>
              <c:pt idx="1">
                <c:v>BM25</c:v>
              </c:pt>
              <c:pt idx="2">
                <c:v>Hybrid α=.25</c:v>
              </c:pt>
              <c:pt idx="3">
                <c:v>Hybrid α=.50</c:v>
              </c:pt>
            </c:strLit>
          </c:cat>
          <c:val>
            <c:numLit>
              <c:formatCode>0%</c:formatCode>
              <c:ptCount val="4"/>
              <c:pt idx="0">
                <c:v>0.28</c:v>
              </c:pt>
              <c:pt idx="1">
                <c:v>0.68</c:v>
              </c:pt>
              <c:pt idx="2">
                <c:v>0.72</c:v>
              </c:pt>
              <c:pt idx="3">
                <c:v>0.64</c:v>
              </c:pt>
            </c:numLit>
          </c:val>
        </c:ser>
        <c:ser>
          <c:idx val="1"/>
          <c:order val="1"/>
          <c:tx>
            <c:v>Recall@3</c:v>
          </c:tx>
          <c:spPr>
            <a:solidFill xmlns:a="http://schemas.openxmlformats.org/drawingml/2006/main">
              <a:srgbClr val="0B8F6A"/>
            </a:solidFill>
          </c:spPr>
          <c:cat>
            <c:strLit>
              <c:ptCount val="4"/>
              <c:pt idx="0">
                <c:v>Dense</c:v>
              </c:pt>
              <c:pt idx="1">
                <c:v>BM25</c:v>
              </c:pt>
              <c:pt idx="2">
                <c:v>Hybrid α=.25</c:v>
              </c:pt>
              <c:pt idx="3">
                <c:v>Hybrid α=.50</c:v>
              </c:pt>
            </c:strLit>
          </c:cat>
          <c:val>
            <c:numLit>
              <c:formatCode>0%</c:formatCode>
              <c:ptCount val="4"/>
              <c:pt idx="0">
                <c:v>0.4</c:v>
              </c:pt>
              <c:pt idx="1">
                <c:v>0.78</c:v>
              </c:pt>
              <c:pt idx="2">
                <c:v>0.88</c:v>
              </c:pt>
              <c:pt idx="3">
                <c:v>0.9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DE3E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11827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3E6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667085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Hit@1</c:v>
          </c:tx>
          <c:spPr>
            <a:solidFill xmlns:a="http://schemas.openxmlformats.org/drawingml/2006/main">
              <a:srgbClr val="2F69D3"/>
            </a:solidFill>
          </c:spPr>
          <c:cat>
            <c:strLit>
              <c:ptCount val="3"/>
              <c:pt idx="0">
                <c:v>Dense</c:v>
              </c:pt>
              <c:pt idx="1">
                <c:v>BM25</c:v>
              </c:pt>
              <c:pt idx="2">
                <c:v>Hybrid α=.25</c:v>
              </c:pt>
            </c:strLit>
          </c:cat>
          <c:val>
            <c:numLit>
              <c:formatCode>0%</c:formatCode>
              <c:ptCount val="3"/>
              <c:pt idx="0">
                <c:v>0.222</c:v>
              </c:pt>
              <c:pt idx="1">
                <c:v>0.667</c:v>
              </c:pt>
              <c:pt idx="2">
                <c:v>0.833</c:v>
              </c:pt>
            </c:numLit>
          </c:val>
        </c:ser>
        <c:ser>
          <c:idx val="1"/>
          <c:order val="1"/>
          <c:tx>
            <c:v>Recall@3</c:v>
          </c:tx>
          <c:spPr>
            <a:solidFill xmlns:a="http://schemas.openxmlformats.org/drawingml/2006/main">
              <a:srgbClr val="0B8F6A"/>
            </a:solidFill>
          </c:spPr>
          <c:cat>
            <c:strLit>
              <c:ptCount val="3"/>
              <c:pt idx="0">
                <c:v>Dense</c:v>
              </c:pt>
              <c:pt idx="1">
                <c:v>BM25</c:v>
              </c:pt>
              <c:pt idx="2">
                <c:v>Hybrid α=.25</c:v>
              </c:pt>
            </c:strLit>
          </c:cat>
          <c:val>
            <c:numLit>
              <c:formatCode>0%</c:formatCode>
              <c:ptCount val="3"/>
              <c:pt idx="0">
                <c:v>0.444</c:v>
              </c:pt>
              <c:pt idx="1">
                <c:v>0.944</c:v>
              </c:pt>
              <c:pt idx="2">
                <c:v>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DE3E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11827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3E6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667085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6E7D6B-2A47-4152-B9CE-0F96C8515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69D3"/>
                </a:solidFill>
              </a:defRPr>
            </a:pPr>
            <a:r>
              <a:rPr sz="900" b="1" i="0">
                <a:solidFill>
                  <a:srgbClr val="2F69D3"/>
                </a:solidFill>
              </a:rPr>
              <a:t>MASTERSEMINAR · LMU MÜNCHEN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55CAAD-A747-4272-B76F-7A55DF8C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70961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111827"/>
                </a:solidFill>
              </a:defRPr>
            </a:pPr>
            <a:r>
              <a:rPr sz="3225" b="1" i="0">
                <a:solidFill>
                  <a:srgbClr val="111827"/>
                </a:solidFill>
              </a:rPr>
              <a:t>RAG-basierte Suche in</a:t>
            </a:r>
          </a:p>
          <a:p xmlns:a="http://schemas.openxmlformats.org/drawingml/2006/main">
            <a:pPr algn="l">
              <a:defRPr sz="3225" b="1" i="0">
                <a:solidFill>
                  <a:srgbClr val="111827"/>
                </a:solidFill>
              </a:defRPr>
            </a:pPr>
            <a:r>
              <a:rPr sz="3225" b="1" i="0">
                <a:solidFill>
                  <a:srgbClr val="111827"/>
                </a:solidFill>
              </a:rPr>
              <a:t>LMU-Modulhandbüchern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666DF5-96D4-492C-8607-6652DFE59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71750"/>
            <a:ext cx="6905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667085"/>
                </a:solidFill>
              </a:defRPr>
            </a:pPr>
            <a:r>
              <a:rPr sz="1575" b="0" i="0">
                <a:solidFill>
                  <a:srgbClr val="667085"/>
                </a:solidFill>
              </a:rPr>
              <a:t>Structure-aware Chunking, multilinguales Retrieval</a:t>
            </a:r>
          </a:p>
          <a:p xmlns:a="http://schemas.openxmlformats.org/drawingml/2006/main">
            <a:pPr algn="l">
              <a:defRPr sz="1575" b="0" i="0">
                <a:solidFill>
                  <a:srgbClr val="667085"/>
                </a:solidFill>
              </a:defRPr>
            </a:pPr>
            <a:r>
              <a:rPr sz="1575" b="0" i="0">
                <a:solidFill>
                  <a:srgbClr val="667085"/>
                </a:solidFill>
              </a:rPr>
              <a:t>und kontrollierte Antwortgenerierung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905F6F-A441-4044-85EE-0E04EB57C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047750"/>
            <a:ext cx="28575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2CAE1D-731D-476E-B297-2B66F9DE7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1239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F69D3"/>
                </a:solidFill>
              </a:defRPr>
            </a:pPr>
            <a:r>
              <a:rPr sz="2850" b="1" i="0">
                <a:solidFill>
                  <a:srgbClr val="2F69D3"/>
                </a:solidFill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1A06AB-624D-4781-90DE-9AB1E7D2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5811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11827"/>
                </a:solidFill>
              </a:defRPr>
            </a:pPr>
            <a:r>
              <a:rPr sz="1050" b="1" i="0">
                <a:solidFill>
                  <a:srgbClr val="111827"/>
                </a:solidFill>
              </a:rPr>
              <a:t>PDFs technisch verarbeitet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0BB864-8AD3-44D8-9A66-9ECC8CC0F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38375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8F6A"/>
                </a:solidFill>
              </a:defRPr>
            </a:pPr>
            <a:r>
              <a:rPr sz="2850" b="1" i="0">
                <a:solidFill>
                  <a:srgbClr val="0B8F6A"/>
                </a:solidFill>
              </a:rPr>
              <a:t>43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5610CE-20DB-4320-9B37-76BB6A7C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95575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11827"/>
                </a:solidFill>
              </a:defRPr>
            </a:pPr>
            <a:r>
              <a:rPr sz="1050" b="1" i="0">
                <a:solidFill>
                  <a:srgbClr val="111827"/>
                </a:solidFill>
              </a:rPr>
              <a:t>Gold-Anfragen: 25 DE + 18 multilingual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8142E7-DEFC-4C58-81A7-2BAA2089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3528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D59B14"/>
                </a:solidFill>
              </a:defRPr>
            </a:pPr>
            <a:r>
              <a:rPr sz="2850" b="1" i="0">
                <a:solidFill>
                  <a:srgbClr val="D59B14"/>
                </a:solidFill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97A9C7-2DBD-4CEA-948B-C1C6208C6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8100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11827"/>
                </a:solidFill>
              </a:defRPr>
            </a:pPr>
            <a:r>
              <a:rPr sz="1050" b="1" i="0">
                <a:solidFill>
                  <a:srgbClr val="111827"/>
                </a:solidFill>
              </a:rPr>
              <a:t>Sprachen: DE · EN · TR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2537EF-D904-42BE-A801-9C903471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827"/>
                </a:solidFill>
              </a:defRPr>
            </a:pPr>
            <a:r>
              <a:rPr sz="1650" b="1" i="0">
                <a:solidFill>
                  <a:srgbClr val="111827"/>
                </a:solidFill>
              </a:rPr>
              <a:t>Selvinaz Tiryaki · Salem Depebe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65B9FF-7771-4EBC-BE63-DA22E6B0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857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085"/>
                </a:solidFill>
              </a:defRPr>
            </a:pPr>
            <a:r>
              <a:rPr sz="1050" b="0" i="0">
                <a:solidFill>
                  <a:srgbClr val="667085"/>
                </a:solidFill>
              </a:rPr>
              <a:t>Masterseminar Suchmaschinen, Retrieval Augmented Generation und Agentensysteme · Juli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5520F3-B140-4EAD-856D-5EBFEE8A7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347662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2841BA-521A-466F-8F5E-EA1A91A3B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007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0B8F6A"/>
                </a:solidFill>
              </a:defRPr>
            </a:pPr>
            <a:r>
              <a:rPr sz="825" b="1" i="0">
                <a:solidFill>
                  <a:srgbClr val="0B8F6A"/>
                </a:solidFill>
              </a:rPr>
              <a:t>Retrieval zuerst. Antworten nur mit Evidenz.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C30952-6A0B-4508-9CCB-01A7473B9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D750B8-6EAF-4010-A056-2FD76C79C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Modulhandbuch-RAG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F8D12A-B30C-4651-ABF8-C9C0933ED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859797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EFF3D4-0147-4F43-AA3B-B3AF56446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69D3"/>
                </a:solidFill>
              </a:defRPr>
            </a:pPr>
            <a:r>
              <a:rPr sz="900" b="1" i="0">
                <a:solidFill>
                  <a:srgbClr val="2F69D3"/>
                </a:solidFill>
              </a:rPr>
              <a:t>MOTIVATION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CBFF37-24DF-4668-A4AB-52A65FA1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11827"/>
                </a:solidFill>
              </a:defRPr>
            </a:pPr>
            <a:r>
              <a:rPr sz="2325" b="1" i="0">
                <a:solidFill>
                  <a:srgbClr val="111827"/>
                </a:solidFill>
              </a:rPr>
              <a:t>Eine kurze Frage verlangt eine lange Evidenzkette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52C356-64B3-498D-BE61-16136FEBE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A74B0F-A360-4903-AE0B-A75AF751F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00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Modulhandbuch-RAG · Selvinaz Tiryaki &amp; Salem Depebe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BECE7B-3665-4D26-B218-3A72F99E2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DB8E41-7FD3-48FA-A0A9-B888C77C7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3810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C65171-C9EF-473A-A203-097504E68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38325"/>
            <a:ext cx="3286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„Welche Prüfungsform hat</a:t>
            </a:r>
          </a:p>
          <a:p xmlns:a="http://schemas.openxmlformats.org/drawingml/2006/main">
            <a:pPr algn="l"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WP3 Information Retrieval?“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F63FDA-A580-4C1A-9738-CE52FA3F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47825"/>
            <a:ext cx="1352550" cy="171450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1FC69B-7653-4285-A5C6-18537041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8097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2F69D3"/>
                </a:solidFill>
              </a:defRPr>
            </a:pPr>
            <a:r>
              <a:rPr sz="2250" b="1" i="0">
                <a:solidFill>
                  <a:srgbClr val="2F69D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5842ED-5926-4F32-B402-5E069F94D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3050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827"/>
                </a:solidFill>
              </a:defRPr>
            </a:pPr>
            <a:r>
              <a:rPr sz="1350" b="1" i="0">
                <a:solidFill>
                  <a:srgbClr val="111827"/>
                </a:solidFill>
              </a:rPr>
              <a:t>PDF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20B156-AB3B-4C64-9FAB-41582224F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686050"/>
            <a:ext cx="104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085"/>
                </a:solidFill>
              </a:defRPr>
            </a:pPr>
            <a:r>
              <a:rPr sz="1050" b="0" i="0">
                <a:solidFill>
                  <a:srgbClr val="667085"/>
                </a:solidFill>
              </a:rPr>
              <a:t>Layout lesen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E0C1D0-6072-475E-954E-3B6C2333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669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667085"/>
                </a:solidFill>
              </a:defRPr>
            </a:pPr>
            <a:r>
              <a:rPr sz="1800" b="1" i="0">
                <a:solidFill>
                  <a:srgbClr val="667085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5B6ADB-38B3-4A28-985B-C3AF422E7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647825"/>
            <a:ext cx="1352550" cy="171450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7F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FDDE79-BEA7-4FA1-BA64-4AE88BF4C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8097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B8F6A"/>
                </a:solidFill>
              </a:defRPr>
            </a:pPr>
            <a:r>
              <a:rPr sz="2250" b="1" i="0">
                <a:solidFill>
                  <a:srgbClr val="0B8F6A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7FEBDE-6C29-4F04-9BC1-C1032C47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050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827"/>
                </a:solidFill>
              </a:defRPr>
            </a:pPr>
            <a:r>
              <a:rPr sz="1350" b="1" i="0">
                <a:solidFill>
                  <a:srgbClr val="111827"/>
                </a:solidFill>
              </a:rPr>
              <a:t>Modul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CA42BE-0210-4F6F-9475-5E01665CF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86050"/>
            <a:ext cx="104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085"/>
                </a:solidFill>
              </a:defRPr>
            </a:pPr>
            <a:r>
              <a:rPr sz="1050" b="0" i="0">
                <a:solidFill>
                  <a:srgbClr val="667085"/>
                </a:solidFill>
              </a:rPr>
              <a:t>WP3 erkennen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C950A2-630F-4F91-BA4E-91DF91A6E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669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667085"/>
                </a:solidFill>
              </a:defRPr>
            </a:pPr>
            <a:r>
              <a:rPr sz="1800" b="1" i="0">
                <a:solidFill>
                  <a:srgbClr val="667085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F7936B-C936-4C23-968C-F3BEB1FD2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47825"/>
            <a:ext cx="1352550" cy="171450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B3B1AC-BCB7-4862-871A-B2F93DDFE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D59B14"/>
                </a:solidFill>
              </a:defRPr>
            </a:pPr>
            <a:r>
              <a:rPr sz="2250" b="1" i="0">
                <a:solidFill>
                  <a:srgbClr val="D59B14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1E3968-9A6E-4BCB-AB89-0CFB9B75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050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827"/>
                </a:solidFill>
              </a:defRPr>
            </a:pPr>
            <a:r>
              <a:rPr sz="1350" b="1" i="0">
                <a:solidFill>
                  <a:srgbClr val="111827"/>
                </a:solidFill>
              </a:rPr>
              <a:t>Abschnitt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2FE3A0-1D65-4D02-BDDC-7885AC392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86050"/>
            <a:ext cx="104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085"/>
                </a:solidFill>
              </a:defRPr>
            </a:pPr>
            <a:r>
              <a:rPr sz="1050" b="0" i="0">
                <a:solidFill>
                  <a:srgbClr val="667085"/>
                </a:solidFill>
              </a:rPr>
              <a:t>Prüfungsform treffen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228927-B817-4168-A9DE-B15415A4D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2669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667085"/>
                </a:solidFill>
              </a:defRPr>
            </a:pPr>
            <a:r>
              <a:rPr sz="1800" b="1" i="0">
                <a:solidFill>
                  <a:srgbClr val="667085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BB9143-C41B-4DCB-8158-4F28F2FE5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647825"/>
            <a:ext cx="1352550" cy="171450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DEB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25F15F-DB5A-4FAA-83BD-02DC72F2B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8097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E05D4B"/>
                </a:solidFill>
              </a:defRPr>
            </a:pPr>
            <a:r>
              <a:rPr sz="2250" b="1" i="0">
                <a:solidFill>
                  <a:srgbClr val="E05D4B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EB8CF6-7144-4F93-9740-5B016FCB3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3050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827"/>
                </a:solidFill>
              </a:defRPr>
            </a:pPr>
            <a:r>
              <a:rPr sz="1350" b="1" i="0">
                <a:solidFill>
                  <a:srgbClr val="111827"/>
                </a:solidFill>
              </a:rPr>
              <a:t>Beleg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41F589-6685-46A9-8BA1-E1DAF6ED6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686050"/>
            <a:ext cx="104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085"/>
                </a:solidFill>
              </a:defRPr>
            </a:pPr>
            <a:r>
              <a:rPr sz="1050" b="0" i="0">
                <a:solidFill>
                  <a:srgbClr val="667085"/>
                </a:solidFill>
              </a:rPr>
              <a:t>Seite + Quelle zeigen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632322-6E78-443A-B7CA-F571F9710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Modulhandbücher sind layoutreiche Dokumente – keine sauberen Datenbanken.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05AEC5-01F4-47EE-960D-E613F4EBD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43450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Tabellen, wiederholte Feldnamen und ähnliche Modulcodes machen einen plausiblen Treffer noch nicht zu einem korrekten Beleg.</a:t>
            </a:r>
          </a:p>
        </p:txBody>
      </p:sp>
    </p:spTree>
    <p:extLst>
      <p:ext uri="{BB962C8B-B14F-4D97-AF65-F5344CB8AC3E}">
        <p14:creationId xmlns:p14="http://schemas.microsoft.com/office/powerpoint/2010/main" val="20375743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296849-21B9-4AE1-9AF2-12C7C8566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69D3"/>
                </a:solidFill>
              </a:defRPr>
            </a:pPr>
            <a:r>
              <a:rPr sz="900" b="1" i="0">
                <a:solidFill>
                  <a:srgbClr val="2F69D3"/>
                </a:solidFill>
              </a:rPr>
              <a:t>MOTIVATION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A69CAA-38D3-4E4D-90F4-4AD9255EC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11827"/>
                </a:solidFill>
              </a:defRPr>
            </a:pPr>
            <a:r>
              <a:rPr sz="2325" b="1" i="0">
                <a:solidFill>
                  <a:srgbClr val="111827"/>
                </a:solidFill>
              </a:rPr>
              <a:t>Ein früher Fehler wandert bis in die Antwort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8BFA45-51F0-4573-9E10-C86C34809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835D6F-E98C-4CF1-8793-3FE2C4195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00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Modulhandbuch-RAG · Selvinaz Tiryaki &amp; Salem Depebe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5B14CF-18FE-4DAA-A51E-8FAAAA694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F4E328-66B3-481C-9389-80670DC89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2381250" cy="1695450"/>
          </a:xfrm>
          <a:prstGeom xmlns:a="http://schemas.openxmlformats.org/drawingml/2006/main" prst="roundRect">
            <a:avLst>
              <a:gd name="adj" fmla="val 674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736ECA-4431-410F-9266-3C1273C7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478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F69D3"/>
                </a:solidFill>
              </a:defRPr>
            </a:pPr>
            <a:r>
              <a:rPr sz="1050" b="1" i="0">
                <a:solidFill>
                  <a:srgbClr val="2F69D3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3FEFE8-1C3B-4B14-B164-25CD3AAEE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9075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Parsing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F63D9B-86DB-4E3A-8470-832E8785C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95575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Zeilen und Tabellen</a:t>
            </a:r>
          </a:p>
          <a:p xmlns:a="http://schemas.openxmlformats.org/drawingml/2006/main">
            <a:pPr algn="l"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werden falsch gelesen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73087A-DF33-45CB-A100-76AF6C0C7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314575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667085"/>
                </a:solidFill>
              </a:defRPr>
            </a:pPr>
            <a:r>
              <a:rPr sz="2250" b="1" i="0">
                <a:solidFill>
                  <a:srgbClr val="667085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F86D42-3587-4E55-8094-CDCA2EC9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66875"/>
            <a:ext cx="2381250" cy="1695450"/>
          </a:xfrm>
          <a:prstGeom xmlns:a="http://schemas.openxmlformats.org/drawingml/2006/main" prst="roundRect">
            <a:avLst>
              <a:gd name="adj" fmla="val 674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54AAFA-64BA-4F65-83F2-FA08489A6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8478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B8F6A"/>
                </a:solidFill>
              </a:defRPr>
            </a:pPr>
            <a:r>
              <a:rPr sz="1050" b="1" i="0">
                <a:solidFill>
                  <a:srgbClr val="0B8F6A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127EDC-07CD-482E-A2DE-107D4E249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19075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Chunking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4B3A72-0167-4ECF-8B97-4BAF56E0C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95575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Felder verlieren ihren</a:t>
            </a:r>
          </a:p>
          <a:p xmlns:a="http://schemas.openxmlformats.org/drawingml/2006/main">
            <a:pPr algn="l"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Modulkontext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50A834-CEBF-4B51-86FB-7A4144A78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14575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667085"/>
                </a:solidFill>
              </a:defRPr>
            </a:pPr>
            <a:r>
              <a:rPr sz="2250" b="1" i="0">
                <a:solidFill>
                  <a:srgbClr val="667085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52C947-3508-4970-B786-03E79DECA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666875"/>
            <a:ext cx="2381250" cy="1695450"/>
          </a:xfrm>
          <a:prstGeom xmlns:a="http://schemas.openxmlformats.org/drawingml/2006/main" prst="roundRect">
            <a:avLst>
              <a:gd name="adj" fmla="val 674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846491-C790-48AB-9883-EC53AD02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478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59B14"/>
                </a:solidFill>
              </a:defRPr>
            </a:pPr>
            <a:r>
              <a:rPr sz="1050" b="1" i="0">
                <a:solidFill>
                  <a:srgbClr val="D59B14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4F1C34-0558-4E79-82CF-A636717BC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9075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Retrieval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865430-25EE-4132-A7A4-E22F00ABD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95575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richtiges Thema,</a:t>
            </a:r>
          </a:p>
          <a:p xmlns:a="http://schemas.openxmlformats.org/drawingml/2006/main">
            <a:pPr algn="l"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falscher Abschnitt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875A82-AF39-4078-9054-7F10222D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14575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667085"/>
                </a:solidFill>
              </a:defRPr>
            </a:pPr>
            <a:r>
              <a:rPr sz="2250" b="1" i="0">
                <a:solidFill>
                  <a:srgbClr val="667085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09543F-2098-4F25-A027-25D26CE1C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66875"/>
            <a:ext cx="2381250" cy="1695450"/>
          </a:xfrm>
          <a:prstGeom xmlns:a="http://schemas.openxmlformats.org/drawingml/2006/main" prst="roundRect">
            <a:avLst>
              <a:gd name="adj" fmla="val 674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9AF31F-8250-4288-9118-02A14C5F5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8478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05D4B"/>
                </a:solidFill>
              </a:defRPr>
            </a:pPr>
            <a:r>
              <a:rPr sz="1050" b="1" i="0">
                <a:solidFill>
                  <a:srgbClr val="E05D4B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2D9016-1128-449B-9F75-EC40E64AF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9075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Antwort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5FFFE5-2497-4232-8FC7-8B7BA5754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95575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flüssig formuliert,</a:t>
            </a:r>
          </a:p>
          <a:p xmlns:a="http://schemas.openxmlformats.org/drawingml/2006/main">
            <a:pPr algn="l"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aber nicht belegt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6E3EF1-877A-4D3B-8918-709C77464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82040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55E9A4-321A-4047-A682-BC92BA06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1482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C8D2DC"/>
                </a:solidFill>
              </a:defRPr>
            </a:pPr>
            <a:r>
              <a:rPr sz="1200" b="1" i="0">
                <a:solidFill>
                  <a:srgbClr val="C8D2DC"/>
                </a:solidFill>
              </a:rPr>
              <a:t>Daraus folgt unsere Messlogik: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DD7B96-7519-403A-B27A-6B6D1FF8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672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FFFFF"/>
                </a:solidFill>
              </a:defRPr>
            </a:pPr>
            <a:r>
              <a:rPr sz="2250" b="1" i="0">
                <a:solidFill>
                  <a:srgbClr val="FFFFFF"/>
                </a:solidFill>
              </a:rPr>
              <a:t>Erst Retrieval messen. Dann Antworten bewerten.</a:t>
            </a:r>
          </a:p>
        </p:txBody>
      </p:sp>
    </p:spTree>
    <p:extLst>
      <p:ext uri="{BB962C8B-B14F-4D97-AF65-F5344CB8AC3E}">
        <p14:creationId xmlns:p14="http://schemas.microsoft.com/office/powerpoint/2010/main" val="18200129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1D8156-2E2F-43CD-A51E-5BC86EE8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69D3"/>
                </a:solidFill>
              </a:defRPr>
            </a:pPr>
            <a:r>
              <a:rPr sz="900" b="1" i="0">
                <a:solidFill>
                  <a:srgbClr val="2F69D3"/>
                </a:solidFill>
              </a:rPr>
              <a:t>FORSCHUNGSFRAGEN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01CC2E-AC02-4B94-B75A-58F63AEB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11827"/>
                </a:solidFill>
              </a:defRPr>
            </a:pPr>
            <a:r>
              <a:rPr sz="2325" b="1" i="0">
                <a:solidFill>
                  <a:srgbClr val="111827"/>
                </a:solidFill>
              </a:rPr>
              <a:t>Drei Entscheidungen bestimmen die Qualität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A8236E-D972-4A85-8CF2-4C735B40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0A1908-E5F2-4FD1-8A15-EE6D77170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00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Modulhandbuch-RAG · Selvinaz Tiryaki &amp; Salem Depebe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91329D-1F2F-4E33-8B55-30B5DCB12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C17E6A-E8C1-436B-A49E-111704FD4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4782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2F69D3"/>
                </a:solidFill>
              </a:defRPr>
            </a:pPr>
            <a:r>
              <a:rPr sz="2175" b="1" i="0">
                <a:solidFill>
                  <a:srgbClr val="2F69D3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C68CEA-DAFA-4F05-856E-DE11613F7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838325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458482-2F65-4A47-A5B3-B9E34957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57162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1827"/>
                </a:solidFill>
              </a:defRPr>
            </a:pPr>
            <a:r>
              <a:rPr sz="1875" b="1" i="0">
                <a:solidFill>
                  <a:srgbClr val="111827"/>
                </a:solidFill>
              </a:rPr>
              <a:t>Wie schneiden wir?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71CA61-4018-44AD-8AAF-21874E04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581150"/>
            <a:ext cx="5095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085"/>
                </a:solidFill>
              </a:defRPr>
            </a:pPr>
            <a:r>
              <a:rPr sz="1275" b="0" i="0">
                <a:solidFill>
                  <a:srgbClr val="667085"/>
                </a:solidFill>
              </a:rPr>
              <a:t>Naive, Module oder Field Chunking – je nachdem, ob Modul oder exakter Abschnitt gesucht wird.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D5D36E-7E04-46D9-BC3C-43CE01255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1609725"/>
            <a:ext cx="13335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2A23DF-5569-4C87-9D98-A7947A3F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289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0B8F6A"/>
                </a:solidFill>
              </a:defRPr>
            </a:pPr>
            <a:r>
              <a:rPr sz="2175" b="1" i="0">
                <a:solidFill>
                  <a:srgbClr val="0B8F6A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483E6F-E11D-4DCA-8CA3-26B29A1CB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2194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F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80A765-8EC7-45A2-8F4E-DFB0EEA1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9527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1827"/>
                </a:solidFill>
              </a:defRPr>
            </a:pPr>
            <a:r>
              <a:rPr sz="1875" b="1" i="0">
                <a:solidFill>
                  <a:srgbClr val="111827"/>
                </a:solidFill>
              </a:rPr>
              <a:t>Wie suchen wir?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81FB00-8A0A-4657-8BC1-8A641699F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962275"/>
            <a:ext cx="5095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085"/>
                </a:solidFill>
              </a:defRPr>
            </a:pPr>
            <a:r>
              <a:rPr sz="1275" b="0" i="0">
                <a:solidFill>
                  <a:srgbClr val="667085"/>
                </a:solidFill>
              </a:rPr>
              <a:t>BM25, Dense oder Hybrid – und wie viel Dense-Anteil α ist sinnvoll?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542405-D99A-44BE-801F-85FF87FE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990850"/>
            <a:ext cx="13335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25C5B5-E476-4DB0-AF18-12BE492C4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1007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D59B14"/>
                </a:solidFill>
              </a:defRPr>
            </a:pPr>
            <a:r>
              <a:rPr sz="2175" b="1" i="0">
                <a:solidFill>
                  <a:srgbClr val="D59B14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3DDA3A-D2C7-4B48-8235-B318B0196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00575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B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AFE9E2-4387-46E9-9B4A-BA365A3C0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33387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1827"/>
                </a:solidFill>
              </a:defRPr>
            </a:pPr>
            <a:r>
              <a:rPr sz="1875" b="1" i="0">
                <a:solidFill>
                  <a:srgbClr val="111827"/>
                </a:solidFill>
              </a:rPr>
              <a:t>Wann antworten wir?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83B40B-E84F-4A5B-99B7-0E7227D64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343400"/>
            <a:ext cx="5095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085"/>
                </a:solidFill>
              </a:defRPr>
            </a:pPr>
            <a:r>
              <a:rPr sz="1275" b="0" i="0">
                <a:solidFill>
                  <a:srgbClr val="667085"/>
                </a:solidFill>
              </a:rPr>
              <a:t>Antworten, nachfragen oder zurückhalten – ausschließlich abhängig von belegbarer Evidenz.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919FF9-E9FB-49C3-8EA3-2A0CE916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371975"/>
            <a:ext cx="13335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258273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A3E25C-F71A-4EEC-B76B-A228C148E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69D3"/>
                </a:solidFill>
              </a:defRPr>
            </a:pPr>
            <a:r>
              <a:rPr sz="900" b="1" i="0">
                <a:solidFill>
                  <a:srgbClr val="2F69D3"/>
                </a:solidFill>
              </a:rPr>
              <a:t>DATEN &amp; GELTUNGSBEREICH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1B3119-8D50-42B4-B588-77520D674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11827"/>
                </a:solidFill>
              </a:defRPr>
            </a:pPr>
            <a:r>
              <a:rPr sz="2325" b="1" i="0">
                <a:solidFill>
                  <a:srgbClr val="111827"/>
                </a:solidFill>
              </a:rPr>
              <a:t>Sieben PDFs verarbeitet – Qualität auf einem Gold-Dokument gemessen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43D894-C18E-4367-96E8-3935F0D5F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C9A3C4-81F8-413C-ACB6-A0183D3F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00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Modulhandbuch-RAG · Selvinaz Tiryaki &amp; Salem Depebe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A06A01-4676-4603-88DF-CF2CF32B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F82B1E-6434-47D7-B241-10DDE68F4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32956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DA1A94-E282-47B9-8576-A8C3A1349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2F69D3"/>
                </a:solidFill>
              </a:defRPr>
            </a:pPr>
            <a:r>
              <a:rPr sz="3000" b="1" i="0">
                <a:solidFill>
                  <a:srgbClr val="2F69D3"/>
                </a:solidFill>
              </a:rPr>
              <a:t>7 PDFs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F8F9D5-28B1-48F2-9BC9-4DDAF288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71750"/>
            <a:ext cx="2428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11827"/>
                </a:solidFill>
              </a:defRPr>
            </a:pPr>
            <a:r>
              <a:rPr sz="1425" b="1" i="0">
                <a:solidFill>
                  <a:srgbClr val="111827"/>
                </a:solidFill>
              </a:rPr>
              <a:t>Ingestion · Segmentierung</a:t>
            </a:r>
          </a:p>
          <a:p xmlns:a="http://schemas.openxmlformats.org/drawingml/2006/main">
            <a:pPr algn="l">
              <a:defRPr sz="1425" b="1" i="0">
                <a:solidFill>
                  <a:srgbClr val="111827"/>
                </a:solidFill>
              </a:defRPr>
            </a:pPr>
            <a:r>
              <a:rPr sz="1425" b="1" i="0">
                <a:solidFill>
                  <a:srgbClr val="111827"/>
                </a:solidFill>
              </a:rPr>
              <a:t>Vollkorpus-Stresstest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A2124E-B1D3-401D-BF0C-10975D9AD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09975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Technische Robustheit:</a:t>
            </a:r>
          </a:p>
          <a:p xmlns:a="http://schemas.openxmlformats.org/drawingml/2006/main">
            <a:pPr algn="l"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Chunk-Anzahl, eindeutige IDs,</a:t>
            </a:r>
          </a:p>
          <a:p xmlns:a="http://schemas.openxmlformats.org/drawingml/2006/main">
            <a:pPr algn="l"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Verarbeitung aller Varianten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1176B0-006F-4567-BEC4-A2227F35E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809875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667085"/>
                </a:solidFill>
              </a:defRPr>
            </a:pPr>
            <a:r>
              <a:rPr sz="3150" b="1" i="0">
                <a:solidFill>
                  <a:srgbClr val="667085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2BA529-3B7C-41C9-9882-34DFC7BD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581150"/>
            <a:ext cx="3009900" cy="3238500"/>
          </a:xfrm>
          <a:prstGeom xmlns:a="http://schemas.openxmlformats.org/drawingml/2006/main" prst="roundRect">
            <a:avLst>
              <a:gd name="adj" fmla="val 3797"/>
            </a:avLst>
          </a:prstGeom>
          <a:solidFill xmlns:a="http://schemas.openxmlformats.org/drawingml/2006/main">
            <a:srgbClr val="E7F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44A97C-C783-4AAD-9A1E-23F3211C3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84785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B8F6A"/>
                </a:solidFill>
              </a:defRPr>
            </a:pPr>
            <a:r>
              <a:rPr sz="2625" b="1" i="0">
                <a:solidFill>
                  <a:srgbClr val="0B8F6A"/>
                </a:solidFill>
              </a:rPr>
              <a:t>1 Gold-PDF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F6FFD9-75E2-4F27-AFD8-6304CA15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571750"/>
            <a:ext cx="228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827"/>
                </a:solidFill>
              </a:defRPr>
            </a:pPr>
            <a:r>
              <a:rPr sz="1575" b="1" i="0">
                <a:solidFill>
                  <a:srgbClr val="111827"/>
                </a:solidFill>
              </a:rPr>
              <a:t>CL Bachelor</a:t>
            </a:r>
          </a:p>
          <a:p xmlns:a="http://schemas.openxmlformats.org/drawingml/2006/main">
            <a:pPr algn="l">
              <a:defRPr sz="1575" b="1" i="0">
                <a:solidFill>
                  <a:srgbClr val="111827"/>
                </a:solidFill>
              </a:defRPr>
            </a:pPr>
            <a:r>
              <a:rPr sz="1575" b="1" i="0">
                <a:solidFill>
                  <a:srgbClr val="111827"/>
                </a:solidFill>
              </a:rPr>
              <a:t>Stand 24.09.2025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00609A-F8D2-4309-ABBE-9935463F0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705225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Manuell geprüfte Labels:</a:t>
            </a:r>
          </a:p>
          <a:p xmlns:a="http://schemas.openxmlformats.org/drawingml/2006/main">
            <a:pPr algn="l"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Dokument · Modul · Abschnitt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5B93BB-A5C5-4BCA-A38E-20C1D988D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809875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667085"/>
                </a:solidFill>
              </a:defRPr>
            </a:pPr>
            <a:r>
              <a:rPr sz="3150" b="1" i="0">
                <a:solidFill>
                  <a:srgbClr val="667085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B49E9A-DED1-481A-A354-0018A0AC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581150"/>
            <a:ext cx="2571750" cy="3238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B2FD7E-B4AB-4010-975A-839D1C53D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47850"/>
            <a:ext cx="200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D59B14"/>
                </a:solidFill>
              </a:defRPr>
            </a:pPr>
            <a:r>
              <a:rPr sz="2700" b="1" i="0">
                <a:solidFill>
                  <a:srgbClr val="D59B14"/>
                </a:solidFill>
              </a:rPr>
              <a:t>43 Fragen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E9E340-A016-4CA8-A476-D014B32D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571750"/>
            <a:ext cx="190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827"/>
                </a:solidFill>
              </a:defRPr>
            </a:pPr>
            <a:r>
              <a:rPr sz="1575" b="1" i="0">
                <a:solidFill>
                  <a:srgbClr val="111827"/>
                </a:solidFill>
              </a:rPr>
              <a:t>25 Deutsch</a:t>
            </a:r>
          </a:p>
          <a:p xmlns:a="http://schemas.openxmlformats.org/drawingml/2006/main">
            <a:pPr algn="l">
              <a:defRPr sz="1575" b="1" i="0">
                <a:solidFill>
                  <a:srgbClr val="111827"/>
                </a:solidFill>
              </a:defRPr>
            </a:pPr>
            <a:r>
              <a:rPr sz="1575" b="1" i="0">
                <a:solidFill>
                  <a:srgbClr val="111827"/>
                </a:solidFill>
              </a:rPr>
              <a:t>18 multilingual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35F521-8BFE-4BAD-A981-3ED4C0374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705225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Offizielle Retrieval-Metriken</a:t>
            </a:r>
          </a:p>
          <a:p xmlns:a="http://schemas.openxmlformats.org/drawingml/2006/main">
            <a:pPr algn="l"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nur auf diesem Gold-Set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B7729C-A1F3-449A-8580-744C78430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5257800"/>
            <a:ext cx="6667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B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C08585-1633-4112-B213-EBECF59E8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5305425"/>
            <a:ext cx="647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E05D4B"/>
                </a:solidFill>
              </a:defRPr>
            </a:pPr>
            <a:r>
              <a:rPr sz="825" b="1" i="0">
                <a:solidFill>
                  <a:srgbClr val="E05D4B"/>
                </a:solidFill>
              </a:rPr>
              <a:t>Keine künstlichen Qualitätswerte für die übrigen sechs Handbücher</a:t>
            </a:r>
          </a:p>
        </p:txBody>
      </p:sp>
    </p:spTree>
    <p:extLst>
      <p:ext uri="{BB962C8B-B14F-4D97-AF65-F5344CB8AC3E}">
        <p14:creationId xmlns:p14="http://schemas.microsoft.com/office/powerpoint/2010/main" val="16328969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ACEB42-12C5-4FB9-8653-35EB0290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69D3"/>
                </a:solidFill>
              </a:defRPr>
            </a:pPr>
            <a:r>
              <a:rPr sz="900" b="1" i="0">
                <a:solidFill>
                  <a:srgbClr val="2F69D3"/>
                </a:solidFill>
              </a:rPr>
              <a:t>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4CEEAC-9292-4A67-B909-B8889C440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11827"/>
                </a:solidFill>
              </a:defRPr>
            </a:pPr>
            <a:r>
              <a:rPr sz="2325" b="1" i="0">
                <a:solidFill>
                  <a:srgbClr val="111827"/>
                </a:solidFill>
              </a:rPr>
              <a:t>Vom PDF zur belegten Antwort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1CDC78-9CB3-4AB9-961B-4D46D8EEA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7E5F26-773E-40CC-B946-9F93E1B59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00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Modulhandbuch-RAG · Selvinaz Tiryaki &amp; Salem Depebe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DFC66F-DBA8-4E9B-A02A-A74C22834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F9C631-C07E-4DA5-8276-D6E75604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150495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C00EC1-E1DC-4F50-8D0B-E8F941DEA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1504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419AA1-791F-43E7-A73F-400A2D54D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PDF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549544-8235-41A7-9BCD-591CA7DE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95575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pypdf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8CF7C1-B258-4B99-8C5F-D928CA87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3812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667085"/>
                </a:solidFill>
              </a:defRPr>
            </a:pPr>
            <a:r>
              <a:rPr sz="1875" b="1" i="0">
                <a:solidFill>
                  <a:srgbClr val="667085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EE65C2-2A6C-4C1F-A273-F6E0A59D2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05000"/>
            <a:ext cx="150495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3EAFED-6CCB-45D7-833C-2DB1AA8E3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05000"/>
            <a:ext cx="1504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8F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054930-1DF9-4978-93E9-756DA3ADD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1907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Struktur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A0644D-3F63-4ACB-9F16-7E6F4B89F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695575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Module/Felder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545DBF-C30F-4E66-A35E-0372A2734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812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667085"/>
                </a:solidFill>
              </a:defRPr>
            </a:pPr>
            <a:r>
              <a:rPr sz="1875" b="1" i="0">
                <a:solidFill>
                  <a:srgbClr val="667085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9D9B5F-0F11-4B93-BF93-F2DD2967A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05000"/>
            <a:ext cx="150495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FAE23E-8F34-4D78-A7D8-672D906ED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05000"/>
            <a:ext cx="1504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8F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51D495-757D-4AD9-A91C-BA445796D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907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Chunks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795AA6-1C74-493E-990D-BF5BDB3D9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95575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3 Strategien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856154-500E-41E7-9C33-E38C7AB1C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3812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667085"/>
                </a:solidFill>
              </a:defRPr>
            </a:pPr>
            <a:r>
              <a:rPr sz="1875" b="1" i="0">
                <a:solidFill>
                  <a:srgbClr val="667085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EB1F02-6F66-4C2E-9F51-B37246739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905000"/>
            <a:ext cx="150495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13592D-8930-4EB8-ABEB-2FFE78F23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905000"/>
            <a:ext cx="1504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9B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F2CF0C-72C4-47BC-B71E-8D0F1A7C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907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Retriever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474125-182E-4FF6-9E1A-2429BE7EE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95575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BM25 · Dense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A6E6E6-3573-4193-855A-403FE54C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3812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667085"/>
                </a:solidFill>
              </a:defRPr>
            </a:pPr>
            <a:r>
              <a:rPr sz="1875" b="1" i="0">
                <a:solidFill>
                  <a:srgbClr val="667085"/>
                </a:solidFill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60EFC3-ED93-43E6-B2C3-E2C01A7AF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05000"/>
            <a:ext cx="150495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BB2F69-DE9B-4742-86C6-1322F3C6A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05000"/>
            <a:ext cx="1504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05D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46C7B0-C734-4EC3-A958-79EB1B5AF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907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Policy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BCDFB2-393B-437D-B1F4-686098832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95575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Antwort?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8908EB-7F06-427B-A237-78E60994F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3812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667085"/>
                </a:solidFill>
              </a:defRPr>
            </a:pPr>
            <a:r>
              <a:rPr sz="1875" b="1" i="0">
                <a:solidFill>
                  <a:srgbClr val="667085"/>
                </a:solidFill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AE3CD9-9115-4E14-A329-9CD07952E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905000"/>
            <a:ext cx="150495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A207B8-F54C-449D-BD34-FC1A7D2F9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905000"/>
            <a:ext cx="1504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19F795-ED32-42E4-B33B-8B4D2F7BB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1907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Beleg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5A617E-339E-42D9-854D-12C07F2A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95575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Seite/Quelle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25C4053-D196-4374-B294-C9EF8D715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00500"/>
            <a:ext cx="933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E23EEA2-6F8B-46B3-9D6A-E10F7C4E8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F69D3"/>
                </a:solidFill>
              </a:defRPr>
            </a:pPr>
            <a:r>
              <a:rPr sz="1125" b="1" i="0">
                <a:solidFill>
                  <a:srgbClr val="2F69D3"/>
                </a:solidFill>
              </a:rPr>
              <a:t>Evaluation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906B8FB-C5C6-4B92-A2D0-BAF749A0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438650"/>
            <a:ext cx="195262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0E8AD4A-69E8-498D-8B3D-02408B2C1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86275"/>
            <a:ext cx="1762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2F69D3"/>
                </a:solidFill>
              </a:defRPr>
            </a:pPr>
            <a:r>
              <a:rPr sz="825" b="1" i="0">
                <a:solidFill>
                  <a:srgbClr val="2F69D3"/>
                </a:solidFill>
              </a:rPr>
              <a:t>Retrieval-Metriken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61AC3FE-D9E0-4685-8913-6BAD6282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438650"/>
            <a:ext cx="195262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5DBA372-643C-4396-B839-4E143DA5D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486275"/>
            <a:ext cx="1762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2F69D3"/>
                </a:solidFill>
              </a:defRPr>
            </a:pPr>
            <a:r>
              <a:rPr sz="825" b="1" i="0">
                <a:solidFill>
                  <a:srgbClr val="2F69D3"/>
                </a:solidFill>
              </a:rPr>
              <a:t>Fehler pro Anfrage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97C4008-62DC-4613-8F9D-3914CEED0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438650"/>
            <a:ext cx="195262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A8B3427-F0BE-4BD0-8128-0B648B89F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486275"/>
            <a:ext cx="1762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2F69D3"/>
                </a:solidFill>
              </a:defRPr>
            </a:pPr>
            <a:r>
              <a:rPr sz="825" b="1" i="0">
                <a:solidFill>
                  <a:srgbClr val="2F69D3"/>
                </a:solidFill>
              </a:rPr>
              <a:t>Korpusintegrität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0239E3D-247A-44FB-950D-11424F425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438650"/>
            <a:ext cx="195262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B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4351201-07D2-4257-90C2-41CFD4C46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486275"/>
            <a:ext cx="1762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E05D4B"/>
                </a:solidFill>
              </a:defRPr>
            </a:pPr>
            <a:r>
              <a:rPr sz="825" b="1" i="0">
                <a:solidFill>
                  <a:srgbClr val="E05D4B"/>
                </a:solidFill>
              </a:rPr>
              <a:t>Antwortpilot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11307B8-0393-4F56-A3F7-24BE58A74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191125"/>
            <a:ext cx="885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667085"/>
                </a:solidFill>
              </a:defRPr>
            </a:pPr>
            <a:r>
              <a:rPr sz="1275" b="0" i="0">
                <a:solidFill>
                  <a:srgbClr val="667085"/>
                </a:solidFill>
              </a:rPr>
              <a:t>Struktur- und Retrieval-Entscheidungen bleiben sichtbar – auch wenn die Oberfläche eine einzige Suche zeigt.</a:t>
            </a:r>
          </a:p>
        </p:txBody>
      </p:sp>
    </p:spTree>
    <p:extLst>
      <p:ext uri="{BB962C8B-B14F-4D97-AF65-F5344CB8AC3E}">
        <p14:creationId xmlns:p14="http://schemas.microsoft.com/office/powerpoint/2010/main" val="5091873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CDAEDB-5B9F-4579-A1DE-4653E479C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69D3"/>
                </a:solidFill>
              </a:defRPr>
            </a:pPr>
            <a:r>
              <a:rPr sz="900" b="1" i="0">
                <a:solidFill>
                  <a:srgbClr val="2F69D3"/>
                </a:solidFill>
              </a:rPr>
              <a:t>CHUNKING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4B3A7A-B90A-4371-88DF-51C24C31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11827"/>
                </a:solidFill>
              </a:defRPr>
            </a:pPr>
            <a:r>
              <a:rPr sz="2325" b="1" i="0">
                <a:solidFill>
                  <a:srgbClr val="111827"/>
                </a:solidFill>
              </a:rPr>
              <a:t>Drei Schnitte – zwei verschiedene Suchziele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3C5E2B-6101-43DB-85B5-E15A5CE7A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817874-424D-410B-88DD-26AB32781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00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Modulhandbuch-RAG · Selvinaz Tiryaki &amp; Salem Depebe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1E63B2-B42A-4BB5-BD72-0310AB72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B905DC-37D6-410A-95D2-78B00FE69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33337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191F7B-85D1-4084-A024-0416C4D27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09750"/>
            <a:ext cx="2809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2F69D3"/>
                </a:solidFill>
              </a:defRPr>
            </a:pPr>
            <a:r>
              <a:rPr sz="2025" b="1" i="0">
                <a:solidFill>
                  <a:srgbClr val="2F69D3"/>
                </a:solidFill>
              </a:rPr>
              <a:t>Naive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4D262D-B6B3-4915-9E7E-A30BB174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81250"/>
            <a:ext cx="2809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827"/>
                </a:solidFill>
              </a:defRPr>
            </a:pPr>
            <a:r>
              <a:rPr sz="1575" b="1" i="0">
                <a:solidFill>
                  <a:srgbClr val="111827"/>
                </a:solidFill>
              </a:rPr>
              <a:t>900 Zeichen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10F19B-EC3B-450F-8A33-290F7EF0B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1300"/>
            <a:ext cx="2809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120 Zeichen Overlap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23DB5F-EED0-4BCA-8D15-820839EE0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95650"/>
            <a:ext cx="2838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5353DD-3943-4A6B-A1DE-DB7FF23E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2809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827"/>
                </a:solidFill>
              </a:defRPr>
            </a:pPr>
            <a:r>
              <a:rPr sz="1200" b="0" i="0">
                <a:solidFill>
                  <a:srgbClr val="111827"/>
                </a:solidFill>
              </a:rPr>
              <a:t>lokaler Text ohne garantierte Feldgrenze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87B331-1A7C-430D-8564-F7962BEE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71625"/>
            <a:ext cx="33337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7F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9B2578-A965-4615-8152-0191A466B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09750"/>
            <a:ext cx="2809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8F6A"/>
                </a:solidFill>
              </a:defRPr>
            </a:pPr>
            <a:r>
              <a:rPr sz="2025" b="1" i="0">
                <a:solidFill>
                  <a:srgbClr val="0B8F6A"/>
                </a:solidFill>
              </a:rPr>
              <a:t>Module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23F1F1-AA7F-436F-B2E9-D5B40109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81250"/>
            <a:ext cx="2809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827"/>
                </a:solidFill>
              </a:defRPr>
            </a:pPr>
            <a:r>
              <a:rPr sz="1575" b="1" i="0">
                <a:solidFill>
                  <a:srgbClr val="111827"/>
                </a:solidFill>
              </a:rPr>
              <a:t>1 Chunk / Modul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800219-03C8-4C33-B60F-BAC2E455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81300"/>
            <a:ext cx="2809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Kontext bleibt zusammen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74AA6E-A0EB-47EC-ACCA-38B4CDD74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95650"/>
            <a:ext cx="2838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12A46B-7230-4EC4-856D-AF26F8919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05200"/>
            <a:ext cx="2809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827"/>
                </a:solidFill>
              </a:defRPr>
            </a:pPr>
            <a:r>
              <a:rPr sz="1200" b="0" i="0">
                <a:solidFill>
                  <a:srgbClr val="111827"/>
                </a:solidFill>
              </a:rPr>
              <a:t>stark, wenn zuerst das richtige Modul zählt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A05302-2A01-40F7-9D9D-7B6A3A394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571625"/>
            <a:ext cx="33337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FBCBCD-6270-493C-A1C2-8262B943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09750"/>
            <a:ext cx="2809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D59B14"/>
                </a:solidFill>
              </a:defRPr>
            </a:pPr>
            <a:r>
              <a:rPr sz="2025" b="1" i="0">
                <a:solidFill>
                  <a:srgbClr val="D59B14"/>
                </a:solidFill>
              </a:rPr>
              <a:t>Field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CF38EE-B639-42DB-90DC-42B256A8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81250"/>
            <a:ext cx="2809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827"/>
                </a:solidFill>
              </a:defRPr>
            </a:pPr>
            <a:r>
              <a:rPr sz="1575" b="1" i="0">
                <a:solidFill>
                  <a:srgbClr val="111827"/>
                </a:solidFill>
              </a:rPr>
              <a:t>1 Chunk / Feld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D4D524-B450-4255-81AD-3ECE475B8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81300"/>
            <a:ext cx="2809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explizite Abschnittslabels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B44417-1EEC-4728-A140-04E8AB6D8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95650"/>
            <a:ext cx="2838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88B725-E30E-47E9-97B0-B845C653D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505200"/>
            <a:ext cx="2809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827"/>
                </a:solidFill>
              </a:defRPr>
            </a:pPr>
            <a:r>
              <a:rPr sz="1200" b="0" i="0">
                <a:solidFill>
                  <a:srgbClr val="111827"/>
                </a:solidFill>
              </a:rPr>
              <a:t>stark für ECTS, Prüfung, Inhalte oder Sprache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3D20BA-1054-460D-95DC-9610441E8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000625"/>
            <a:ext cx="385762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0BD1E8-9270-4EE8-A306-6E18E4B58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048250"/>
            <a:ext cx="3667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0B8F6A"/>
                </a:solidFill>
              </a:defRPr>
            </a:pPr>
            <a:r>
              <a:rPr sz="825" b="1" i="0">
                <a:solidFill>
                  <a:srgbClr val="0B8F6A"/>
                </a:solidFill>
              </a:rPr>
              <a:t>Modul finden → Module Chunking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1FEDA2-326E-485C-B377-79D57D153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000625"/>
            <a:ext cx="385762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62B752-B2F3-4577-A6A8-4CCA61D12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048250"/>
            <a:ext cx="3667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D59B14"/>
                </a:solidFill>
              </a:defRPr>
            </a:pPr>
            <a:r>
              <a:rPr sz="825" b="1" i="0">
                <a:solidFill>
                  <a:srgbClr val="D59B14"/>
                </a:solidFill>
              </a:rPr>
              <a:t>Feld belegen → Field Chunking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254CE5-0ACC-411D-B01A-9E9F2EC9E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6388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827"/>
                </a:solidFill>
              </a:defRPr>
            </a:pPr>
            <a:r>
              <a:rPr sz="1350" b="1" i="0">
                <a:solidFill>
                  <a:srgbClr val="111827"/>
                </a:solidFill>
              </a:rPr>
              <a:t>Ein einziges Chunking ist nicht für jede Teilaufgabe optimal.</a:t>
            </a:r>
          </a:p>
        </p:txBody>
      </p:sp>
    </p:spTree>
    <p:extLst>
      <p:ext uri="{BB962C8B-B14F-4D97-AF65-F5344CB8AC3E}">
        <p14:creationId xmlns:p14="http://schemas.microsoft.com/office/powerpoint/2010/main" val="15276862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B6E055-807B-4764-8679-6E1226B25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69D3"/>
                </a:solidFill>
              </a:defRPr>
            </a:pPr>
            <a:r>
              <a:rPr sz="900" b="1" i="0">
                <a:solidFill>
                  <a:srgbClr val="2F69D3"/>
                </a:solidFill>
              </a:rPr>
              <a:t>ERGEBNIS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5FBAC3-D708-4B6B-96B9-42706D3A0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11827"/>
                </a:solidFill>
              </a:defRPr>
            </a:pPr>
            <a:r>
              <a:rPr sz="2325" b="1" i="0">
                <a:solidFill>
                  <a:srgbClr val="111827"/>
                </a:solidFill>
              </a:rPr>
              <a:t>Module Chunking findet das richtige Modul am zuverlässigsten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F9472D-3F82-427C-9B81-428AA2CBF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67085"/>
                </a:solidFill>
              </a:defRPr>
            </a:pPr>
            <a:r>
              <a:rPr sz="1200" b="0" i="0">
                <a:solidFill>
                  <a:srgbClr val="667085"/>
                </a:solidFill>
              </a:rPr>
              <a:t>Deutsch n=25 · BM25 · Modulfund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A03460-AC51-4C1F-B870-A96F6055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D42EE9-E9C3-4AB5-BA2A-6D846817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00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Modulhandbuch-RAG · Selvinaz Tiryaki &amp; Salem Depebe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7B697A-2CF2-4703-B921-9D6EA9CCA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733005-9011-4EA6-972D-9D74F2967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8192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085"/>
                </a:solidFill>
              </a:defRPr>
            </a:pPr>
            <a:r>
              <a:rPr sz="825" b="0" i="0">
                <a:solidFill>
                  <a:srgbClr val="667085"/>
                </a:solidFill>
              </a:rPr>
              <a:t>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707F4F-EFB2-4A79-B65B-096AD943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192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667085"/>
                </a:solidFill>
              </a:defRPr>
            </a:pPr>
            <a:r>
              <a:rPr sz="825" b="0" i="0">
                <a:solidFill>
                  <a:srgbClr val="667085"/>
                </a:solidFill>
              </a:rPr>
              <a:t>50%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B40FC7-6856-4C67-825A-DC2F1DC7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18192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67085"/>
                </a:solidFill>
              </a:defRPr>
            </a:pPr>
            <a:r>
              <a:rPr sz="825" b="0" i="0">
                <a:solidFill>
                  <a:srgbClr val="667085"/>
                </a:solidFill>
              </a:rPr>
              <a:t>100%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9D1266-AC45-47F3-A505-11EC9C08F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667085"/>
                </a:solidFill>
              </a:defRPr>
            </a:pPr>
            <a:r>
              <a:rPr sz="1125" b="1" i="0">
                <a:solidFill>
                  <a:srgbClr val="667085"/>
                </a:solidFill>
              </a:rPr>
              <a:t>Module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61515F-6FC0-479D-92EA-8037BCA84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238375"/>
            <a:ext cx="6191250" cy="552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E8EC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D6C7A1-88B1-4837-8D10-503C56773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238375"/>
            <a:ext cx="5943600" cy="552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0B8F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85A0B0-5436-4F48-BD4B-CC2182FBC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37172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827"/>
                </a:solidFill>
              </a:defRPr>
            </a:pPr>
            <a:r>
              <a:rPr sz="1350" b="1" i="0">
                <a:solidFill>
                  <a:srgbClr val="111827"/>
                </a:solidFill>
              </a:rPr>
              <a:t>96%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3BDB8C-E98C-4115-BAAE-320ECD7AF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667085"/>
                </a:solidFill>
              </a:defRPr>
            </a:pPr>
            <a:r>
              <a:rPr sz="1125" b="1" i="0">
                <a:solidFill>
                  <a:srgbClr val="667085"/>
                </a:solidFill>
              </a:rPr>
              <a:t>Field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7547A2-8B4E-4F6F-B26E-0DD8F0C85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305175"/>
            <a:ext cx="6191250" cy="552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E8EC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4A452F-B65A-4CD4-9264-3B29920B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305175"/>
            <a:ext cx="5200650" cy="552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D59B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93BD51-66B9-4829-B75C-2BC8CC3B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43852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827"/>
                </a:solidFill>
              </a:defRPr>
            </a:pPr>
            <a:r>
              <a:rPr sz="1350" b="1" i="0">
                <a:solidFill>
                  <a:srgbClr val="111827"/>
                </a:solidFill>
              </a:rPr>
              <a:t>84%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D26226-F235-4E0E-934E-092EEDFB3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667085"/>
                </a:solidFill>
              </a:defRPr>
            </a:pPr>
            <a:r>
              <a:rPr sz="1125" b="1" i="0">
                <a:solidFill>
                  <a:srgbClr val="667085"/>
                </a:solidFill>
              </a:rPr>
              <a:t>Naive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9CFA9A-7924-4438-974A-312C38A2D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371975"/>
            <a:ext cx="6191250" cy="552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E8EC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C97DC1-001D-4509-B6AE-A7FF464E7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371975"/>
            <a:ext cx="3962400" cy="552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2F6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61717B-33C4-412A-8C60-79B7E57EB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50532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827"/>
                </a:solidFill>
              </a:defRPr>
            </a:pPr>
            <a:r>
              <a:rPr sz="1350" b="1" i="0">
                <a:solidFill>
                  <a:srgbClr val="111827"/>
                </a:solidFill>
              </a:rPr>
              <a:t>64%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2EAD76-AEDF-44F6-A9ED-8C1F9A0B3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762125"/>
            <a:ext cx="31623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7F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BCE200-0086-42F9-9BA9-7B874D559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383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75" b="1" i="0">
                <a:solidFill>
                  <a:srgbClr val="0B8F6A"/>
                </a:solidFill>
              </a:defRPr>
            </a:pPr>
            <a:r>
              <a:rPr sz="3675" b="1" i="0">
                <a:solidFill>
                  <a:srgbClr val="0B8F6A"/>
                </a:solidFill>
              </a:rPr>
              <a:t>96%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AB6B3D-DA4B-41D0-89A3-C03DDDD0C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7146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827"/>
                </a:solidFill>
              </a:defRPr>
            </a:pPr>
            <a:r>
              <a:rPr sz="1275" b="1" i="0">
                <a:solidFill>
                  <a:srgbClr val="111827"/>
                </a:solidFill>
              </a:rPr>
              <a:t>Hit@1 · Module Chunking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475AFB-9636-41C5-9A1D-24A6EC46D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19500"/>
            <a:ext cx="31623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24C074-24E4-4F56-8643-6824CCE32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85762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F69D3"/>
                </a:solidFill>
              </a:defRPr>
            </a:pPr>
            <a:r>
              <a:rPr sz="1050" b="1" i="0">
                <a:solidFill>
                  <a:srgbClr val="2F69D3"/>
                </a:solidFill>
              </a:rPr>
              <a:t>Interpretation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0CA4E6-A450-4D4B-9575-B67FA7F82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238625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827"/>
                </a:solidFill>
              </a:defRPr>
            </a:pPr>
            <a:r>
              <a:rPr sz="1275" b="0" i="0">
                <a:solidFill>
                  <a:srgbClr val="111827"/>
                </a:solidFill>
              </a:rPr>
              <a:t>Für den Modulfund ist zusammenhängender Modulkontext wertvoller als die feinste Granularität.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5B720C-50CC-453F-AE9E-A66B1BB7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6153150"/>
            <a:ext cx="45053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Auditpfad: Excel › Ergebnisse, Zeilen 4–8</a:t>
            </a:r>
          </a:p>
        </p:txBody>
      </p:sp>
    </p:spTree>
    <p:extLst>
      <p:ext uri="{BB962C8B-B14F-4D97-AF65-F5344CB8AC3E}">
        <p14:creationId xmlns:p14="http://schemas.microsoft.com/office/powerpoint/2010/main" val="11757094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1530AD-9FE2-427E-AA9E-4E9B52B65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69D3"/>
                </a:solidFill>
              </a:defRPr>
            </a:pPr>
            <a:r>
              <a:rPr sz="900" b="1" i="0">
                <a:solidFill>
                  <a:srgbClr val="2F69D3"/>
                </a:solidFill>
              </a:rPr>
              <a:t>DIAGNOSE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1C5452-A8F3-4CD8-A63C-42D4442C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11827"/>
                </a:solidFill>
              </a:defRPr>
            </a:pPr>
            <a:r>
              <a:rPr sz="2325" b="1" i="0">
                <a:solidFill>
                  <a:srgbClr val="111827"/>
                </a:solidFill>
              </a:rPr>
              <a:t>Richtiges Modul ist noch nicht der richtige Abschnitt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234827-FA6B-4169-AEA7-FB3A758E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B7DAE2-8818-435C-A20F-A738C322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00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Modulhandbuch-RAG · Selvinaz Tiryaki &amp; Salem Depebe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60BBD8-6A60-4E3A-B2F8-DC56DCA60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D32BC6-C1F2-4F94-BD9F-1E564E466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F69D3"/>
                </a:solidFill>
              </a:defRPr>
            </a:pPr>
            <a:r>
              <a:rPr sz="975" b="1" i="0">
                <a:solidFill>
                  <a:srgbClr val="2F69D3"/>
                </a:solidFill>
              </a:rPr>
              <a:t>Beispiel q07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31AA5C-1A9C-433C-89C8-D45D26D05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11827"/>
                </a:solidFill>
              </a:defRPr>
            </a:pPr>
            <a:r>
              <a:rPr sz="1950" b="1" i="0">
                <a:solidFill>
                  <a:srgbClr val="111827"/>
                </a:solidFill>
              </a:rPr>
              <a:t>„Welche Module behandeln Informationssuche und Suchmaschinen?“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3C968C-AC6C-4AE4-AFDD-6B625801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50958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79922A-E7FD-467A-B939-1DF183CE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90850"/>
            <a:ext cx="157162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8F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A4FA08-DC68-4C71-9A3C-467905C6A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3847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MODUL RICHTIG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14E5D6-696F-4170-8877-7FDEB1CF4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7662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WP3 · Information Retrieval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36030D-7C23-443D-AA62-709A1FCC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576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085"/>
                </a:solidFill>
              </a:defRPr>
            </a:pPr>
            <a:r>
              <a:rPr sz="1275" b="0" i="0">
                <a:solidFill>
                  <a:srgbClr val="667085"/>
                </a:solidFill>
              </a:rPr>
              <a:t>Das System erkennt das relevante Modul.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BDF2D6-6CFC-45F0-BC57-A1B6FB20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4766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667085"/>
                </a:solidFill>
              </a:defRPr>
            </a:pPr>
            <a:r>
              <a:rPr sz="2850" b="1" i="0">
                <a:solidFill>
                  <a:srgbClr val="667085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DF65CA-D441-4741-8E55-4EABC7741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62250"/>
            <a:ext cx="5048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A84A3D-6D02-4411-BA8D-28A06275D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990850"/>
            <a:ext cx="1809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9B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A4D5E7-6C61-4807-86E6-7022DEE0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03847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TOP 1: FELD FALSCH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EC82B4-7B67-43CE-A3E4-B17D5BC8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47662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Qualifikationsziele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3BA7B6-C8C9-4EBB-A363-0A1E3AB53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5765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085"/>
                </a:solidFill>
              </a:defRPr>
            </a:pPr>
            <a:r>
              <a:rPr sz="1275" b="0" i="0">
                <a:solidFill>
                  <a:srgbClr val="667085"/>
                </a:solidFill>
              </a:rPr>
              <a:t>Gold: Inhalte · erster relevanter Rang: 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A573D4-F050-4145-BFF7-CD6DE990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19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B8F6A"/>
                </a:solidFill>
              </a:defRPr>
            </a:pPr>
            <a:r>
              <a:rPr sz="1275" b="1" i="0">
                <a:solidFill>
                  <a:srgbClr val="0B8F6A"/>
                </a:solidFill>
              </a:rPr>
              <a:t>Modulfund → relaxed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BA893C-2AD3-4587-857D-A1C9F9B8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219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D59B14"/>
                </a:solidFill>
              </a:defRPr>
            </a:pPr>
            <a:r>
              <a:rPr sz="1275" b="1" i="0">
                <a:solidFill>
                  <a:srgbClr val="D59B14"/>
                </a:solidFill>
              </a:rPr>
              <a:t>Feldfund → strict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3F4EDF-8392-411B-A4C4-213ED6166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6153150"/>
            <a:ext cx="45053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Auditpfad: Excel › Fehleranalyse, q07</a:t>
            </a:r>
          </a:p>
        </p:txBody>
      </p:sp>
    </p:spTree>
    <p:extLst>
      <p:ext uri="{BB962C8B-B14F-4D97-AF65-F5344CB8AC3E}">
        <p14:creationId xmlns:p14="http://schemas.microsoft.com/office/powerpoint/2010/main" val="12857570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6713AD-3B27-459C-A41C-DDB7860BF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69D3"/>
                </a:solidFill>
              </a:defRPr>
            </a:pPr>
            <a:r>
              <a:rPr sz="900" b="1" i="0">
                <a:solidFill>
                  <a:srgbClr val="2F69D3"/>
                </a:solidFill>
              </a:rPr>
              <a:t>RETRIEVAL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63FB2B-B7E4-4B34-882E-13493FA8D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11827"/>
                </a:solidFill>
              </a:defRPr>
            </a:pPr>
            <a:r>
              <a:rPr sz="2325" b="1" i="0">
                <a:solidFill>
                  <a:srgbClr val="111827"/>
                </a:solidFill>
              </a:rPr>
              <a:t>Hybrid heißt: lexikalisches und semantisches Signal bewusst mischen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1A0C30-A6B4-45B0-BA46-565B2DD39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BCD684-0D8B-4865-9161-B4F94A2A2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00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Modulhandbuch-RAG · Selvinaz Tiryaki &amp; Salem Depebe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204365-C66D-46F4-A5E5-0796D4167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71BD1A-22BD-474F-A01A-158DB38B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320040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DDC5CA-6009-4E8E-BC99-1E796AFB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907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2F69D3"/>
                </a:solidFill>
              </a:defRPr>
            </a:pPr>
            <a:r>
              <a:rPr sz="2025" b="1" i="0">
                <a:solidFill>
                  <a:srgbClr val="2F69D3"/>
                </a:solidFill>
              </a:rPr>
              <a:t>BM25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F3D5E9-A60F-4F08-90C3-5574B85B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95525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827"/>
                </a:solidFill>
              </a:defRPr>
            </a:pPr>
            <a:r>
              <a:rPr sz="1125" b="0" i="0">
                <a:solidFill>
                  <a:srgbClr val="111827"/>
                </a:solidFill>
              </a:rPr>
              <a:t>exakte Begriffe · Modulcodes</a:t>
            </a:r>
          </a:p>
          <a:p xmlns:a="http://schemas.openxmlformats.org/drawingml/2006/main">
            <a:pPr algn="l">
              <a:defRPr sz="1125" b="0" i="0">
                <a:solidFill>
                  <a:srgbClr val="111827"/>
                </a:solidFill>
              </a:defRPr>
            </a:pPr>
            <a:r>
              <a:rPr sz="1125" b="0" i="0">
                <a:solidFill>
                  <a:srgbClr val="111827"/>
                </a:solidFill>
              </a:rPr>
              <a:t>transparente lexikalische Treffer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A70DEA-5944-4012-9B31-A9F06A7C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562100"/>
            <a:ext cx="320040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E7F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2840A8-1F88-4B42-B012-CD5E70DF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7907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8F6A"/>
                </a:solidFill>
              </a:defRPr>
            </a:pPr>
            <a:r>
              <a:rPr sz="2025" b="1" i="0">
                <a:solidFill>
                  <a:srgbClr val="0B8F6A"/>
                </a:solidFill>
              </a:rPr>
              <a:t>Dense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950B1A-0A30-425A-9E88-FF168CF3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95525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827"/>
                </a:solidFill>
              </a:defRPr>
            </a:pPr>
            <a:r>
              <a:rPr sz="1125" b="0" i="0">
                <a:solidFill>
                  <a:srgbClr val="111827"/>
                </a:solidFill>
              </a:rPr>
              <a:t>semantische Ähnlichkeit</a:t>
            </a:r>
          </a:p>
          <a:p xmlns:a="http://schemas.openxmlformats.org/drawingml/2006/main">
            <a:pPr algn="l">
              <a:defRPr sz="1125" b="0" i="0">
                <a:solidFill>
                  <a:srgbClr val="111827"/>
                </a:solidFill>
              </a:defRPr>
            </a:pPr>
            <a:r>
              <a:rPr sz="1125" b="0" i="0">
                <a:solidFill>
                  <a:srgbClr val="111827"/>
                </a:solidFill>
              </a:rPr>
              <a:t>mehrsprachige Repräsentation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0C0533-56EC-4013-9F06-CFC4D748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562100"/>
            <a:ext cx="384810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063091-4AA4-4A52-B921-A05FAF85F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907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D59B14"/>
                </a:solidFill>
              </a:defRPr>
            </a:pPr>
            <a:r>
              <a:rPr sz="2025" b="1" i="0">
                <a:solidFill>
                  <a:srgbClr val="D59B14"/>
                </a:solidFill>
              </a:rPr>
              <a:t>Hybrid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B4C083-950E-4FE7-918D-E087131DB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5267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827"/>
                </a:solidFill>
              </a:defRPr>
            </a:pPr>
            <a:r>
              <a:rPr sz="1350" b="1" i="0">
                <a:solidFill>
                  <a:srgbClr val="111827"/>
                </a:solidFill>
              </a:rPr>
              <a:t>Score = α · Dense + (1−α) · BM25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AB468B-BFCA-44DC-87E9-7B11513FC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827"/>
                </a:solidFill>
              </a:defRPr>
            </a:pPr>
            <a:r>
              <a:rPr sz="1350" b="1" i="0">
                <a:solidFill>
                  <a:srgbClr val="111827"/>
                </a:solidFill>
              </a:rPr>
              <a:t>α ist der Dense-Anteil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7CA826-5693-4C5E-B0EF-2A5C3D1F9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242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11827"/>
                </a:solidFill>
              </a:defRPr>
            </a:pPr>
            <a:r>
              <a:rPr sz="1125" b="1" i="0">
                <a:solidFill>
                  <a:srgbClr val="111827"/>
                </a:solidFill>
              </a:rPr>
              <a:t>α = 0,25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322842-D03A-4CE8-BEDA-DFA0B412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114800"/>
            <a:ext cx="5715000" cy="3238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2F6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A35E53-548D-4138-BD39-B8D76FF6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14800"/>
            <a:ext cx="1905000" cy="3238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0B8F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2023EB-0F93-437E-8E2D-338710E43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18147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75% BM25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963FBC-C4CC-4766-ADD1-95FCFB41F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814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25% Dense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79676E-5362-45EF-A084-4BF7CAB4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11827"/>
                </a:solidFill>
              </a:defRPr>
            </a:pPr>
            <a:r>
              <a:rPr sz="1125" b="1" i="0">
                <a:solidFill>
                  <a:srgbClr val="111827"/>
                </a:solidFill>
              </a:rPr>
              <a:t>α = 0,50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E43693-A818-4A5A-855E-75C01E140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667250"/>
            <a:ext cx="3810000" cy="3238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2F6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5AE680-C419-4A97-84CC-30026F5B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67250"/>
            <a:ext cx="3810000" cy="3238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0B8F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9B7539-91CA-437A-B9F3-B5E24CEA0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339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50% BM25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E9ADDC-0DE4-458D-97C8-A89DB48D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7339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50% Dense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206438-D280-41B6-BF23-21900910D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6732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11827"/>
                </a:solidFill>
              </a:defRPr>
            </a:pPr>
            <a:r>
              <a:rPr sz="1125" b="1" i="0">
                <a:solidFill>
                  <a:srgbClr val="111827"/>
                </a:solidFill>
              </a:rPr>
              <a:t>α = 0,75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30C28B-EDC8-4E64-B549-B5239354D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19700"/>
            <a:ext cx="1905000" cy="3238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2F6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20C4BE-AC5D-4042-B177-49B0D279D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219700"/>
            <a:ext cx="5715000" cy="3238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0B8F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C4916C-A06F-4224-883A-E8FAEFB82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8637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25% BM25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31C664-F949-4F49-9823-901C10E07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863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75% Dense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E315E2-224A-4013-827A-9A54B687B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814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667085"/>
                </a:solidFill>
              </a:defRPr>
            </a:pPr>
            <a:r>
              <a:rPr sz="1200" b="0" i="0">
                <a:solidFill>
                  <a:srgbClr val="667085"/>
                </a:solidFill>
              </a:rPr>
              <a:t>Im finalen Lauf trägt BM25 den größeren Anteil des besten Hybrids.</a:t>
            </a:r>
          </a:p>
        </p:txBody>
      </p:sp>
    </p:spTree>
    <p:extLst>
      <p:ext uri="{BB962C8B-B14F-4D97-AF65-F5344CB8AC3E}">
        <p14:creationId xmlns:p14="http://schemas.microsoft.com/office/powerpoint/2010/main" val="188933835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5F6B39-2246-4ACB-BC4E-65D820BB5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69D3"/>
                </a:solidFill>
              </a:defRPr>
            </a:pPr>
            <a:r>
              <a:rPr sz="900" b="1" i="0">
                <a:solidFill>
                  <a:srgbClr val="2F69D3"/>
                </a:solidFill>
              </a:rPr>
              <a:t>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303EA6-8BAA-4BDD-B081-148F4BE5C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11827"/>
                </a:solidFill>
              </a:defRPr>
            </a:pPr>
            <a:r>
              <a:rPr sz="2325" b="1" i="0">
                <a:solidFill>
                  <a:srgbClr val="111827"/>
                </a:solidFill>
              </a:rPr>
              <a:t>Strict und relaxed beantworten unterschiedliche Fragen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06E939-CCDC-4D4E-B51B-56E6602F1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49A5D6-C31F-4947-8DC9-223C68300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00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Modulhandbuch-RAG · Selvinaz Tiryaki &amp; Salem Depebe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1E4875-1C17-427F-825D-775A74F2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F02509-F6C6-4B1B-A403-69745056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50673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7F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7552DA-9BA1-482B-980D-19F202D2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47850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8F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EA832A-C4AC-4C87-85EC-92D960821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95475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RELAXED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E14DBE-7C67-4FE0-9B7F-428AE1618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11827"/>
                </a:solidFill>
              </a:defRPr>
            </a:pPr>
            <a:r>
              <a:rPr sz="2025" b="1" i="0">
                <a:solidFill>
                  <a:srgbClr val="111827"/>
                </a:solidFill>
              </a:rPr>
              <a:t>Ist das Modul richtig?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8844EE-BC7D-467E-9CB2-23373E183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765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67085"/>
                </a:solidFill>
              </a:defRPr>
            </a:pPr>
            <a:r>
              <a:rPr sz="975" b="1" i="0">
                <a:solidFill>
                  <a:srgbClr val="667085"/>
                </a:solidFill>
              </a:rPr>
              <a:t>Goldschlüssel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D7F392-A7F0-4B5C-BADE-FADF88342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81375"/>
            <a:ext cx="42862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8B0003-0B5F-4B64-8A55-91099B71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43300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8F6A"/>
                </a:solidFill>
              </a:defRPr>
            </a:pPr>
            <a:r>
              <a:rPr sz="1350" b="1" i="0">
                <a:solidFill>
                  <a:srgbClr val="0B8F6A"/>
                </a:solidFill>
              </a:rPr>
              <a:t>Dokument :: Modul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07178C-29DC-411F-B0A9-83FC52DBE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862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geeignet für Chunking-Vergleich und Modulfund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D7AD1C-2584-43F2-B89D-E83A0E5F9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581150"/>
            <a:ext cx="50673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436B05-77C2-461C-84CA-467C13B4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847850"/>
            <a:ext cx="1143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9B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9BDEC2-D0FF-45F0-9E41-1B390B542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954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STRICT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11630F-3D59-4483-8141-C0BA552D8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38125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11827"/>
                </a:solidFill>
              </a:defRPr>
            </a:pPr>
            <a:r>
              <a:rPr sz="2025" b="1" i="0">
                <a:solidFill>
                  <a:srgbClr val="111827"/>
                </a:solidFill>
              </a:rPr>
              <a:t>Ist auch der Abschnitt richtig?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9DF9D6-862D-47D3-9B33-E28D224E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765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67085"/>
                </a:solidFill>
              </a:defRPr>
            </a:pPr>
            <a:r>
              <a:rPr sz="975" b="1" i="0">
                <a:solidFill>
                  <a:srgbClr val="667085"/>
                </a:solidFill>
              </a:rPr>
              <a:t>Goldschlüssel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F21E90-BFCD-4E19-B1DD-A05D9F947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381375"/>
            <a:ext cx="42862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512811-247F-40F1-B181-50DC0AC67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543300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59B14"/>
                </a:solidFill>
              </a:defRPr>
            </a:pPr>
            <a:r>
              <a:rPr sz="1350" b="1" i="0">
                <a:solidFill>
                  <a:srgbClr val="D59B14"/>
                </a:solidFill>
              </a:rPr>
              <a:t>Dokument :: Modul :: Abschnitt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247011-A403-4D45-B8DA-E9D7C6036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2862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offizielle feldgenaue Retriever-Bewertung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A955F8-2EF9-4EC0-90C9-663C4BCC8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5457825"/>
            <a:ext cx="889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827"/>
                </a:solidFill>
              </a:defRPr>
            </a:pPr>
            <a:r>
              <a:rPr sz="1275" b="1" i="0">
                <a:solidFill>
                  <a:srgbClr val="111827"/>
                </a:solidFill>
              </a:rPr>
              <a:t>Ungeeignete Kombinationen werden nicht als künstliche 0,000-Qualitätswerte gezeigt.</a:t>
            </a:r>
          </a:p>
        </p:txBody>
      </p:sp>
    </p:spTree>
    <p:extLst>
      <p:ext uri="{BB962C8B-B14F-4D97-AF65-F5344CB8AC3E}">
        <p14:creationId xmlns:p14="http://schemas.microsoft.com/office/powerpoint/2010/main" val="49031481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762815-900E-4A94-8039-A4036D7B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69D3"/>
                </a:solidFill>
              </a:defRPr>
            </a:pPr>
            <a:r>
              <a:rPr sz="900" b="1" i="0">
                <a:solidFill>
                  <a:srgbClr val="2F69D3"/>
                </a:solidFill>
              </a:rPr>
              <a:t>ERGEBNIS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1F1954-29A0-4350-96AD-8DCB5E1F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11827"/>
                </a:solidFill>
              </a:defRPr>
            </a:pPr>
            <a:r>
              <a:rPr sz="2325" b="1" i="0">
                <a:solidFill>
                  <a:srgbClr val="111827"/>
                </a:solidFill>
              </a:rPr>
              <a:t>BM25 profitiert vor allem von Query Expansion und Feldwissen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601A4E-6BD9-4F3F-9A14-BE17E9D7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67085"/>
                </a:solidFill>
              </a:defRPr>
            </a:pPr>
            <a:r>
              <a:rPr sz="1200" b="0" i="0">
                <a:solidFill>
                  <a:srgbClr val="667085"/>
                </a:solidFill>
              </a:rPr>
              <a:t>Deutsch n=25 · Field Chunking · strict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0F01D5-6793-4144-9112-3C331B4B6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B1EF46-54C1-4D52-B724-EAAA5130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00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Modulhandbuch-RAG · Selvinaz Tiryaki &amp; Salem Depebe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F250CD-91BD-4714-9E69-1C787CF7F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12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685800" y="1657350"/>
          <a:ext xmlns:a="http://schemas.openxmlformats.org/drawingml/2006/main" cx="7810500" cy="3762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04d5de9368e4fc6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829AFF-5572-42D2-B639-C00D24BE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52600"/>
            <a:ext cx="26479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65F765-4BD3-47FB-8C65-B7541826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19300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2F69D3"/>
                </a:solidFill>
              </a:defRPr>
            </a:pPr>
            <a:r>
              <a:rPr sz="3150" b="1" i="0">
                <a:solidFill>
                  <a:srgbClr val="2F69D3"/>
                </a:solidFill>
              </a:rPr>
              <a:t>+40 pp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0C9C54-CDC9-483E-A989-361B6AF6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574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11827"/>
                </a:solidFill>
              </a:defRPr>
            </a:pPr>
            <a:r>
              <a:rPr sz="1125" b="1" i="0">
                <a:solidFill>
                  <a:srgbClr val="111827"/>
                </a:solidFill>
              </a:rPr>
              <a:t>Hit@1 gegenüber Plain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67B8C7-C399-4095-B40D-60149B8B3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48000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7085"/>
                </a:solidFill>
              </a:defRPr>
            </a:pPr>
            <a:r>
              <a:rPr sz="975" b="0" i="0">
                <a:solidFill>
                  <a:srgbClr val="667085"/>
                </a:solidFill>
              </a:rPr>
              <a:t>durch Expansion + Section Boost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8FDBCD-1A73-4007-A369-E1320B86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14750"/>
            <a:ext cx="26479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A67A9D-5FED-4301-85D2-E40C3C148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9433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D59B14"/>
                </a:solidFill>
              </a:defRPr>
            </a:pPr>
            <a:r>
              <a:rPr sz="975" b="1" i="0">
                <a:solidFill>
                  <a:srgbClr val="D59B14"/>
                </a:solidFill>
              </a:rPr>
              <a:t>Nuance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972E15-9C92-42E4-BF26-492C238AD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295775"/>
            <a:ext cx="2000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827"/>
                </a:solidFill>
              </a:defRPr>
            </a:pPr>
            <a:r>
              <a:rPr sz="1125" b="0" i="0">
                <a:solidFill>
                  <a:srgbClr val="111827"/>
                </a:solidFill>
              </a:rPr>
              <a:t>Der Feldboost verbessert Rang 1, senkt Recall@3 aber leicht von 80% auf 78%.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25E907-D72F-49E6-B54C-D5BC8B714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6153150"/>
            <a:ext cx="45053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Auditpfad: Excel › Ergebnisse, Zeilen 29–33</a:t>
            </a:r>
          </a:p>
        </p:txBody>
      </p:sp>
    </p:spTree>
    <p:extLst>
      <p:ext uri="{BB962C8B-B14F-4D97-AF65-F5344CB8AC3E}">
        <p14:creationId xmlns:p14="http://schemas.microsoft.com/office/powerpoint/2010/main" val="200663096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37AB09-48B5-4774-A9BC-817D4F1E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69D3"/>
                </a:solidFill>
              </a:defRPr>
            </a:pPr>
            <a:r>
              <a:rPr sz="900" b="1" i="0">
                <a:solidFill>
                  <a:srgbClr val="2F69D3"/>
                </a:solidFill>
              </a:rPr>
              <a:t>ERGEBNIS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26D9A4-ABEE-4827-B446-7679355A8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11827"/>
                </a:solidFill>
              </a:defRPr>
            </a:pPr>
            <a:r>
              <a:rPr sz="2325" b="1" i="0">
                <a:solidFill>
                  <a:srgbClr val="111827"/>
                </a:solidFill>
              </a:rPr>
              <a:t>Deutsch: α = 0,25 gewinnt Rang 1, α = 0,50 maximiert Recall@3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651F36-2480-4D25-8D94-A70DD5C1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67085"/>
                </a:solidFill>
              </a:defRPr>
            </a:pPr>
            <a:r>
              <a:rPr sz="1200" b="0" i="0">
                <a:solidFill>
                  <a:srgbClr val="667085"/>
                </a:solidFill>
              </a:rPr>
              <a:t>Deutsch n=25 · Field Chunking · strict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ECAF51-4A6C-431C-891D-7953D6C49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4A8614-019C-4922-A2A5-2F9D018B1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00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Modulhandbuch-RAG · Selvinaz Tiryaki &amp; Salem Depebe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588E84-59E1-402D-A435-38C0BF030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13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685800" y="1657350"/>
          <a:ext xmlns:a="http://schemas.openxmlformats.org/drawingml/2006/main" cx="7953375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315fde857cb4fef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0A787A-98E0-43D5-BEA7-5591842B8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752600"/>
            <a:ext cx="25146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C8217E-EB70-4B0E-AECA-F04FBE742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981200"/>
            <a:ext cx="1952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2F69D3"/>
                </a:solidFill>
              </a:defRPr>
            </a:pPr>
            <a:r>
              <a:rPr sz="3225" b="1" i="0">
                <a:solidFill>
                  <a:srgbClr val="2F69D3"/>
                </a:solidFill>
              </a:rPr>
              <a:t>72%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BF8C6B-91D3-4EBF-89E2-860EC4DAA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590800"/>
            <a:ext cx="1952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11827"/>
                </a:solidFill>
              </a:defRPr>
            </a:pPr>
            <a:r>
              <a:rPr sz="1125" b="1" i="0">
                <a:solidFill>
                  <a:srgbClr val="111827"/>
                </a:solidFill>
              </a:rPr>
              <a:t>bestes Hit@1</a:t>
            </a:r>
          </a:p>
          <a:p xmlns:a="http://schemas.openxmlformats.org/drawingml/2006/main">
            <a:pPr algn="l">
              <a:defRPr sz="1125" b="1" i="0">
                <a:solidFill>
                  <a:srgbClr val="111827"/>
                </a:solidFill>
              </a:defRPr>
            </a:pPr>
            <a:r>
              <a:rPr sz="1125" b="1" i="0">
                <a:solidFill>
                  <a:srgbClr val="111827"/>
                </a:solidFill>
              </a:rPr>
              <a:t>Hybrid α = 0,25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A3E803-CAFE-43D4-A7EE-35518A3D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543300"/>
            <a:ext cx="25146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7F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912E79-B792-4AC8-9168-6FA0247A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771900"/>
            <a:ext cx="1952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0B8F6A"/>
                </a:solidFill>
              </a:defRPr>
            </a:pPr>
            <a:r>
              <a:rPr sz="3225" b="1" i="0">
                <a:solidFill>
                  <a:srgbClr val="0B8F6A"/>
                </a:solidFill>
              </a:rPr>
              <a:t>90%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D16581-DC2D-4385-9DDE-AF71673A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381500"/>
            <a:ext cx="1952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11827"/>
                </a:solidFill>
              </a:defRPr>
            </a:pPr>
            <a:r>
              <a:rPr sz="1125" b="1" i="0">
                <a:solidFill>
                  <a:srgbClr val="111827"/>
                </a:solidFill>
              </a:rPr>
              <a:t>bestes Recall@3</a:t>
            </a:r>
          </a:p>
          <a:p xmlns:a="http://schemas.openxmlformats.org/drawingml/2006/main">
            <a:pPr algn="l">
              <a:defRPr sz="1125" b="1" i="0">
                <a:solidFill>
                  <a:srgbClr val="111827"/>
                </a:solidFill>
              </a:defRPr>
            </a:pPr>
            <a:r>
              <a:rPr sz="1125" b="1" i="0">
                <a:solidFill>
                  <a:srgbClr val="111827"/>
                </a:solidFill>
              </a:rPr>
              <a:t>Hybrid α = 0,50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693D55-923E-4E0F-A40D-C500503EE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56673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827"/>
                </a:solidFill>
              </a:defRPr>
            </a:pPr>
            <a:r>
              <a:rPr sz="1275" b="1" i="0">
                <a:solidFill>
                  <a:srgbClr val="111827"/>
                </a:solidFill>
              </a:rPr>
              <a:t>Dense allein bleibt deutlich schwächer; das lexikalische Signal trägt den Hybrid.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409206-CA5C-4647-BE1F-AA9195258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6153150"/>
            <a:ext cx="45053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Auditpfad: Excel › Ergebnisse, Zeilen 11–17</a:t>
            </a:r>
          </a:p>
        </p:txBody>
      </p:sp>
    </p:spTree>
    <p:extLst>
      <p:ext uri="{BB962C8B-B14F-4D97-AF65-F5344CB8AC3E}">
        <p14:creationId xmlns:p14="http://schemas.microsoft.com/office/powerpoint/2010/main" val="81279787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36165E-A8BF-46AE-9421-DD094AE75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69D3"/>
                </a:solidFill>
              </a:defRPr>
            </a:pPr>
            <a:r>
              <a:rPr sz="900" b="1" i="0">
                <a:solidFill>
                  <a:srgbClr val="2F69D3"/>
                </a:solidFill>
              </a:rPr>
              <a:t>MEHRSPRACHIGKEIT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CF868B-F860-4A55-B918-ED46CE16A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11827"/>
                </a:solidFill>
              </a:defRPr>
            </a:pPr>
            <a:r>
              <a:rPr sz="2325" b="1" i="0">
                <a:solidFill>
                  <a:srgbClr val="111827"/>
                </a:solidFill>
              </a:rPr>
              <a:t>Gleiche Intention, gleiches Gold – nur die Sprache ändert sich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3AC0D9-80EC-40FF-957B-56B13B4C5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EFD2F2-ACFA-42CA-9153-82DEC5F3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00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Modulhandbuch-RAG · Selvinaz Tiryaki &amp; Salem Depebe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9C659A-5EC5-4976-9686-ABA601201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AD2EC2-8B04-49B8-AAC3-CE0CE7598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7334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AA1FB7-6D35-423F-9E99-C2EC38997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907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2F69D3"/>
                </a:solidFill>
              </a:defRPr>
            </a:pPr>
            <a:r>
              <a:rPr sz="2175" b="1" i="0">
                <a:solidFill>
                  <a:srgbClr val="2F69D3"/>
                </a:solidFill>
              </a:rPr>
              <a:t>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6FB398-9968-40AA-AA92-D874C38D5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847850"/>
            <a:ext cx="581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827"/>
                </a:solidFill>
              </a:defRPr>
            </a:pPr>
            <a:r>
              <a:rPr sz="1500" b="1" i="0">
                <a:solidFill>
                  <a:srgbClr val="111827"/>
                </a:solidFill>
              </a:rPr>
              <a:t>Welche Prüfungsform hat WP3?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DE2FD0-71B5-4A04-BA7E-0A768B136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33675"/>
            <a:ext cx="7334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7F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C8FD33-2C0D-418A-8155-5E114083A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0B8F6A"/>
                </a:solidFill>
              </a:defRPr>
            </a:pPr>
            <a:r>
              <a:rPr sz="2175" b="1" i="0">
                <a:solidFill>
                  <a:srgbClr val="0B8F6A"/>
                </a:solidFill>
              </a:rPr>
              <a:t>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199562-DA1D-488C-A3F9-BF2520F1D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009900"/>
            <a:ext cx="581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827"/>
                </a:solidFill>
              </a:defRPr>
            </a:pPr>
            <a:r>
              <a:rPr sz="1500" b="1" i="0">
                <a:solidFill>
                  <a:srgbClr val="111827"/>
                </a:solidFill>
              </a:rPr>
              <a:t>What is the exam format of WP3?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3B5287-E19C-4ECE-9043-336B45822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95725"/>
            <a:ext cx="7334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8B0B8D-66EA-45E9-8D98-5FAFE0E07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148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D59B14"/>
                </a:solidFill>
              </a:defRPr>
            </a:pPr>
            <a:r>
              <a:rPr sz="2175" b="1" i="0">
                <a:solidFill>
                  <a:srgbClr val="D59B14"/>
                </a:solidFill>
              </a:rPr>
              <a:t>TR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F83C66-E88E-4DD7-95D0-E4501F88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171950"/>
            <a:ext cx="581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827"/>
                </a:solidFill>
              </a:defRPr>
            </a:pPr>
            <a:r>
              <a:rPr sz="1500" b="1" i="0">
                <a:solidFill>
                  <a:srgbClr val="111827"/>
                </a:solidFill>
              </a:rPr>
              <a:t>WP3’ün sınav biçimi nedir?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070DC3-C345-42D7-9E43-06A7ACCFD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098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667085"/>
                </a:solidFill>
              </a:defRPr>
            </a:pPr>
            <a:r>
              <a:rPr sz="2850" b="1" i="0">
                <a:solidFill>
                  <a:srgbClr val="667085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1F99D8-2084-464E-9BF2-AA39A7AC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57375"/>
            <a:ext cx="2647950" cy="2552700"/>
          </a:xfrm>
          <a:prstGeom xmlns:a="http://schemas.openxmlformats.org/drawingml/2006/main" prst="roundRect">
            <a:avLst>
              <a:gd name="adj" fmla="val 4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78F368-6268-434A-8E36-583A6B50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431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827"/>
                </a:solidFill>
              </a:defRPr>
            </a:pPr>
            <a:r>
              <a:rPr sz="1650" b="1" i="0">
                <a:solidFill>
                  <a:srgbClr val="111827"/>
                </a:solidFill>
              </a:rPr>
              <a:t>Dasselbe Gold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50C493-78F8-4431-8B9E-D6D53DF5D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24150"/>
            <a:ext cx="762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21FE29-DA42-42CF-A8C7-D3421998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717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0B8F6A"/>
                </a:solidFill>
              </a:defRPr>
            </a:pPr>
            <a:r>
              <a:rPr sz="825" b="1" i="0">
                <a:solidFill>
                  <a:srgbClr val="0B8F6A"/>
                </a:solidFill>
              </a:rPr>
              <a:t>WP3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119CF9-65C0-4B99-86AB-B45586B51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43250"/>
            <a:ext cx="195262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6A580E-84E7-4867-A364-E34F37CA2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90875"/>
            <a:ext cx="1762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D59B14"/>
                </a:solidFill>
              </a:defRPr>
            </a:pPr>
            <a:r>
              <a:rPr sz="825" b="1" i="0">
                <a:solidFill>
                  <a:srgbClr val="D59B14"/>
                </a:solidFill>
              </a:rPr>
              <a:t>Form der Modulprüfung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87C715-68BF-4C9A-B91B-A7AC10C5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714750"/>
            <a:ext cx="204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67085"/>
                </a:solidFill>
              </a:defRPr>
            </a:pPr>
            <a:r>
              <a:rPr sz="1200" b="0" i="0">
                <a:solidFill>
                  <a:srgbClr val="667085"/>
                </a:solidFill>
              </a:rPr>
              <a:t>6 Intentionen × 3 Sprachen = 18 Anfragen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3B07BF-3148-4BED-AFAA-94CF7D49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286375"/>
            <a:ext cx="4762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424150-B26A-421B-AFC1-F32D7BFB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33400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2F69D3"/>
                </a:solidFill>
              </a:defRPr>
            </a:pPr>
            <a:r>
              <a:rPr sz="825" b="1" i="0">
                <a:solidFill>
                  <a:srgbClr val="2F69D3"/>
                </a:solidFill>
              </a:rPr>
              <a:t>Kein Übersetzungsbonus im Gold</a:t>
            </a:r>
          </a:p>
        </p:txBody>
      </p:sp>
    </p:spTree>
    <p:extLst>
      <p:ext uri="{BB962C8B-B14F-4D97-AF65-F5344CB8AC3E}">
        <p14:creationId xmlns:p14="http://schemas.microsoft.com/office/powerpoint/2010/main" val="158585400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29E73E-924B-4952-B46A-3C1D627D8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69D3"/>
                </a:solidFill>
              </a:defRPr>
            </a:pPr>
            <a:r>
              <a:rPr sz="900" b="1" i="0">
                <a:solidFill>
                  <a:srgbClr val="2F69D3"/>
                </a:solidFill>
              </a:rPr>
              <a:t>ERGEBNIS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AAB894-909F-4A28-BF29-963848260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11827"/>
                </a:solidFill>
              </a:defRPr>
            </a:pPr>
            <a:r>
              <a:rPr sz="2325" b="1" i="0">
                <a:solidFill>
                  <a:srgbClr val="111827"/>
                </a:solidFill>
              </a:rPr>
              <a:t>Mehrsprachig: Hybrid α = 0,25 erreicht vollständigen Recall@3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DD9A58-04AA-4DE5-AD80-171629A70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67085"/>
                </a:solidFill>
              </a:defRPr>
            </a:pPr>
            <a:r>
              <a:rPr sz="1200" b="0" i="0">
                <a:solidFill>
                  <a:srgbClr val="667085"/>
                </a:solidFill>
              </a:rPr>
              <a:t>18 Anfragen · DE / EN / TR · Field Chunking · strict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F19C7D-F5E3-4181-9049-8678527F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499D56-747B-436B-8476-8E2D072FC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00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Modulhandbuch-RAG · Selvinaz Tiryaki &amp; Salem Depebe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426DF6-A2C3-4C90-B62D-A3F63488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15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685800" y="1657350"/>
          <a:ext xmlns:a="http://schemas.openxmlformats.org/drawingml/2006/main" cx="790575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fdf4176668944e2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BEDAC9-AB3C-4669-8DB5-D1BD89E36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762125"/>
            <a:ext cx="2533650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E7F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F7582C-0F0C-45D7-AFE4-B709D2939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1930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B8F6A"/>
                </a:solidFill>
              </a:defRPr>
            </a:pPr>
            <a:r>
              <a:rPr sz="3450" b="1" i="0">
                <a:solidFill>
                  <a:srgbClr val="0B8F6A"/>
                </a:solidFill>
              </a:rPr>
              <a:t>100%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06D850-61F4-40AF-8090-BCA1D186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051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827"/>
                </a:solidFill>
              </a:defRPr>
            </a:pPr>
            <a:r>
              <a:rPr sz="1275" b="1" i="0">
                <a:solidFill>
                  <a:srgbClr val="111827"/>
                </a:solidFill>
              </a:rPr>
              <a:t>Recall@3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914D2F-59A3-4A6A-8DC1-399329458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765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085"/>
                </a:solidFill>
              </a:defRPr>
            </a:pPr>
            <a:r>
              <a:rPr sz="1050" b="0" i="0">
                <a:solidFill>
                  <a:srgbClr val="667085"/>
                </a:solidFill>
              </a:rPr>
              <a:t>Hybrid α = 0,25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91A2A6-20CF-4C0C-969C-81CE0C32D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705225"/>
            <a:ext cx="25336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FDD0A3-7C1E-419C-AB55-93FBCA0EB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433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F69D3"/>
                </a:solidFill>
              </a:defRPr>
            </a:pPr>
            <a:r>
              <a:rPr sz="975" b="1" i="0">
                <a:solidFill>
                  <a:srgbClr val="2F69D3"/>
                </a:solidFill>
              </a:rPr>
              <a:t>Schluss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2E5B13-04F4-41B9-A592-487CCDD60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295775"/>
            <a:ext cx="2000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827"/>
                </a:solidFill>
              </a:defRPr>
            </a:pPr>
            <a:r>
              <a:rPr sz="1125" b="0" i="0">
                <a:solidFill>
                  <a:srgbClr val="111827"/>
                </a:solidFill>
              </a:rPr>
              <a:t>BM25 ist bereits stark. Dense ergänzt – es ersetzt das lexikalische Signal nicht.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468EF9-DDBD-454D-90CE-34D82729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6153150"/>
            <a:ext cx="45053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Auditpfad: Excel › Ergebnisse, Zeilen 20–26</a:t>
            </a:r>
          </a:p>
        </p:txBody>
      </p:sp>
    </p:spTree>
    <p:extLst>
      <p:ext uri="{BB962C8B-B14F-4D97-AF65-F5344CB8AC3E}">
        <p14:creationId xmlns:p14="http://schemas.microsoft.com/office/powerpoint/2010/main" val="117336840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83BDA6-2A22-464D-8C4F-5840C8BF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69D3"/>
                </a:solidFill>
              </a:defRPr>
            </a:pPr>
            <a:r>
              <a:rPr sz="900" b="1" i="0">
                <a:solidFill>
                  <a:srgbClr val="2F69D3"/>
                </a:solidFill>
              </a:rPr>
              <a:t>FEHLERANALYSE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F81FC9-CD62-407E-ABD5-A17CE5BA7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11827"/>
                </a:solidFill>
              </a:defRPr>
            </a:pPr>
            <a:r>
              <a:rPr sz="2325" b="1" i="0">
                <a:solidFill>
                  <a:srgbClr val="111827"/>
                </a:solidFill>
              </a:rPr>
              <a:t>Aggregierte Werte werden erst mit Einzelfällen erklärbar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37588C-B024-45DB-8D01-76189E5BA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0B9CF8-1C05-42A3-BB1F-47A138CFA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00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Modulhandbuch-RAG · Selvinaz Tiryaki &amp; Salem Depebe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4F1282-DC68-4EA7-BA3B-DA1901328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DCA658-BF83-4DEC-8D5A-48CB85723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7239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DEB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490BAA-F5FF-4D59-AC91-C09D994CD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81175"/>
            <a:ext cx="666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05D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20253D-867D-4FF5-A0AE-A903E6A99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288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q12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57D4F9-4CA1-4854-9115-9CF3607E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1724025"/>
            <a:ext cx="2619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827"/>
                </a:solidFill>
              </a:defRPr>
            </a:pPr>
            <a:r>
              <a:rPr sz="1200" b="1" i="0">
                <a:solidFill>
                  <a:srgbClr val="111827"/>
                </a:solidFill>
              </a:rPr>
              <a:t>Prüfungsform P13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5BE9CA-8D46-485C-BBCE-2DB00BF45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19812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7085"/>
                </a:solidFill>
              </a:defRPr>
            </a:pPr>
            <a:r>
              <a:rPr sz="975" b="0" i="0">
                <a:solidFill>
                  <a:srgbClr val="667085"/>
                </a:solidFill>
              </a:rPr>
              <a:t>P5 statt P13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6B9A3C-84F0-4691-B458-98808B1A0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19275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E05D4B"/>
                </a:solidFill>
              </a:defRPr>
            </a:pPr>
            <a:r>
              <a:rPr sz="1050" b="1" i="0">
                <a:solidFill>
                  <a:srgbClr val="E05D4B"/>
                </a:solidFill>
              </a:rPr>
              <a:t>nicht gefunden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4D8215-65BC-49A2-9DA1-3B3A1090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7239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60F5DE-22D8-44B7-A7AD-93C35B099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57475"/>
            <a:ext cx="666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9B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F233E2-90D4-49B0-B48E-19573C04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q10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938C3D-D632-4152-8069-412170B8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2600325"/>
            <a:ext cx="2619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827"/>
                </a:solidFill>
              </a:defRPr>
            </a:pPr>
            <a:r>
              <a:rPr sz="1200" b="1" i="0">
                <a:solidFill>
                  <a:srgbClr val="111827"/>
                </a:solidFill>
              </a:rPr>
              <a:t>Morphologie &amp; Lexikographie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BB6DEA-3EDE-47EC-B812-A2173FFE2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28575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7085"/>
                </a:solidFill>
              </a:defRPr>
            </a:pPr>
            <a:r>
              <a:rPr sz="975" b="0" i="0">
                <a:solidFill>
                  <a:srgbClr val="667085"/>
                </a:solidFill>
              </a:rPr>
              <a:t>1 von 2 Gold-Feldern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9EFE55-360B-4269-93D9-0FDFBFCC8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695575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D59B14"/>
                </a:solidFill>
              </a:defRPr>
            </a:pPr>
            <a:r>
              <a:rPr sz="1050" b="1" i="0">
                <a:solidFill>
                  <a:srgbClr val="D59B14"/>
                </a:solidFill>
              </a:rPr>
              <a:t>teilweise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47EC70-F3FD-40E4-91C2-DBEDFA81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7239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7F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DAFDEA-8C42-4853-9C8A-0CC350AE0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33775"/>
            <a:ext cx="666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8F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049CEA-3D3C-47A3-A285-9FC4E957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814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q07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F7093A-3489-4BA1-B81C-725E225F6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3476625"/>
            <a:ext cx="2619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827"/>
                </a:solidFill>
              </a:defRPr>
            </a:pPr>
            <a:r>
              <a:rPr sz="1200" b="1" i="0">
                <a:solidFill>
                  <a:srgbClr val="111827"/>
                </a:solidFill>
              </a:rPr>
              <a:t>Informationssuche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079072-F0EA-44EC-978F-652660D09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37338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7085"/>
                </a:solidFill>
              </a:defRPr>
            </a:pPr>
            <a:r>
              <a:rPr sz="975" b="0" i="0">
                <a:solidFill>
                  <a:srgbClr val="667085"/>
                </a:solidFill>
              </a:rPr>
              <a:t>Gold auf Rang 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2224BB-B288-4C89-8FC3-7360706EA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71875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0B8F6A"/>
                </a:solidFill>
              </a:defRPr>
            </a:pPr>
            <a:r>
              <a:rPr sz="1050" b="1" i="0">
                <a:solidFill>
                  <a:srgbClr val="0B8F6A"/>
                </a:solidFill>
              </a:rPr>
              <a:t>Recall vollständig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FC3DEC-BA9D-432F-89C7-26105DB5F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81150"/>
            <a:ext cx="3219450" cy="24384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8873F6-11E1-47EC-91FF-17413BDC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288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F69D3"/>
                </a:solidFill>
              </a:defRPr>
            </a:pPr>
            <a:r>
              <a:rPr sz="1575" b="1" i="0">
                <a:solidFill>
                  <a:srgbClr val="2F69D3"/>
                </a:solidFill>
              </a:rPr>
              <a:t>Vollkorpus-Stresstest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EC4E4F-536A-4BC7-9916-98E2AE64C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8125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F69D3"/>
                </a:solidFill>
              </a:defRPr>
            </a:pPr>
            <a:r>
              <a:rPr sz="2850" b="1" i="0">
                <a:solidFill>
                  <a:srgbClr val="2F69D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7BEA09-FC91-4FAE-B84C-BB2BB67D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38450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11827"/>
                </a:solidFill>
              </a:defRPr>
            </a:pPr>
            <a:r>
              <a:rPr sz="1050" b="1" i="0">
                <a:solidFill>
                  <a:srgbClr val="111827"/>
                </a:solidFill>
              </a:rPr>
              <a:t>Dokumente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CB5CC9-9EC2-4FEE-B625-F0247F73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81250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8F6A"/>
                </a:solidFill>
              </a:defRPr>
            </a:pPr>
            <a:r>
              <a:rPr sz="2850" b="1" i="0">
                <a:solidFill>
                  <a:srgbClr val="0B8F6A"/>
                </a:solidFill>
              </a:rPr>
              <a:t>3.391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2695C8-0FC8-4F6A-939F-561655297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3845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11827"/>
                </a:solidFill>
              </a:defRPr>
            </a:pPr>
            <a:r>
              <a:rPr sz="1050" b="1" i="0">
                <a:solidFill>
                  <a:srgbClr val="111827"/>
                </a:solidFill>
              </a:rPr>
              <a:t>Field Chunks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2A3BEA-6E72-4A2F-9339-41C3C8208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52800"/>
            <a:ext cx="2571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9E1D88-782A-4777-A924-4A26DA389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0042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0B8F6A"/>
                </a:solidFill>
              </a:defRPr>
            </a:pPr>
            <a:r>
              <a:rPr sz="825" b="1" i="0">
                <a:solidFill>
                  <a:srgbClr val="0B8F6A"/>
                </a:solidFill>
              </a:rPr>
              <a:t>0 doppelte Chunk-IDs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5BF326-E7DA-4268-B1E7-AE677A97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95775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Technische Integrität – keine dokumentübergreifende Qualitätsmetrik.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D619F9-EEB6-4333-BE70-D8A099CEF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72390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63A7816-013F-456D-BE37-985FE357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38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F69D3"/>
                </a:solidFill>
              </a:defRPr>
            </a:pPr>
            <a:r>
              <a:rPr sz="1050" b="1" i="0">
                <a:solidFill>
                  <a:srgbClr val="2F69D3"/>
                </a:solidFill>
              </a:rPr>
              <a:t>Per-Query-Audit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69DD45A-DCA7-4CC4-BDCA-C6510FA6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8160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11827"/>
                </a:solidFill>
              </a:defRPr>
            </a:pPr>
            <a:r>
              <a:rPr sz="1125" b="1" i="0">
                <a:solidFill>
                  <a:srgbClr val="111827"/>
                </a:solidFill>
              </a:rPr>
              <a:t>Goldschlüssel · Top-3-Schlüssel · Rang · Precision · Recall · MRR-Beitrag · nDCG-Beitrag · Status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BC2EB65-EC9B-40C2-A644-F72FC4C0F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6153150"/>
            <a:ext cx="45053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Auditpfad: Excel › Fehleranalyse + Korpus</a:t>
            </a:r>
          </a:p>
        </p:txBody>
      </p:sp>
    </p:spTree>
    <p:extLst>
      <p:ext uri="{BB962C8B-B14F-4D97-AF65-F5344CB8AC3E}">
        <p14:creationId xmlns:p14="http://schemas.microsoft.com/office/powerpoint/2010/main" val="201922994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5DD3A4-88AF-476A-9894-9CD7B83F0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69D3"/>
                </a:solidFill>
              </a:defRPr>
            </a:pPr>
            <a:r>
              <a:rPr sz="900" b="1" i="0">
                <a:solidFill>
                  <a:srgbClr val="2F69D3"/>
                </a:solidFill>
              </a:rPr>
              <a:t>ANTWORTVERHALTEN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8246CD-FD1E-42D6-AF0F-BA95F7762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11827"/>
                </a:solidFill>
              </a:defRPr>
            </a:pPr>
            <a:r>
              <a:rPr sz="2325" b="1" i="0">
                <a:solidFill>
                  <a:srgbClr val="111827"/>
                </a:solidFill>
              </a:rPr>
              <a:t>Kontrollierter Pilot: antworten, nachfragen oder zurückhalten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5B2920-3CCA-472A-8648-F917A65D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B032E9-1238-43D0-AA8E-ED246B6E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00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Modulhandbuch-RAG · Selvinaz Tiryaki &amp; Salem Depebe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E72BA3-01D0-4835-AC22-D18E6EC88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E6AB8F-43B2-41F1-8738-5C42C969D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333375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E7F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519136-203A-480F-A8FF-0A0F52FFB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288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827"/>
                </a:solidFill>
              </a:defRPr>
            </a:pPr>
            <a:r>
              <a:rPr sz="1500" b="1" i="0">
                <a:solidFill>
                  <a:srgbClr val="111827"/>
                </a:solidFill>
              </a:rPr>
              <a:t>2 beantwortbar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4220FA-DD0C-45E4-B979-3D5ABE2E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4315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exakte Evidenz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8A5DE0-5F18-46A7-A65C-AACC6C904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43250"/>
            <a:ext cx="2000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8F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FFAC74-CA04-434A-84FA-6EFC0D715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908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ANTWORT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4BB52D-ABF1-4641-87A3-69BB86BF3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71625"/>
            <a:ext cx="333375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521634-33A0-4652-9A6E-01148F016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8288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827"/>
                </a:solidFill>
              </a:defRPr>
            </a:pPr>
            <a:r>
              <a:rPr sz="1500" b="1" i="0">
                <a:solidFill>
                  <a:srgbClr val="111827"/>
                </a:solidFill>
              </a:rPr>
              <a:t>2 mehrdeutig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9A667B-55F7-4F73-AC49-CF0A8DDF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4315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Modulcode in mehreren PDFs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A47A9B-B5AF-4EFA-AAED-70D0870B8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43250"/>
            <a:ext cx="2000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9B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DC8E0A-6929-4623-B596-ACA43F0BF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908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NACHFRAGE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234C62-D3DA-47F2-BAA7-D52F80D9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571625"/>
            <a:ext cx="333375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DEB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5133D-5CCF-44CC-8421-0E609A8B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288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827"/>
                </a:solidFill>
              </a:defRPr>
            </a:pPr>
            <a:r>
              <a:rPr sz="1500" b="1" i="0">
                <a:solidFill>
                  <a:srgbClr val="111827"/>
                </a:solidFill>
              </a:rPr>
              <a:t>2 unbelegbar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C472F7-33B1-411C-B9AF-DC3D60333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4315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Datum / E-Mail fehlt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1C710E-929B-4415-B399-739D7039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43250"/>
            <a:ext cx="2000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05D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B5EDF5-ABC8-4716-9CC6-0F63B1DB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908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ZURÜCKHALTEN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4C4A32-681E-4668-B461-C51E05145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08204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672BEC-2A36-4574-9B74-20E79054C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24375"/>
            <a:ext cx="328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6 Fälle × 3 Wiederholungen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9016ED-6F5A-4290-9CC1-89CC84DCC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5300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C8D2DC"/>
                </a:solidFill>
              </a:defRPr>
            </a:pPr>
            <a:r>
              <a:rPr sz="1050" b="0" i="0">
                <a:solidFill>
                  <a:srgbClr val="C8D2DC"/>
                </a:solidFill>
              </a:rPr>
              <a:t>llama3.2:3b · Temperatur 0 · Seed 42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8ACE20-CCBF-4E42-9FBC-6D04DAA65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4577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6FE2B8"/>
                </a:solidFill>
              </a:defRPr>
            </a:pPr>
            <a:r>
              <a:rPr sz="3000" b="1" i="0">
                <a:solidFill>
                  <a:srgbClr val="6FE2B8"/>
                </a:solidFill>
              </a:rPr>
              <a:t>100%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17FAA7-8DDD-4E9A-BEA3-9F540AAF2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9530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FFFFFF"/>
                </a:solidFill>
              </a:defRPr>
            </a:pPr>
            <a:r>
              <a:rPr sz="1050" b="0" i="0">
                <a:solidFill>
                  <a:srgbClr val="FFFFFF"/>
                </a:solidFill>
              </a:rPr>
              <a:t>Verhaltensrichtigkeit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65BA2C-5BF5-4F00-B1DE-96E5C29E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577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79A8FF"/>
                </a:solidFill>
              </a:defRPr>
            </a:pPr>
            <a:r>
              <a:rPr sz="3000" b="1" i="0">
                <a:solidFill>
                  <a:srgbClr val="79A8FF"/>
                </a:solidFill>
              </a:rPr>
              <a:t>100%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1D94A9-E28E-41C6-A985-6B0E275B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9530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FFFFFF"/>
                </a:solidFill>
              </a:defRPr>
            </a:pPr>
            <a:r>
              <a:rPr sz="1050" b="0" i="0">
                <a:solidFill>
                  <a:srgbClr val="FFFFFF"/>
                </a:solidFill>
              </a:rPr>
              <a:t>exakte Reproduzierbarkeit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9A8417-A183-4226-88DE-8EE682104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676900"/>
            <a:ext cx="500062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B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2F330A-3999-4606-BA37-D40D50119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724525"/>
            <a:ext cx="4810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E05D4B"/>
                </a:solidFill>
              </a:defRPr>
            </a:pPr>
            <a:r>
              <a:rPr sz="825" b="1" i="0">
                <a:solidFill>
                  <a:srgbClr val="E05D4B"/>
                </a:solidFill>
              </a:rPr>
              <a:t>Pilot – keine umfassende Generationsbewertung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CED240-424A-434D-B923-025D2FBA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6153150"/>
            <a:ext cx="45053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Auditpfad: Excel › Antwortpilot</a:t>
            </a:r>
          </a:p>
        </p:txBody>
      </p:sp>
    </p:spTree>
    <p:extLst>
      <p:ext uri="{BB962C8B-B14F-4D97-AF65-F5344CB8AC3E}">
        <p14:creationId xmlns:p14="http://schemas.microsoft.com/office/powerpoint/2010/main" val="132073148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CB1A5C-D756-4005-9EAE-508C61D2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69D3"/>
                </a:solidFill>
              </a:defRPr>
            </a:pPr>
            <a:r>
              <a:rPr sz="900" b="1" i="0">
                <a:solidFill>
                  <a:srgbClr val="2F69D3"/>
                </a:solidFill>
              </a:rPr>
              <a:t>LIVE-DEMO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8E8E9F-0BB5-41FE-8448-509D0E59D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11827"/>
                </a:solidFill>
              </a:defRPr>
            </a:pPr>
            <a:r>
              <a:rPr sz="2325" b="1" i="0">
                <a:solidFill>
                  <a:srgbClr val="111827"/>
                </a:solidFill>
              </a:rPr>
              <a:t>Drei Anfragen zeigen die komplette Antwortpolitik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FD12A6-9A76-4BC5-A506-054AB80A7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678DC3-C008-4A21-85A8-05F7BC799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00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Modulhandbuch-RAG · Selvinaz Tiryaki &amp; Salem Depebe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988C87-38BE-4E85-919B-6B3A9FE84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8B6D2A-B511-4E73-9FC1-CCCA4FAE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7524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7F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690145-C9F3-428A-B8F9-E886B352A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62125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8F6A"/>
                </a:solidFill>
              </a:defRPr>
            </a:pPr>
            <a:r>
              <a:rPr sz="2550" b="1" i="0">
                <a:solidFill>
                  <a:srgbClr val="0B8F6A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987594-4B58-424E-9D94-51B23A939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71450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B8F6A"/>
                </a:solidFill>
              </a:defRPr>
            </a:pPr>
            <a:r>
              <a:rPr sz="1125" b="1" i="0">
                <a:solidFill>
                  <a:srgbClr val="0B8F6A"/>
                </a:solidFill>
              </a:rPr>
              <a:t>Beantwortbar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CA2AFC-EC77-4A91-A93E-943A94C20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952625"/>
            <a:ext cx="4333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827"/>
                </a:solidFill>
              </a:defRPr>
            </a:pPr>
            <a:r>
              <a:rPr sz="1200" b="1" i="0">
                <a:solidFill>
                  <a:srgbClr val="111827"/>
                </a:solidFill>
              </a:rPr>
              <a:t>Wie viele ECTS hat WP3 im Bachelor Computerlinguistik?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D695E6-10A5-4BFA-ABA2-5D45DF28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1762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0B8F6A"/>
                </a:solidFill>
              </a:defRPr>
            </a:pPr>
            <a:r>
              <a:rPr sz="1050" b="1" i="0">
                <a:solidFill>
                  <a:srgbClr val="0B8F6A"/>
                </a:solidFill>
              </a:rPr>
              <a:t>exakter Wert + Quelle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6C0EE5-2596-4BB5-A488-388C8E18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7524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EB3746-06B3-4F56-97FE-399911736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0375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D59B14"/>
                </a:solidFill>
              </a:defRPr>
            </a:pPr>
            <a:r>
              <a:rPr sz="2550" b="1" i="0">
                <a:solidFill>
                  <a:srgbClr val="D59B14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DE9A6E-4DFF-419A-B0E3-092CCB15A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527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D59B14"/>
                </a:solidFill>
              </a:defRPr>
            </a:pPr>
            <a:r>
              <a:rPr sz="1125" b="1" i="0">
                <a:solidFill>
                  <a:srgbClr val="D59B14"/>
                </a:solidFill>
              </a:rPr>
              <a:t>Mehrdeutig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7EE742-115E-4DA3-8ED3-9319A510F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190875"/>
            <a:ext cx="4333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827"/>
                </a:solidFill>
              </a:defRPr>
            </a:pPr>
            <a:r>
              <a:rPr sz="1200" b="1" i="0">
                <a:solidFill>
                  <a:srgbClr val="111827"/>
                </a:solidFill>
              </a:rPr>
              <a:t>Wie viele ECTS hat P1?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8BAC3D-A55B-49B2-82AA-2E7D50BA0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81350"/>
            <a:ext cx="1762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D59B14"/>
                </a:solidFill>
              </a:defRPr>
            </a:pPr>
            <a:r>
              <a:rPr sz="1050" b="1" i="0">
                <a:solidFill>
                  <a:srgbClr val="D59B14"/>
                </a:solidFill>
              </a:rPr>
              <a:t>Studiengang präzisieren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6CC0CE-5BD3-421B-9A41-7ACF32ED2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7524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DEB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D82605-A2D8-4A0F-AB54-24FB1919F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38625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E05D4B"/>
                </a:solidFill>
              </a:defRPr>
            </a:pPr>
            <a:r>
              <a:rPr sz="2550" b="1" i="0">
                <a:solidFill>
                  <a:srgbClr val="E05D4B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C10099-F352-47CB-B633-8585408E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19100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05D4B"/>
                </a:solidFill>
              </a:defRPr>
            </a:pPr>
            <a:r>
              <a:rPr sz="1125" b="1" i="0">
                <a:solidFill>
                  <a:srgbClr val="E05D4B"/>
                </a:solidFill>
              </a:rPr>
              <a:t>Unbelegbar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DDB274-5BD1-4814-B7F4-C2D188BF0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429125"/>
            <a:ext cx="4333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827"/>
                </a:solidFill>
              </a:defRPr>
            </a:pPr>
            <a:r>
              <a:rPr sz="1200" b="1" i="0">
                <a:solidFill>
                  <a:srgbClr val="111827"/>
                </a:solidFill>
              </a:rPr>
              <a:t>An welchem Datum findet die nächste Prüfung für WP3</a:t>
            </a:r>
          </a:p>
          <a:p xmlns:a="http://schemas.openxmlformats.org/drawingml/2006/main">
            <a:pPr algn="l">
              <a:defRPr sz="1200" b="1" i="0">
                <a:solidFill>
                  <a:srgbClr val="111827"/>
                </a:solidFill>
              </a:defRPr>
            </a:pPr>
            <a:r>
              <a:rPr sz="1200" b="1" i="0">
                <a:solidFill>
                  <a:srgbClr val="111827"/>
                </a:solidFill>
              </a:rPr>
              <a:t>im Bachelor Computerlinguistik statt?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1B1AD9-AEDE-408C-BB10-BE5BB4658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19600"/>
            <a:ext cx="1762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E05D4B"/>
                </a:solidFill>
              </a:defRPr>
            </a:pPr>
            <a:r>
              <a:rPr sz="1050" b="1" i="0">
                <a:solidFill>
                  <a:srgbClr val="E05D4B"/>
                </a:solidFill>
              </a:rPr>
              <a:t>keine Halluzination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E476B3-64D5-4E96-B760-854B5C57D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43050"/>
            <a:ext cx="2933700" cy="3467100"/>
          </a:xfrm>
          <a:prstGeom xmlns:a="http://schemas.openxmlformats.org/drawingml/2006/main" prst="roundRect">
            <a:avLst>
              <a:gd name="adj" fmla="val 389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AE855B-C229-4147-BE26-7DFF1402A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8097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Lokaler Start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169840-1F41-4022-93E2-1B0BCC5A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24100"/>
            <a:ext cx="2333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C8D2DC"/>
                </a:solidFill>
              </a:defRPr>
            </a:pPr>
            <a:r>
              <a:rPr sz="975" b="0" i="0">
                <a:solidFill>
                  <a:srgbClr val="C8D2DC"/>
                </a:solidFill>
              </a:rPr>
              <a:t>cd C:\Users\ASUS\Documents\rag\</a:t>
            </a:r>
          </a:p>
          <a:p xmlns:a="http://schemas.openxmlformats.org/drawingml/2006/main">
            <a:pPr algn="l">
              <a:defRPr sz="975" b="0" i="0">
                <a:solidFill>
                  <a:srgbClr val="C8D2DC"/>
                </a:solidFill>
              </a:defRPr>
            </a:pPr>
            <a:r>
              <a:rPr sz="975" b="0" i="0">
                <a:solidFill>
                  <a:srgbClr val="C8D2DC"/>
                </a:solidFill>
              </a:rPr>
              <a:t>modulehandbook-rag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30D74E-E338-40A7-A334-9FF4036E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76575"/>
            <a:ext cx="2381250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202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1383FB-D878-4AA6-BA9A-197230E4D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48025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8AD8FF"/>
                </a:solidFill>
              </a:defRPr>
            </a:pPr>
            <a:r>
              <a:rPr sz="1125" b="1" i="0">
                <a:solidFill>
                  <a:srgbClr val="8AD8FF"/>
                </a:solidFill>
              </a:rPr>
              <a:t>python -m streamlit run</a:t>
            </a:r>
          </a:p>
          <a:p xmlns:a="http://schemas.openxmlformats.org/drawingml/2006/main">
            <a:pPr algn="l">
              <a:defRPr sz="1125" b="1" i="0">
                <a:solidFill>
                  <a:srgbClr val="8AD8FF"/>
                </a:solidFill>
              </a:defRPr>
            </a:pPr>
            <a:r>
              <a:rPr sz="1125" b="1" i="0">
                <a:solidFill>
                  <a:srgbClr val="8AD8FF"/>
                </a:solidFill>
              </a:rPr>
              <a:t>app.py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B32370-2C74-4C82-A8F2-377BBF8F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671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6C85F"/>
                </a:solidFill>
              </a:defRPr>
            </a:pPr>
            <a:r>
              <a:rPr sz="975" b="1" i="0">
                <a:solidFill>
                  <a:srgbClr val="F6C85F"/>
                </a:solidFill>
              </a:rPr>
              <a:t>Fallback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B69891-3017-4A2E-A834-D48FADD74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371975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FFFFFF"/>
                </a:solidFill>
              </a:defRPr>
            </a:pPr>
            <a:r>
              <a:rPr sz="1050" b="0" i="0">
                <a:solidFill>
                  <a:srgbClr val="FFFFFF"/>
                </a:solidFill>
              </a:rPr>
              <a:t>Excel → Dashboard</a:t>
            </a:r>
          </a:p>
          <a:p xmlns:a="http://schemas.openxmlformats.org/drawingml/2006/main">
            <a:pPr algn="l">
              <a:defRPr sz="1050" b="0" i="0">
                <a:solidFill>
                  <a:srgbClr val="FFFFFF"/>
                </a:solidFill>
              </a:defRPr>
            </a:pPr>
            <a:r>
              <a:rPr sz="1050" b="0" i="0">
                <a:solidFill>
                  <a:srgbClr val="FFFFFF"/>
                </a:solidFill>
              </a:rPr>
              <a:t>Antwortpilot → 18 Runs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BBD75E-7C53-491D-8E71-6C0A21611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5543550"/>
            <a:ext cx="7677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E1849E-3561-487A-ADF8-C6933D3CF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5591175"/>
            <a:ext cx="7486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2F69D3"/>
                </a:solidFill>
              </a:defRPr>
            </a:pPr>
            <a:r>
              <a:rPr sz="825" b="1" i="0">
                <a:solidFill>
                  <a:srgbClr val="2F69D3"/>
                </a:solidFill>
              </a:rPr>
              <a:t>Reihenfolge nicht ändern: Antwort → Nachfrage → Zurückhaltung</a:t>
            </a:r>
          </a:p>
        </p:txBody>
      </p:sp>
    </p:spTree>
    <p:extLst>
      <p:ext uri="{BB962C8B-B14F-4D97-AF65-F5344CB8AC3E}">
        <p14:creationId xmlns:p14="http://schemas.microsoft.com/office/powerpoint/2010/main" val="86596429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6923C0-FAC9-4DEE-8849-B7118496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69D3"/>
                </a:solidFill>
              </a:defRPr>
            </a:pPr>
            <a:r>
              <a:rPr sz="900" b="1" i="0">
                <a:solidFill>
                  <a:srgbClr val="2F69D3"/>
                </a:solidFill>
              </a:rPr>
              <a:t>FAZIT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9A4396-BA0B-42C1-B77F-2566E0E20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11827"/>
                </a:solidFill>
              </a:defRPr>
            </a:pPr>
            <a:r>
              <a:rPr sz="2325" b="1" i="0">
                <a:solidFill>
                  <a:srgbClr val="111827"/>
                </a:solidFill>
              </a:rPr>
              <a:t>Was wir belastbar zeigen – und was noch offen bleibt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8854A8-C90E-41B5-944F-46D0875E4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6FAA9A-6B7C-40ED-84D2-2BCB6B08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00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Modulhandbuch-RAG · Selvinaz Tiryaki &amp; Salem Depebe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1A73BC-3898-449E-BFFA-9BA01E8E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A9FDF8-8A46-49A2-B117-AAD241A78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3333750" cy="35433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7F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40A92F-7A09-4322-BC15-29A1E2FCA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288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8F6A"/>
                </a:solidFill>
              </a:defRPr>
            </a:pPr>
            <a:r>
              <a:rPr sz="1650" b="1" i="0">
                <a:solidFill>
                  <a:srgbClr val="0B8F6A"/>
                </a:solidFill>
              </a:rPr>
              <a:t>Befund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B0A3B4-7973-4B10-9253-59CCF2BD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71625"/>
            <a:ext cx="3333750" cy="35433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DEB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D538A8-2445-4882-A5C9-6C5112ADB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8288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E05D4B"/>
                </a:solidFill>
              </a:defRPr>
            </a:pPr>
            <a:r>
              <a:rPr sz="1650" b="1" i="0">
                <a:solidFill>
                  <a:srgbClr val="E05D4B"/>
                </a:solidFill>
              </a:rPr>
              <a:t>Grenze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A379AC-AB21-40D6-A375-33AF5D459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571625"/>
            <a:ext cx="3333750" cy="35433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B2D373-558E-4FF4-A39C-A9F553EBE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288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F69D3"/>
                </a:solidFill>
              </a:defRPr>
            </a:pPr>
            <a:r>
              <a:rPr sz="1650" b="1" i="0">
                <a:solidFill>
                  <a:srgbClr val="2F69D3"/>
                </a:solidFill>
              </a:rPr>
              <a:t>Nächster Schritt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935C45-6644-42BF-8D23-CD6235A64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28875"/>
            <a:ext cx="27813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827"/>
                </a:solidFill>
              </a:defRPr>
            </a:pPr>
            <a:r>
              <a:rPr sz="1275" b="1" i="0">
                <a:solidFill>
                  <a:srgbClr val="111827"/>
                </a:solidFill>
              </a:rPr>
              <a:t>• Structure-aware Chunking schlägt naive Schnitte.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1" i="0">
                <a:solidFill>
                  <a:srgbClr val="111827"/>
                </a:solidFill>
              </a:defRPr>
            </a:pPr>
            <a:r>
              <a:rPr sz="1275" b="1" i="0">
                <a:solidFill>
                  <a:srgbClr val="111827"/>
                </a:solidFill>
              </a:rPr>
              <a:t>• Hybrid α = 0,25 liefert den besten Rang 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1" i="0">
                <a:solidFill>
                  <a:srgbClr val="111827"/>
                </a:solidFill>
              </a:defRPr>
            </a:pPr>
            <a:r>
              <a:rPr sz="1275" b="1" i="0">
                <a:solidFill>
                  <a:srgbClr val="111827"/>
                </a:solidFill>
              </a:rPr>
              <a:t>• BM25 trägt den Hybrid wesentlich.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CA1362-672B-4640-9D0F-7B5CD400B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28875"/>
            <a:ext cx="27813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827"/>
                </a:solidFill>
              </a:defRPr>
            </a:pPr>
            <a:r>
              <a:rPr sz="1275" b="1" i="0">
                <a:solidFill>
                  <a:srgbClr val="111827"/>
                </a:solidFill>
              </a:rPr>
              <a:t>• Qualitäts-Gold nur für CL Bachelor.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1" i="0">
                <a:solidFill>
                  <a:srgbClr val="111827"/>
                </a:solidFill>
              </a:defRPr>
            </a:pPr>
            <a:r>
              <a:rPr sz="1275" b="1" i="0">
                <a:solidFill>
                  <a:srgbClr val="111827"/>
                </a:solidFill>
              </a:rPr>
              <a:t>• Multilingual n = 18.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1" i="0">
                <a:solidFill>
                  <a:srgbClr val="111827"/>
                </a:solidFill>
              </a:defRPr>
            </a:pPr>
            <a:r>
              <a:rPr sz="1275" b="1" i="0">
                <a:solidFill>
                  <a:srgbClr val="111827"/>
                </a:solidFill>
              </a:rPr>
              <a:t>• 6×3-Pilot ist keine breite Generationsstudie.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7EAC34-6E34-4B71-B038-9ED1C45E9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28875"/>
            <a:ext cx="27813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827"/>
                </a:solidFill>
              </a:defRPr>
            </a:pPr>
            <a:r>
              <a:rPr sz="1275" b="1" i="0">
                <a:solidFill>
                  <a:srgbClr val="111827"/>
                </a:solidFill>
              </a:rPr>
              <a:t>• Goldlabels für sechs weitere Handbücher.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1" i="0">
                <a:solidFill>
                  <a:srgbClr val="111827"/>
                </a:solidFill>
              </a:defRPr>
            </a:pPr>
            <a:r>
              <a:rPr sz="1275" b="1" i="0">
                <a:solidFill>
                  <a:srgbClr val="111827"/>
                </a:solidFill>
              </a:rPr>
              <a:t>• Reranking / Late Chunking evaluieren.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1" i="0">
                <a:solidFill>
                  <a:srgbClr val="111827"/>
                </a:solidFill>
              </a:defRPr>
            </a:pPr>
            <a:r>
              <a:rPr sz="1275" b="1" i="0">
                <a:solidFill>
                  <a:srgbClr val="111827"/>
                </a:solidFill>
              </a:rPr>
              <a:t>• Persistenten Faktenindex prüfen.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00D98F-AD3F-4AB1-9405-7EEDF09AE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619750"/>
            <a:ext cx="864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11827"/>
                </a:solidFill>
              </a:defRPr>
            </a:pPr>
            <a:r>
              <a:rPr sz="1650" b="1" i="0">
                <a:solidFill>
                  <a:srgbClr val="111827"/>
                </a:solidFill>
              </a:rPr>
              <a:t>Die Kernidee bleibt: Retrieval entscheidet, was das System wissen darf.</a:t>
            </a:r>
          </a:p>
        </p:txBody>
      </p:sp>
    </p:spTree>
    <p:extLst>
      <p:ext uri="{BB962C8B-B14F-4D97-AF65-F5344CB8AC3E}">
        <p14:creationId xmlns:p14="http://schemas.microsoft.com/office/powerpoint/2010/main" val="114770750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8A91B0-D9AF-4483-935B-4CE882A9E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69D3"/>
                </a:solidFill>
              </a:defRPr>
            </a:pPr>
            <a:r>
              <a:rPr sz="900" b="1" i="0">
                <a:solidFill>
                  <a:srgbClr val="2F69D3"/>
                </a:solidFill>
              </a:rPr>
              <a:t>ANHANG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7623AE-36F5-4118-85FD-069C50C4C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11827"/>
                </a:solidFill>
              </a:defRPr>
            </a:pPr>
            <a:r>
              <a:rPr sz="2325" b="1" i="0">
                <a:solidFill>
                  <a:srgbClr val="111827"/>
                </a:solidFill>
              </a:rPr>
              <a:t>Metriken: welche Frage beantwortet welche Zahl?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FB51B6-4C82-424B-BF70-74DE7C46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29C89F-24D6-496C-BECC-2CB776AA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00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Modulhandbuch-RAG · Selvinaz Tiryaki &amp; Salem Depebe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EF00A9-66E5-441F-8CD2-A7301D4E7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F5A596-ED43-425E-BFE7-F8C402F1C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51054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E41864-A3B6-4603-8BCE-2055E8E95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0022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2F69D3"/>
                </a:solidFill>
              </a:defRPr>
            </a:pPr>
            <a:r>
              <a:rPr sz="2025" b="1" i="0">
                <a:solidFill>
                  <a:srgbClr val="2F69D3"/>
                </a:solidFill>
              </a:rPr>
              <a:t>Hit@1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787D24-EE76-4D3E-A05F-0C7505AAA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809750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827"/>
                </a:solidFill>
              </a:defRPr>
            </a:pPr>
            <a:r>
              <a:rPr sz="1350" b="1" i="0">
                <a:solidFill>
                  <a:srgbClr val="111827"/>
                </a:solidFill>
              </a:rPr>
              <a:t>Ist der erste Treffer relevant?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B586A3-55FE-474A-8EBE-7A2EF0B7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6697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Für die direkte Antwort besonders wichtig.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A9569A-45BC-4372-8B0F-BAAD568D5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571625"/>
            <a:ext cx="51054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7F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A51900-AFD6-46EF-9E4C-BCE3517A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0022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8F6A"/>
                </a:solidFill>
              </a:defRPr>
            </a:pPr>
            <a:r>
              <a:rPr sz="2025" b="1" i="0">
                <a:solidFill>
                  <a:srgbClr val="0B8F6A"/>
                </a:solidFill>
              </a:rPr>
              <a:t>Recall@3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5469A9-0FFF-4C4C-B44E-A1DFC142E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809750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827"/>
                </a:solidFill>
              </a:defRPr>
            </a:pPr>
            <a:r>
              <a:rPr sz="1350" b="1" i="0">
                <a:solidFill>
                  <a:srgbClr val="111827"/>
                </a:solidFill>
              </a:rPr>
              <a:t>Wie viel vom Gold liegt in den Top 3?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D7EBB4-28D4-4407-9AD9-4A0D5D486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46697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Bei mehreren relevanten Feldern aussagekräftiger.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CC1CE3-DB42-42CA-B0E7-7E61E2ED6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52825"/>
            <a:ext cx="51054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84A3A4-7409-4A97-A17C-53FC128A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8142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D59B14"/>
                </a:solidFill>
              </a:defRPr>
            </a:pPr>
            <a:r>
              <a:rPr sz="2025" b="1" i="0">
                <a:solidFill>
                  <a:srgbClr val="D59B14"/>
                </a:solidFill>
              </a:rPr>
              <a:t>MRR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8187E4-A7F8-4CFE-B102-D2184A769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790950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827"/>
                </a:solidFill>
              </a:defRPr>
            </a:pPr>
            <a:r>
              <a:rPr sz="1350" b="1" i="0">
                <a:solidFill>
                  <a:srgbClr val="111827"/>
                </a:solidFill>
              </a:rPr>
              <a:t>Wie früh erscheint der erste relevante Treffer?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12F740-AC3C-42E0-B7A8-FE1F5964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44817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Belohnt Rang 1 stärker als Rang 2 oder 3.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09CE8B-BCD8-4E99-A058-05A47DBF2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552825"/>
            <a:ext cx="51054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DEB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908733-1A82-4E89-8167-E09C7711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8142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E05D4B"/>
                </a:solidFill>
              </a:defRPr>
            </a:pPr>
            <a:r>
              <a:rPr sz="2025" b="1" i="0">
                <a:solidFill>
                  <a:srgbClr val="E05D4B"/>
                </a:solidFill>
              </a:rPr>
              <a:t>nDCG@3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5A7FF5-58DF-4156-A429-ADF1B44D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790950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827"/>
                </a:solidFill>
              </a:defRPr>
            </a:pPr>
            <a:r>
              <a:rPr sz="1350" b="1" i="0">
                <a:solidFill>
                  <a:srgbClr val="111827"/>
                </a:solidFill>
              </a:rPr>
              <a:t>Wie gut ist die gesamte Top-3-Reihenfolge?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1C16D1-A63E-4AF0-B693-505BB8A82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44817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Berücksichtigt mehrere relevante Treffer und Positionen.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41D28A-C1C0-481F-A07C-2C59FD169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638800"/>
            <a:ext cx="6762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B5B310-3E38-44C0-9A59-DFB05E8CE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686425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2F69D3"/>
                </a:solidFill>
              </a:defRPr>
            </a:pPr>
            <a:r>
              <a:rPr sz="825" b="1" i="0">
                <a:solidFill>
                  <a:srgbClr val="2F69D3"/>
                </a:solidFill>
              </a:rPr>
              <a:t>Alle Werte werden aus denselben per-query Goldschlüsseln aggregiert</a:t>
            </a:r>
          </a:p>
        </p:txBody>
      </p:sp>
    </p:spTree>
    <p:extLst>
      <p:ext uri="{BB962C8B-B14F-4D97-AF65-F5344CB8AC3E}">
        <p14:creationId xmlns:p14="http://schemas.microsoft.com/office/powerpoint/2010/main" val="209084392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AB4FE1-4478-436B-B1F2-1AB3B29F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69D3"/>
                </a:solidFill>
              </a:defRPr>
            </a:pPr>
            <a:r>
              <a:rPr sz="900" b="1" i="0">
                <a:solidFill>
                  <a:srgbClr val="2F69D3"/>
                </a:solidFill>
              </a:rPr>
              <a:t>ANHANG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4CDB4A-A252-4FC3-BA92-5FDF8C02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11827"/>
                </a:solidFill>
              </a:defRPr>
            </a:pPr>
            <a:r>
              <a:rPr sz="2325" b="1" i="0">
                <a:solidFill>
                  <a:srgbClr val="111827"/>
                </a:solidFill>
              </a:rPr>
              <a:t>Reproduktion: ein Release-Lauf, ein Commit, ein Auditpfad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67E6D4-4D0B-4EC9-B6FC-07D80B41F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68FD2F-F753-4D47-9E03-3B042C93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00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Modulhandbuch-RAG · Selvinaz Tiryaki &amp; Salem Depebe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74C18F-E7FC-4139-9D12-90E9D379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302F33-5BB4-4295-BA27-329C9866A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7000875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704BEA-2311-4C60-98AE-58872060C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AD8FF"/>
                </a:solidFill>
              </a:defRPr>
            </a:pPr>
            <a:r>
              <a:rPr sz="975" b="1" i="0">
                <a:solidFill>
                  <a:srgbClr val="8AD8FF"/>
                </a:solidFill>
              </a:rPr>
              <a:t>PowerShell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C9055E-829B-4EC5-8AF6-417D03C5D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69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.\scripts\run_release_validation.ps1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E57F9F-9E8C-48ED-9225-D765ADB30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28925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18808A-4663-4839-9A4F-727BED3BA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7657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94A3B8"/>
                </a:solidFill>
              </a:defRPr>
            </a:pPr>
            <a:r>
              <a:rPr sz="900" b="0" i="0">
                <a:solidFill>
                  <a:srgbClr val="94A3B8"/>
                </a:solidFill>
              </a:rPr>
              <a:t>Commit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23D084-075B-4F8B-8569-592522864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43275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C7D2FE"/>
                </a:solidFill>
              </a:defRPr>
            </a:pPr>
            <a:r>
              <a:rPr sz="1125" b="1" i="0">
                <a:solidFill>
                  <a:srgbClr val="C7D2FE"/>
                </a:solidFill>
              </a:rPr>
              <a:t>0d3bdc9df033f9823c287b2a7cb7b0c69acc7d64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36EF78-41DE-4195-89EE-218109072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95725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CBD5E1"/>
                </a:solidFill>
              </a:defRPr>
            </a:pPr>
            <a:r>
              <a:rPr sz="1050" b="0" i="0">
                <a:solidFill>
                  <a:srgbClr val="CBD5E1"/>
                </a:solidFill>
              </a:rPr>
              <a:t>Dense-Modell lokal aus identischem Hugging-Face-Snapshot; Offline-Flag verhindert nur die Netzprüfung.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3F479D-FA5B-465A-9EAE-12524D82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71625"/>
            <a:ext cx="34480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A4327F-A997-4668-B80C-6B3B1CAE2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478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8F6A"/>
                </a:solidFill>
              </a:defRPr>
            </a:pPr>
            <a:r>
              <a:rPr sz="2850" b="1" i="0">
                <a:solidFill>
                  <a:srgbClr val="0B8F6A"/>
                </a:solidFill>
              </a:rPr>
              <a:t>13/13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530B50-4805-4FD8-ABCA-09D353F3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050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11827"/>
                </a:solidFill>
              </a:defRPr>
            </a:pPr>
            <a:r>
              <a:rPr sz="1050" b="1" i="0">
                <a:solidFill>
                  <a:srgbClr val="111827"/>
                </a:solidFill>
              </a:rPr>
              <a:t>automatisierte Tests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D68958-C816-45A8-BEEF-6D4C4A1CB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956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F69D3"/>
                </a:solidFill>
              </a:defRPr>
            </a:pPr>
            <a:r>
              <a:rPr sz="2850" b="1" i="0">
                <a:solidFill>
                  <a:srgbClr val="2F69D3"/>
                </a:solidFill>
              </a:rPr>
              <a:t>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A68F56-3145-4D7E-997A-75619C7DE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3528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11827"/>
                </a:solidFill>
              </a:defRPr>
            </a:pPr>
            <a:r>
              <a:rPr sz="1050" b="1" i="0">
                <a:solidFill>
                  <a:srgbClr val="111827"/>
                </a:solidFill>
              </a:rPr>
              <a:t>doppelte Chunk-IDs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54D89E-62DF-4AAF-8602-4583F3957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433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D59B14"/>
                </a:solidFill>
              </a:defRPr>
            </a:pPr>
            <a:r>
              <a:rPr sz="2850" b="1" i="0">
                <a:solidFill>
                  <a:srgbClr val="D59B14"/>
                </a:solidFill>
              </a:rPr>
              <a:t>172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4E6737-A307-4FB1-8E3F-6F7AA86FF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4005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11827"/>
                </a:solidFill>
              </a:defRPr>
            </a:pPr>
            <a:r>
              <a:rPr sz="1050" b="1" i="0">
                <a:solidFill>
                  <a:srgbClr val="111827"/>
                </a:solidFill>
              </a:rPr>
              <a:t>auditable per-query Zeilen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967CAB-C234-4844-9926-3B940AD15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95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F69D3"/>
                </a:solidFill>
              </a:defRPr>
            </a:pPr>
            <a:r>
              <a:rPr sz="975" b="1" i="0">
                <a:solidFill>
                  <a:srgbClr val="2F69D3"/>
                </a:solidFill>
              </a:rPr>
              <a:t>Ausgabe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5C428D-2347-45ED-8B1E-52C695825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18160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11827"/>
                </a:solidFill>
              </a:defRPr>
            </a:pPr>
            <a:r>
              <a:rPr sz="1125" b="1" i="0">
                <a:solidFill>
                  <a:srgbClr val="111827"/>
                </a:solidFill>
              </a:rPr>
              <a:t>outputs/final_release · deliverables/Modulhandbuch_RAG_Finalauswertung.xlsx · docs/TEST_RUNBOOK.md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C9FFCC-FC4F-4CF6-B931-049299F91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781675"/>
            <a:ext cx="3238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74D0F7-3493-4F36-AB4B-6FE371A0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8293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2F69D3"/>
                </a:solidFill>
              </a:defRPr>
            </a:pPr>
            <a:r>
              <a:rPr sz="825" b="1" i="0">
                <a:solidFill>
                  <a:srgbClr val="2F69D3"/>
                </a:solidFill>
              </a:rPr>
              <a:t>Excel › Reproduktion</a:t>
            </a:r>
          </a:p>
        </p:txBody>
      </p:sp>
    </p:spTree>
    <p:extLst>
      <p:ext uri="{BB962C8B-B14F-4D97-AF65-F5344CB8AC3E}">
        <p14:creationId xmlns:p14="http://schemas.microsoft.com/office/powerpoint/2010/main" val="12196858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2026-07-14T11:38:25.2860000Z</dcterms:created>
  <dcterms:modified xsi:type="dcterms:W3CDTF">2026-07-14T11:38:25.2870000Z</dcterms:modified>
</coreProperties>
</file>