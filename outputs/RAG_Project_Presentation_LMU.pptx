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1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2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2b5091f24c4fb2" /><Relationship Type="http://schemas.openxmlformats.org/officeDocument/2006/relationships/extended-properties" Target="/docProps/app.xml" Id="Re880df22aba34f41" /><Relationship Type="http://schemas.openxmlformats.org/officeDocument/2006/relationships/officeDocument" Target="/ppt/presentation.xml" Id="R6d9a34c9a24543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4d54d88b4f4a75"/>
  </p:sldMasterIdLst>
  <p:notesMasterIdLst>
    <p:notesMasterId xmlns:r="http://schemas.openxmlformats.org/officeDocument/2006/relationships" r:id="R15f13ef352bb465a"/>
  </p:notesMasterIdLst>
  <p:sldIdLst>
    <p:sldId xmlns:r="http://schemas.openxmlformats.org/officeDocument/2006/relationships" id="256" r:id="R953a9e06a7d845b4"/>
    <p:sldId xmlns:r="http://schemas.openxmlformats.org/officeDocument/2006/relationships" id="257" r:id="R35700ab5b1c5468e"/>
    <p:sldId xmlns:r="http://schemas.openxmlformats.org/officeDocument/2006/relationships" id="258" r:id="R113d5b53eb634110"/>
    <p:sldId xmlns:r="http://schemas.openxmlformats.org/officeDocument/2006/relationships" id="259" r:id="Rfe433b8d0f33437c"/>
    <p:sldId xmlns:r="http://schemas.openxmlformats.org/officeDocument/2006/relationships" id="260" r:id="Rb239383fe4924ee2"/>
    <p:sldId xmlns:r="http://schemas.openxmlformats.org/officeDocument/2006/relationships" id="261" r:id="R9d0e3b8b1a25488a"/>
    <p:sldId xmlns:r="http://schemas.openxmlformats.org/officeDocument/2006/relationships" id="262" r:id="R27bb8f5b96704e2d"/>
    <p:sldId xmlns:r="http://schemas.openxmlformats.org/officeDocument/2006/relationships" id="263" r:id="Rdc667965eacb4f72"/>
    <p:sldId xmlns:r="http://schemas.openxmlformats.org/officeDocument/2006/relationships" id="264" r:id="Rc490d8414bd14edb"/>
    <p:sldId xmlns:r="http://schemas.openxmlformats.org/officeDocument/2006/relationships" id="265" r:id="R34e4e0f7c961422f"/>
    <p:sldId xmlns:r="http://schemas.openxmlformats.org/officeDocument/2006/relationships" id="266" r:id="Rf9cab015bfca4f77"/>
    <p:sldId xmlns:r="http://schemas.openxmlformats.org/officeDocument/2006/relationships" id="267" r:id="Rf6c57648e0c64d9b"/>
    <p:sldId xmlns:r="http://schemas.openxmlformats.org/officeDocument/2006/relationships" id="268" r:id="R45ff9ed904a84bfb"/>
    <p:sldId xmlns:r="http://schemas.openxmlformats.org/officeDocument/2006/relationships" id="269" r:id="R30586996547f4f31"/>
    <p:sldId xmlns:r="http://schemas.openxmlformats.org/officeDocument/2006/relationships" id="270" r:id="R05720d713ab944e2"/>
    <p:sldId xmlns:r="http://schemas.openxmlformats.org/officeDocument/2006/relationships" id="271" r:id="R591f61bc51964d43"/>
    <p:sldId xmlns:r="http://schemas.openxmlformats.org/officeDocument/2006/relationships" id="272" r:id="Rb06b3a37aa3f4a33"/>
    <p:sldId xmlns:r="http://schemas.openxmlformats.org/officeDocument/2006/relationships" id="273" r:id="R69f46b219f9b40b3"/>
    <p:sldId xmlns:r="http://schemas.openxmlformats.org/officeDocument/2006/relationships" id="274" r:id="R3f1896f0ad57420c"/>
    <p:sldId xmlns:r="http://schemas.openxmlformats.org/officeDocument/2006/relationships" id="275" r:id="Ra509e5c4f65b4b5b"/>
    <p:sldId xmlns:r="http://schemas.openxmlformats.org/officeDocument/2006/relationships" id="276" r:id="Rf76c0e77dba74b37"/>
    <p:sldId xmlns:r="http://schemas.openxmlformats.org/officeDocument/2006/relationships" id="277" r:id="R97930403e82e4222"/>
    <p:sldId xmlns:r="http://schemas.openxmlformats.org/officeDocument/2006/relationships" id="278" r:id="Rf923c058bf3444cc"/>
    <p:sldId xmlns:r="http://schemas.openxmlformats.org/officeDocument/2006/relationships" id="279" r:id="R3d3e4abec0e04f16"/>
    <p:sldId xmlns:r="http://schemas.openxmlformats.org/officeDocument/2006/relationships" id="280" r:id="R429fae8c95304cbe"/>
    <p:sldId xmlns:r="http://schemas.openxmlformats.org/officeDocument/2006/relationships" id="281" r:id="R543fd10880004a38"/>
    <p:sldId xmlns:r="http://schemas.openxmlformats.org/officeDocument/2006/relationships" id="282" r:id="R0c7da6f2c3064512"/>
    <p:sldId xmlns:r="http://schemas.openxmlformats.org/officeDocument/2006/relationships" id="283" r:id="Rd25c6498fd1e4334"/>
    <p:sldId xmlns:r="http://schemas.openxmlformats.org/officeDocument/2006/relationships" id="284" r:id="R7dfacb3852444a8b"/>
    <p:sldId xmlns:r="http://schemas.openxmlformats.org/officeDocument/2006/relationships" id="285" r:id="R96173916a4a04813"/>
    <p:sldId xmlns:r="http://schemas.openxmlformats.org/officeDocument/2006/relationships" id="286" r:id="R836a5ee48a804d34"/>
    <p:sldId xmlns:r="http://schemas.openxmlformats.org/officeDocument/2006/relationships" id="287" r:id="Rf49f30865fbd49ae"/>
    <p:sldId xmlns:r="http://schemas.openxmlformats.org/officeDocument/2006/relationships" id="288" r:id="Rf28de6c28c094a35"/>
    <p:sldId xmlns:r="http://schemas.openxmlformats.org/officeDocument/2006/relationships" id="289" r:id="R8fe50118763b425f"/>
    <p:sldId xmlns:r="http://schemas.openxmlformats.org/officeDocument/2006/relationships" id="290" r:id="R12123841887b492c"/>
    <p:sldId xmlns:r="http://schemas.openxmlformats.org/officeDocument/2006/relationships" id="291" r:id="R23f89a339f334fe9"/>
    <p:sldId xmlns:r="http://schemas.openxmlformats.org/officeDocument/2006/relationships" id="292" r:id="Rc45b0921978c47b0"/>
    <p:sldId xmlns:r="http://schemas.openxmlformats.org/officeDocument/2006/relationships" id="293" r:id="R54bfc243b28e47b1"/>
    <p:sldId xmlns:r="http://schemas.openxmlformats.org/officeDocument/2006/relationships" id="294" r:id="R9ff1d56a594a4b96"/>
    <p:sldId xmlns:r="http://schemas.openxmlformats.org/officeDocument/2006/relationships" id="295" r:id="Rf1238b60e0f34727"/>
    <p:sldId xmlns:r="http://schemas.openxmlformats.org/officeDocument/2006/relationships" id="296" r:id="R9ed510a4f8284de7"/>
    <p:sldId xmlns:r="http://schemas.openxmlformats.org/officeDocument/2006/relationships" id="297" r:id="Rfefe6f4d6ab04315"/>
    <p:sldId xmlns:r="http://schemas.openxmlformats.org/officeDocument/2006/relationships" id="298" r:id="R9e42b6bda8664567"/>
    <p:sldId xmlns:r="http://schemas.openxmlformats.org/officeDocument/2006/relationships" id="299" r:id="Ra5f932a6cce54ff8"/>
    <p:sldId xmlns:r="http://schemas.openxmlformats.org/officeDocument/2006/relationships" id="300" r:id="R4ca5198f317e4f37"/>
    <p:sldId xmlns:r="http://schemas.openxmlformats.org/officeDocument/2006/relationships" id="301" r:id="R17137f41e9964a79"/>
    <p:sldId xmlns:r="http://schemas.openxmlformats.org/officeDocument/2006/relationships" id="302" r:id="Rfb82fca0c660438b"/>
    <p:sldId xmlns:r="http://schemas.openxmlformats.org/officeDocument/2006/relationships" id="303" r:id="R044769acda21457e"/>
    <p:sldId xmlns:r="http://schemas.openxmlformats.org/officeDocument/2006/relationships" id="304" r:id="Rc8982e9e31ac4587"/>
    <p:sldId xmlns:r="http://schemas.openxmlformats.org/officeDocument/2006/relationships" id="305" r:id="R0c82e37fb0414647"/>
    <p:sldId xmlns:r="http://schemas.openxmlformats.org/officeDocument/2006/relationships" id="306" r:id="R19f31c2cf5924130"/>
    <p:sldId xmlns:r="http://schemas.openxmlformats.org/officeDocument/2006/relationships" id="307" r:id="Rc0ff7b99186f4768"/>
    <p:sldId xmlns:r="http://schemas.openxmlformats.org/officeDocument/2006/relationships" id="308" r:id="R4514fae95aa5444f"/>
    <p:sldId xmlns:r="http://schemas.openxmlformats.org/officeDocument/2006/relationships" id="309" r:id="R68c739726ab1477d"/>
    <p:sldId xmlns:r="http://schemas.openxmlformats.org/officeDocument/2006/relationships" id="310" r:id="R1978a84a34734c0c"/>
    <p:sldId xmlns:r="http://schemas.openxmlformats.org/officeDocument/2006/relationships" id="311" r:id="Rd062341873af4a1f"/>
    <p:sldId xmlns:r="http://schemas.openxmlformats.org/officeDocument/2006/relationships" id="312" r:id="Rd64fec61ef5c4a6a"/>
    <p:sldId xmlns:r="http://schemas.openxmlformats.org/officeDocument/2006/relationships" id="313" r:id="R9db448bd444e4d68"/>
    <p:sldId xmlns:r="http://schemas.openxmlformats.org/officeDocument/2006/relationships" id="314" r:id="Rc1370165d1ab4114"/>
  </p:sldIdLst>
  <p:sldSz cx="9144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f2909687d84cf2" /><Relationship Type="http://schemas.openxmlformats.org/officeDocument/2006/relationships/slideMaster" Target="/ppt/slideMasters/slideMaster1.xml" Id="R6d4d54d88b4f4a75" /><Relationship Type="http://schemas.openxmlformats.org/officeDocument/2006/relationships/notesMaster" Target="/ppt/notesMasters/notesMaster1.xml" Id="R15f13ef352bb465a" /><Relationship Type="http://schemas.openxmlformats.org/officeDocument/2006/relationships/presProps" Target="/ppt/presProps.xml" Id="R31775a26fc504a3c" /><Relationship Type="http://schemas.openxmlformats.org/officeDocument/2006/relationships/tableStyles" Target="/ppt/tableStyles.xml" Id="Re664905e60014664" /><Relationship Type="http://schemas.openxmlformats.org/officeDocument/2006/relationships/slide" Target="/ppt/slides/slide1.xml" Id="R953a9e06a7d845b4" /><Relationship Type="http://schemas.openxmlformats.org/officeDocument/2006/relationships/slide" Target="/ppt/slides/slide2.xml" Id="R35700ab5b1c5468e" /><Relationship Type="http://schemas.openxmlformats.org/officeDocument/2006/relationships/slide" Target="/ppt/slides/slide3.xml" Id="R113d5b53eb634110" /><Relationship Type="http://schemas.openxmlformats.org/officeDocument/2006/relationships/slide" Target="/ppt/slides/slide4.xml" Id="Rfe433b8d0f33437c" /><Relationship Type="http://schemas.openxmlformats.org/officeDocument/2006/relationships/slide" Target="/ppt/slides/slide5.xml" Id="Rb239383fe4924ee2" /><Relationship Type="http://schemas.openxmlformats.org/officeDocument/2006/relationships/slide" Target="/ppt/slides/slide6.xml" Id="R9d0e3b8b1a25488a" /><Relationship Type="http://schemas.openxmlformats.org/officeDocument/2006/relationships/slide" Target="/ppt/slides/slide7.xml" Id="R27bb8f5b96704e2d" /><Relationship Type="http://schemas.openxmlformats.org/officeDocument/2006/relationships/slide" Target="/ppt/slides/slide8.xml" Id="Rdc667965eacb4f72" /><Relationship Type="http://schemas.openxmlformats.org/officeDocument/2006/relationships/slide" Target="/ppt/slides/slide9.xml" Id="Rc490d8414bd14edb" /><Relationship Type="http://schemas.openxmlformats.org/officeDocument/2006/relationships/slide" Target="/ppt/slides/slide10.xml" Id="R34e4e0f7c961422f" /><Relationship Type="http://schemas.openxmlformats.org/officeDocument/2006/relationships/slide" Target="/ppt/slides/slide11.xml" Id="Rf9cab015bfca4f77" /><Relationship Type="http://schemas.openxmlformats.org/officeDocument/2006/relationships/slide" Target="/ppt/slides/slide12.xml" Id="Rf6c57648e0c64d9b" /><Relationship Type="http://schemas.openxmlformats.org/officeDocument/2006/relationships/slide" Target="/ppt/slides/slide13.xml" Id="R45ff9ed904a84bfb" /><Relationship Type="http://schemas.openxmlformats.org/officeDocument/2006/relationships/slide" Target="/ppt/slides/slide14.xml" Id="R30586996547f4f31" /><Relationship Type="http://schemas.openxmlformats.org/officeDocument/2006/relationships/slide" Target="/ppt/slides/slide15.xml" Id="R05720d713ab944e2" /><Relationship Type="http://schemas.openxmlformats.org/officeDocument/2006/relationships/slide" Target="/ppt/slides/slide16.xml" Id="R591f61bc51964d43" /><Relationship Type="http://schemas.openxmlformats.org/officeDocument/2006/relationships/slide" Target="/ppt/slides/slide17.xml" Id="Rb06b3a37aa3f4a33" /><Relationship Type="http://schemas.openxmlformats.org/officeDocument/2006/relationships/slide" Target="/ppt/slides/slide18.xml" Id="R69f46b219f9b40b3" /><Relationship Type="http://schemas.openxmlformats.org/officeDocument/2006/relationships/slide" Target="/ppt/slides/slide19.xml" Id="R3f1896f0ad57420c" /><Relationship Type="http://schemas.openxmlformats.org/officeDocument/2006/relationships/slide" Target="/ppt/slides/slide20.xml" Id="Ra509e5c4f65b4b5b" /><Relationship Type="http://schemas.openxmlformats.org/officeDocument/2006/relationships/slide" Target="/ppt/slides/slide21.xml" Id="Rf76c0e77dba74b37" /><Relationship Type="http://schemas.openxmlformats.org/officeDocument/2006/relationships/slide" Target="/ppt/slides/slide22.xml" Id="R97930403e82e4222" /><Relationship Type="http://schemas.openxmlformats.org/officeDocument/2006/relationships/slide" Target="/ppt/slides/slide23.xml" Id="Rf923c058bf3444cc" /><Relationship Type="http://schemas.openxmlformats.org/officeDocument/2006/relationships/slide" Target="/ppt/slides/slide24.xml" Id="R3d3e4abec0e04f16" /><Relationship Type="http://schemas.openxmlformats.org/officeDocument/2006/relationships/slide" Target="/ppt/slides/slide25.xml" Id="R429fae8c95304cbe" /><Relationship Type="http://schemas.openxmlformats.org/officeDocument/2006/relationships/slide" Target="/ppt/slides/slide26.xml" Id="R543fd10880004a38" /><Relationship Type="http://schemas.openxmlformats.org/officeDocument/2006/relationships/slide" Target="/ppt/slides/slide27.xml" Id="R0c7da6f2c3064512" /><Relationship Type="http://schemas.openxmlformats.org/officeDocument/2006/relationships/slide" Target="/ppt/slides/slide28.xml" Id="Rd25c6498fd1e4334" /><Relationship Type="http://schemas.openxmlformats.org/officeDocument/2006/relationships/slide" Target="/ppt/slides/slide29.xml" Id="R7dfacb3852444a8b" /><Relationship Type="http://schemas.openxmlformats.org/officeDocument/2006/relationships/slide" Target="/ppt/slides/slide30.xml" Id="R96173916a4a04813" /><Relationship Type="http://schemas.openxmlformats.org/officeDocument/2006/relationships/slide" Target="/ppt/slides/slide31.xml" Id="R836a5ee48a804d34" /><Relationship Type="http://schemas.openxmlformats.org/officeDocument/2006/relationships/slide" Target="/ppt/slides/slide32.xml" Id="Rf49f30865fbd49ae" /><Relationship Type="http://schemas.openxmlformats.org/officeDocument/2006/relationships/slide" Target="/ppt/slides/slide33.xml" Id="Rf28de6c28c094a35" /><Relationship Type="http://schemas.openxmlformats.org/officeDocument/2006/relationships/slide" Target="/ppt/slides/slide34.xml" Id="R8fe50118763b425f" /><Relationship Type="http://schemas.openxmlformats.org/officeDocument/2006/relationships/slide" Target="/ppt/slides/slide35.xml" Id="R12123841887b492c" /><Relationship Type="http://schemas.openxmlformats.org/officeDocument/2006/relationships/slide" Target="/ppt/slides/slide36.xml" Id="R23f89a339f334fe9" /><Relationship Type="http://schemas.openxmlformats.org/officeDocument/2006/relationships/slide" Target="/ppt/slides/slide37.xml" Id="Rc45b0921978c47b0" /><Relationship Type="http://schemas.openxmlformats.org/officeDocument/2006/relationships/slide" Target="/ppt/slides/slide38.xml" Id="R54bfc243b28e47b1" /><Relationship Type="http://schemas.openxmlformats.org/officeDocument/2006/relationships/slide" Target="/ppt/slides/slide39.xml" Id="R9ff1d56a594a4b96" /><Relationship Type="http://schemas.openxmlformats.org/officeDocument/2006/relationships/slide" Target="/ppt/slides/slide40.xml" Id="Rf1238b60e0f34727" /><Relationship Type="http://schemas.openxmlformats.org/officeDocument/2006/relationships/slide" Target="/ppt/slides/slide41.xml" Id="R9ed510a4f8284de7" /><Relationship Type="http://schemas.openxmlformats.org/officeDocument/2006/relationships/slide" Target="/ppt/slides/slide42.xml" Id="Rfefe6f4d6ab04315" /><Relationship Type="http://schemas.openxmlformats.org/officeDocument/2006/relationships/slide" Target="/ppt/slides/slide43.xml" Id="R9e42b6bda8664567" /><Relationship Type="http://schemas.openxmlformats.org/officeDocument/2006/relationships/slide" Target="/ppt/slides/slide44.xml" Id="Ra5f932a6cce54ff8" /><Relationship Type="http://schemas.openxmlformats.org/officeDocument/2006/relationships/slide" Target="/ppt/slides/slide45.xml" Id="R4ca5198f317e4f37" /><Relationship Type="http://schemas.openxmlformats.org/officeDocument/2006/relationships/slide" Target="/ppt/slides/slide46.xml" Id="R17137f41e9964a79" /><Relationship Type="http://schemas.openxmlformats.org/officeDocument/2006/relationships/slide" Target="/ppt/slides/slide47.xml" Id="Rfb82fca0c660438b" /><Relationship Type="http://schemas.openxmlformats.org/officeDocument/2006/relationships/slide" Target="/ppt/slides/slide48.xml" Id="R044769acda21457e" /><Relationship Type="http://schemas.openxmlformats.org/officeDocument/2006/relationships/slide" Target="/ppt/slides/slide49.xml" Id="Rc8982e9e31ac4587" /><Relationship Type="http://schemas.openxmlformats.org/officeDocument/2006/relationships/slide" Target="/ppt/slides/slide50.xml" Id="R0c82e37fb0414647" /><Relationship Type="http://schemas.openxmlformats.org/officeDocument/2006/relationships/slide" Target="/ppt/slides/slide51.xml" Id="R19f31c2cf5924130" /><Relationship Type="http://schemas.openxmlformats.org/officeDocument/2006/relationships/slide" Target="/ppt/slides/slide52.xml" Id="Rc0ff7b99186f4768" /><Relationship Type="http://schemas.openxmlformats.org/officeDocument/2006/relationships/slide" Target="/ppt/slides/slide53.xml" Id="R4514fae95aa5444f" /><Relationship Type="http://schemas.openxmlformats.org/officeDocument/2006/relationships/slide" Target="/ppt/slides/slide54.xml" Id="R68c739726ab1477d" /><Relationship Type="http://schemas.openxmlformats.org/officeDocument/2006/relationships/slide" Target="/ppt/slides/slide55.xml" Id="R1978a84a34734c0c" /><Relationship Type="http://schemas.openxmlformats.org/officeDocument/2006/relationships/slide" Target="/ppt/slides/slide56.xml" Id="Rd062341873af4a1f" /><Relationship Type="http://schemas.openxmlformats.org/officeDocument/2006/relationships/slide" Target="/ppt/slides/slide57.xml" Id="Rd64fec61ef5c4a6a" /><Relationship Type="http://schemas.openxmlformats.org/officeDocument/2006/relationships/slide" Target="/ppt/slides/slide58.xml" Id="R9db448bd444e4d68" /><Relationship Type="http://schemas.openxmlformats.org/officeDocument/2006/relationships/slide" Target="/ppt/slides/slide59.xml" Id="Rc1370165d1ab41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bdc88acf2746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5a6f698d1a4afa" /><Relationship Type="http://schemas.openxmlformats.org/officeDocument/2006/relationships/notesMaster" Target="/ppt/notesMasters/notesMaster1.xml" Id="R90c5535cd17f4c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6130525b2e4078" /><Relationship Type="http://schemas.openxmlformats.org/officeDocument/2006/relationships/notesMaster" Target="/ppt/notesMasters/notesMaster1.xml" Id="R413faa7855f345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bb158c6cc74663" /><Relationship Type="http://schemas.openxmlformats.org/officeDocument/2006/relationships/notesMaster" Target="/ppt/notesMasters/notesMaster1.xml" Id="Re2ee92f49cbe4b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f48b7f56924295" /><Relationship Type="http://schemas.openxmlformats.org/officeDocument/2006/relationships/notesMaster" Target="/ppt/notesMasters/notesMaster1.xml" Id="R29a2fd6848ec4d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47c20b37694fa1" /><Relationship Type="http://schemas.openxmlformats.org/officeDocument/2006/relationships/notesMaster" Target="/ppt/notesMasters/notesMaster1.xml" Id="Ra23757774f0243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791b8953fe4be3" /><Relationship Type="http://schemas.openxmlformats.org/officeDocument/2006/relationships/notesMaster" Target="/ppt/notesMasters/notesMaster1.xml" Id="R0eb0b3a2560f4b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d7e8cc6b8aa48f4" /><Relationship Type="http://schemas.openxmlformats.org/officeDocument/2006/relationships/notesMaster" Target="/ppt/notesMasters/notesMaster1.xml" Id="R5a9d54a3744f47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97a30006fb4b27" /><Relationship Type="http://schemas.openxmlformats.org/officeDocument/2006/relationships/notesMaster" Target="/ppt/notesMasters/notesMaster1.xml" Id="R9ee7edc542334b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5604193e9d4538" /><Relationship Type="http://schemas.openxmlformats.org/officeDocument/2006/relationships/notesMaster" Target="/ppt/notesMasters/notesMaster1.xml" Id="Ra49d7566ce8441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993f56c5dc345e3" /><Relationship Type="http://schemas.openxmlformats.org/officeDocument/2006/relationships/notesMaster" Target="/ppt/notesMasters/notesMaster1.xml" Id="R01131cf1aaa24c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a8f92181c048be" /><Relationship Type="http://schemas.openxmlformats.org/officeDocument/2006/relationships/notesMaster" Target="/ppt/notesMasters/notesMaster1.xml" Id="Rf3fc298cbbf842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525febc60e54e53" /><Relationship Type="http://schemas.openxmlformats.org/officeDocument/2006/relationships/notesMaster" Target="/ppt/notesMasters/notesMaster1.xml" Id="Rd4d8b81a234e4a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2c5f7fa658e4fde" /><Relationship Type="http://schemas.openxmlformats.org/officeDocument/2006/relationships/notesMaster" Target="/ppt/notesMasters/notesMaster1.xml" Id="Rae91f45594484e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71b5042f6146bf" /><Relationship Type="http://schemas.openxmlformats.org/officeDocument/2006/relationships/notesMaster" Target="/ppt/notesMasters/notesMaster1.xml" Id="R0f2428d2e5dc4c9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0359385ef90426b" /><Relationship Type="http://schemas.openxmlformats.org/officeDocument/2006/relationships/notesMaster" Target="/ppt/notesMasters/notesMaster1.xml" Id="R89d6c7d2147d4d2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273dd5ffe824bb9" /><Relationship Type="http://schemas.openxmlformats.org/officeDocument/2006/relationships/notesMaster" Target="/ppt/notesMasters/notesMaster1.xml" Id="Rfe70ff54de46418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85207bafc394284" /><Relationship Type="http://schemas.openxmlformats.org/officeDocument/2006/relationships/notesMaster" Target="/ppt/notesMasters/notesMaster1.xml" Id="Rc2956c664d77497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b04dd5e559c49d4" /><Relationship Type="http://schemas.openxmlformats.org/officeDocument/2006/relationships/notesMaster" Target="/ppt/notesMasters/notesMaster1.xml" Id="R227fe2a5750b4dc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5889f27bb7a4abe" /><Relationship Type="http://schemas.openxmlformats.org/officeDocument/2006/relationships/notesMaster" Target="/ppt/notesMasters/notesMaster1.xml" Id="Rb15bbcd8c7a1478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3215065138a4985" /><Relationship Type="http://schemas.openxmlformats.org/officeDocument/2006/relationships/notesMaster" Target="/ppt/notesMasters/notesMaster1.xml" Id="Rd32b58a75bea4be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7be361403dd42ec" /><Relationship Type="http://schemas.openxmlformats.org/officeDocument/2006/relationships/notesMaster" Target="/ppt/notesMasters/notesMaster1.xml" Id="R89ed04eb5476422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04b903fda2f45f0" /><Relationship Type="http://schemas.openxmlformats.org/officeDocument/2006/relationships/notesMaster" Target="/ppt/notesMasters/notesMaster1.xml" Id="Rf5ee19114fb2486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2254780019443c2" /><Relationship Type="http://schemas.openxmlformats.org/officeDocument/2006/relationships/notesMaster" Target="/ppt/notesMasters/notesMaster1.xml" Id="R982b91931fbd4fc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e6c7e6acefb4f10" /><Relationship Type="http://schemas.openxmlformats.org/officeDocument/2006/relationships/notesMaster" Target="/ppt/notesMasters/notesMaster1.xml" Id="Rf9a56b5930ef4b1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c550b257396470d" /><Relationship Type="http://schemas.openxmlformats.org/officeDocument/2006/relationships/notesMaster" Target="/ppt/notesMasters/notesMaster1.xml" Id="R122f2c10f7cc4d0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25ef91497f546e7" /><Relationship Type="http://schemas.openxmlformats.org/officeDocument/2006/relationships/notesMaster" Target="/ppt/notesMasters/notesMaster1.xml" Id="R4bf8f22300be41e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2b534504f09447d" /><Relationship Type="http://schemas.openxmlformats.org/officeDocument/2006/relationships/notesMaster" Target="/ppt/notesMasters/notesMaster1.xml" Id="Rb9fd25e71a754aa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b504a351ef44e21" /><Relationship Type="http://schemas.openxmlformats.org/officeDocument/2006/relationships/notesMaster" Target="/ppt/notesMasters/notesMaster1.xml" Id="Rf72624980a84455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a49f02ec5864d3d" /><Relationship Type="http://schemas.openxmlformats.org/officeDocument/2006/relationships/notesMaster" Target="/ppt/notesMasters/notesMaster1.xml" Id="R644d860d43ea46f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8c8e001c85c4623" /><Relationship Type="http://schemas.openxmlformats.org/officeDocument/2006/relationships/notesMaster" Target="/ppt/notesMasters/notesMaster1.xml" Id="Ra59e57a07bb74eb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6395fa2e0564431" /><Relationship Type="http://schemas.openxmlformats.org/officeDocument/2006/relationships/notesMaster" Target="/ppt/notesMasters/notesMaster1.xml" Id="R0a4068408aa64c9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3e02c7bc9d9487a" /><Relationship Type="http://schemas.openxmlformats.org/officeDocument/2006/relationships/notesMaster" Target="/ppt/notesMasters/notesMaster1.xml" Id="R58999dd3a40b4e9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f5d8e13a77d4453" /><Relationship Type="http://schemas.openxmlformats.org/officeDocument/2006/relationships/notesMaster" Target="/ppt/notesMasters/notesMaster1.xml" Id="R79a341642226478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6f3b970922941aa" /><Relationship Type="http://schemas.openxmlformats.org/officeDocument/2006/relationships/notesMaster" Target="/ppt/notesMasters/notesMaster1.xml" Id="R937d2cfc2e6148f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3090eeba43c4c93" /><Relationship Type="http://schemas.openxmlformats.org/officeDocument/2006/relationships/notesMaster" Target="/ppt/notesMasters/notesMaster1.xml" Id="R8000516c6f094ca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30513cdf5c04f90" /><Relationship Type="http://schemas.openxmlformats.org/officeDocument/2006/relationships/notesMaster" Target="/ppt/notesMasters/notesMaster1.xml" Id="Ref4e80a29ed242a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0c0ca7b3ee141fa" /><Relationship Type="http://schemas.openxmlformats.org/officeDocument/2006/relationships/notesMaster" Target="/ppt/notesMasters/notesMaster1.xml" Id="R3293fbe0e8c644b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6212e4d264c449d" /><Relationship Type="http://schemas.openxmlformats.org/officeDocument/2006/relationships/notesMaster" Target="/ppt/notesMasters/notesMaster1.xml" Id="Rca18f5db47994ab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94e80225ef04a41" /><Relationship Type="http://schemas.openxmlformats.org/officeDocument/2006/relationships/notesMaster" Target="/ppt/notesMasters/notesMaster1.xml" Id="R4b970b0c1b6e4ea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25b9c29a91c400b" /><Relationship Type="http://schemas.openxmlformats.org/officeDocument/2006/relationships/notesMaster" Target="/ppt/notesMasters/notesMaster1.xml" Id="R368df3ad5e1e491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90bf271f33940ea" /><Relationship Type="http://schemas.openxmlformats.org/officeDocument/2006/relationships/notesMaster" Target="/ppt/notesMasters/notesMaster1.xml" Id="R88b245ce8cc24d6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97fc3f145734bb0" /><Relationship Type="http://schemas.openxmlformats.org/officeDocument/2006/relationships/notesMaster" Target="/ppt/notesMasters/notesMaster1.xml" Id="R83ab720dcfbf463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a749df49fa554667" /><Relationship Type="http://schemas.openxmlformats.org/officeDocument/2006/relationships/notesMaster" Target="/ppt/notesMasters/notesMaster1.xml" Id="R0a069e01486a45a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f3e5a10d3094e82" /><Relationship Type="http://schemas.openxmlformats.org/officeDocument/2006/relationships/notesMaster" Target="/ppt/notesMasters/notesMaster1.xml" Id="Rc76e6e506c314491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77b11ff42b874209" /><Relationship Type="http://schemas.openxmlformats.org/officeDocument/2006/relationships/notesMaster" Target="/ppt/notesMasters/notesMaster1.xml" Id="R2e213f9f679644f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0582dfe72444a10" /><Relationship Type="http://schemas.openxmlformats.org/officeDocument/2006/relationships/notesMaster" Target="/ppt/notesMasters/notesMaster1.xml" Id="R8640af18e6c4440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46db4dc22e14761" /><Relationship Type="http://schemas.openxmlformats.org/officeDocument/2006/relationships/notesMaster" Target="/ppt/notesMasters/notesMaster1.xml" Id="R7964d605b6ad4e1c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e5e24e1cf5964e87" /><Relationship Type="http://schemas.openxmlformats.org/officeDocument/2006/relationships/notesMaster" Target="/ppt/notesMasters/notesMaster1.xml" Id="R5cff887665824d2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ed3af72e1f914f3c" /><Relationship Type="http://schemas.openxmlformats.org/officeDocument/2006/relationships/notesMaster" Target="/ppt/notesMasters/notesMaster1.xml" Id="R9091036808f8406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d4597e9578240ad" /><Relationship Type="http://schemas.openxmlformats.org/officeDocument/2006/relationships/notesMaster" Target="/ppt/notesMasters/notesMaster1.xml" Id="Rd112f63650284d6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168a0834d0b4da5" /><Relationship Type="http://schemas.openxmlformats.org/officeDocument/2006/relationships/notesMaster" Target="/ppt/notesMasters/notesMaster1.xml" Id="R65fc1303773b4656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12ed3ac79cf48cc" /><Relationship Type="http://schemas.openxmlformats.org/officeDocument/2006/relationships/notesMaster" Target="/ppt/notesMasters/notesMaster1.xml" Id="Re8bf59399e714410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e9d393cbbb374d49" /><Relationship Type="http://schemas.openxmlformats.org/officeDocument/2006/relationships/notesMaster" Target="/ppt/notesMasters/notesMaster1.xml" Id="R3880111d88e44ce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50ab40db8b7b4f10" /><Relationship Type="http://schemas.openxmlformats.org/officeDocument/2006/relationships/notesMaster" Target="/ppt/notesMasters/notesMaster1.xml" Id="R9e961e4dd2d340d6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8102e25d7f8e4e96" /><Relationship Type="http://schemas.openxmlformats.org/officeDocument/2006/relationships/notesMaster" Target="/ppt/notesMasters/notesMaster1.xml" Id="Rd1ebfc09bc74490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15479606601c4b7f" /><Relationship Type="http://schemas.openxmlformats.org/officeDocument/2006/relationships/notesMaster" Target="/ppt/notesMasters/notesMaster1.xml" Id="R0c19e543a8754c9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46b559151384914" /><Relationship Type="http://schemas.openxmlformats.org/officeDocument/2006/relationships/notesMaster" Target="/ppt/notesMasters/notesMaster1.xml" Id="R0cfd444731434516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963f96c27bab4e46" /><Relationship Type="http://schemas.openxmlformats.org/officeDocument/2006/relationships/notesMaster" Target="/ppt/notesMasters/notesMaster1.xml" Id="R7cdb835b1fc54f43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3ce27fdc0e234c0d" /><Relationship Type="http://schemas.openxmlformats.org/officeDocument/2006/relationships/notesMaster" Target="/ppt/notesMasters/notesMaster1.xml" Id="R0f98cb37aee743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Begruessung. Der Kern: Wir bauen kein Chatbot-Spielzeug, sondern ein nachvollziehbares Suchsystem fuer Studieninformationen. Die Praesentation ist als ausfuehrliche Finalfassung aufgebaut.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Nach der Titelfolie die praktische Motivation betonen. Nicht abstrakt mit RAG beginnen, sondern mit dem Problem: Studieninformationen sind verstreut und schwer zu durchsuchen.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Hier die Hauptthese vorwegnehmen. Das wirkt ehrlich und wissenschaftlich: Wir behaupten nicht, dass ein Modell alles loest.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Uebergang: Jetzt erklaeren wir den Projektkontext, bevor wir in technische Details gehen.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Erklaeren, warum der Korpus realistisch ist. Es geht nicht nur um ein PDF, sondern um die Dokumentenlandschaft, die Studierende wirklich erleben.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drei Korpora nennen. Nicht zu lange bei Dateinamen bleiben, sondern den Zweck betonen: robuste Suche ueber verschiedene Dokumenttypen.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Hier langsam erklaeren: Der wichtigste technische Schritt ist die Strukturierung vor dem Retrieval. Dadurch unterscheiden wir uns von einer normalen PDF-Volltextsuche.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Hier kurz die Pipeline erklaeren: Wir geben dem System keine freie Fantasieaufgabe, sondern zwingen es, zuerst Dokumentstellen zu finden. Genau darum sind Modul, Abschnitt und Seite im Output so wichtig.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Uebergang: Wenn die Pipeline klar ist, kommt die Frage, wie wir die Dokumente in Suchstuecke zerlegen.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Grundspannung erklaeren: Praezision gegen Kontext. Danach die drei Strategien einfuehren.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 Tabelle ist zentral. Bei Rueckfragen koennen wir sagen: Wir evaluieren nicht nur Modelle, sondern auch die Repräsentation der Dokumente.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Field-level als Arbeitspferd erklaeren. Das ist besonders wichtig fuer den spaeteren UI-Default BM25 plus Abschnittsgewichtung.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Module-level nicht als Ersatz, sondern als ergaenzende Strategie darstellen. Wichtig fuer 40 Minuten: Hier kann ein Beispiel erzaehlt werden.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Hier nicht zu lange bleiben. Der Punkt ist methodisch: Ohne Baseline koennen wir schwer sagen, ob unsere Strukturierung besser 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Uebergang: Sobald Chunks definiert sind, vergleichen wir die Suchmethoden.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BM25 nicht als altes Modell abwerten. Im Projekt ist es wegen der Datenstruktur sehr stark und erklaerbar.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Dense ehrlich einordnen. Es ist kein Ersatz fuer BM25 bei ECTS, aber wichtig fuer flexible Suche.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Alpha erklaeren, weil die UI den Slider zeigt. Wichtig: 0.5 ist ein Startwert, nicht Naturgesetz.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Abschnittsgewichtung als UI-Feature erklaeren. Es ist kein willkuerlicher Slider, sondern eine Hypothese ueber Abschnittsnamen.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Uebergang: Jetzt geht es von Methoden zu Messung.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Metriken einfach erklaeren. Hit@1 und Recall@3 sind am wichtigsten fuer die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Hier die Erweiterung gegenueber dem letzten Zwischenbericht betonen: nicht mehr nur numerische Fragen.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Amharisch nicht dramatisieren. Einfach sagen: fuer diese Phase herausgenommen, damit die Evaluation sauber bleibt.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Uebergang: Jetzt kommen die Ergebnisse. Die Zahlen werden nicht als Zahlenfriedhof gezeigt, sondern pro Korpus interpretiert.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wichtigste Zahl: Bachelor BM25 mit field heuristic ist sehr stark. Dense ist bei exact fields schwach, aber broad-topic ist relativ besser.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Hier kann man ein Beispiel einbauen: WP3 ECTS. Das Ergebnis ist nicht Magie, sondern Folge der Struktur.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Master-CL-Zahlen nicht zu defensiv erklaeren. Sie zeigen realistisch: Der Korpus ist schwieriger, Top-k und Hybrid sind fuer Exploration relevanter.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 Folie ist wichtig fuer wissenschaftliche Ehrlichkeit. Nicht jedes Korpus ist gleich leicht.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Master-Informatik-Zahlen zeigen: BM25 bleibt der robuste Standard, auch wenn Hybrid bei broad-topic mithalten kann.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 Folie als Merksatz nutzen. Sie ist fuer die Spaeteren UI-Empfehlungen wichtig.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Uebergang: Nach den Zahlen kommen konkrete Beispiele. Das macht die Ergebnisse greifbar.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 ist der einfachste Live-Demo-Fall. Wichtig: Vorher BM25 einstellen. Nicht Dense, weil das genau die Fehlerquelle aus dem Screenshot war.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Hier auf die User-Sorge eingehen, aber im Vortrag neutral formulieren: Das gute Ergebnis hing an der passenden Suchmethode.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Bei Inhaltsfragen den Unterschied zu ECTS betonen. Top-k ist keine Schwäche, sondern Teil der Recherchelogik.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Hier die Erwartung setzen: broad-topic ist nicht one-shot answer, sondern Suchunterstuetzung.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Dieses Bild dient als UI-Beispiel. Ich erklaere ausdruecklich, dass die Methode je nach Fragetyp gewaehlt werden muss. Fuer die Demo mit ECTS sollte BM25 verwendet werden, nicht Dense.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Uebergang: Die Evaluation wird erst nuetzlich, wenn die UI gute Defaults und Empfehlungen hat.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UI erklaeren, damit der Dozent sieht: Die Slider sind nicht dekorativ, sondern evaluierte Parameter.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 Tabelle ist wahrscheinlich eine der wichtigsten praktischen Folien. Sie beantwortet direkt die Frage: Was soll ein Nutzer einstellen?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Falls die Frage kommt, warum nicht immer Top-1: Retrieval ist Suchunterstuetzung, nicht Orakel.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Den Slider in einfachen Worten erklaeren. Das hilft, falls der Dozent direkt auf die UI zeigt.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Hier die Verbindung zwischen Dokumentstruktur und Retrieval herstellen.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Uebergang: Jetzt zeigen wir, wie die Praesentation live funktionieren kann.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 Folie kann direkt vor der Live-Demo stehen. Falls keine Demo moeglich ist, kann man die drei Faelle verbal durchgehen.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Reihenfolge fuer die Demo: Quelle vor Antwort. Excel erwaehnen, weil es die Ergebnisbasis enthaelt.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 Folie nimmt kritische Fragen vorweg. Fehler sind kein Projektversagen, sondern Diagnosepunkte.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Uebergang: Nach Ergebnissen und Demo folgt Status und Ausblick.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Den Status kompakt sagen. Nicht zu viel ueber Dateipfade, aber bei Nachfrage wissen wir sie.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Grenzen proaktiv nennen. Dadurch wirkt die Praesentation professioneller.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Ausblick als konkrete Engineering-Liste, nicht als vage Idee.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Abschluss mit der zentralen Botschaft. Danach kann direkt in Fragen uebergeleitet werden.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 naechsten Folien sind Appendix/Q&amp;A. In der Praesentation koennen sie bei Bedarf gezeigt werden.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 Folie nur zeigen, wenn die LLM-Frage kommt.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BM25 als methodisch passende Wahl darstellen.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Diese Folie verhindert, dass Dense nur als schlecht erscheint.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Chunking nicht als einmalige Vorverarbeitung, sondern als Suchentscheidung darstellen.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Wenn der Dozent nach Evaluation fragt, diese Folie nutzen.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Scope boundary kurz und ruhig erklaeren.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Letzter Satz: Unser Ziel ist eine verlaessliche Suchstrategie fuer Studierende, nicht ein einzelner magischer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96c7acfe7b46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d4c6ea8c29495f" /><Relationship Type="http://schemas.openxmlformats.org/officeDocument/2006/relationships/slideLayout" Target="/ppt/slideLayouts/slideLayout1.xml" Id="R03d631c85d3649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d631c85d3649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3c34b0f2e4254" /><Relationship Type="http://schemas.openxmlformats.org/officeDocument/2006/relationships/image" Target="/ppt/media/image.png" Id="Re2303e60cdd54fa8" /><Relationship Type="http://schemas.openxmlformats.org/officeDocument/2006/relationships/notesSlide" Target="/ppt/notesSlides/notesSlide1.xml" Id="Rcff7ed0d648846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bb57cfbf849ce" /><Relationship Type="http://schemas.openxmlformats.org/officeDocument/2006/relationships/image" Target="/ppt/media/image2.png" Id="Re2e8d375f57e49ed" /><Relationship Type="http://schemas.openxmlformats.org/officeDocument/2006/relationships/notesSlide" Target="/ppt/notesSlides/notesSlide2.xml" Id="R9b80e931383141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fb2d6061844e2" /><Relationship Type="http://schemas.openxmlformats.org/officeDocument/2006/relationships/image" Target="/ppt/media/image3.png" Id="R5740c8072b9a4b03" /><Relationship Type="http://schemas.openxmlformats.org/officeDocument/2006/relationships/notesSlide" Target="/ppt/notesSlides/notesSlide3.xml" Id="Rcd0b24b584ea4b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6c71a8e9746af" /><Relationship Type="http://schemas.openxmlformats.org/officeDocument/2006/relationships/image" Target="/ppt/media/image4.png" Id="R5216b90c974e4e61" /><Relationship Type="http://schemas.openxmlformats.org/officeDocument/2006/relationships/notesSlide" Target="/ppt/notesSlides/notesSlide4.xml" Id="Rc1594e0ed9764d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23e9b02f6470f" /><Relationship Type="http://schemas.openxmlformats.org/officeDocument/2006/relationships/image" Target="/ppt/media/image5.png" Id="R2875751e7f644bde" /><Relationship Type="http://schemas.openxmlformats.org/officeDocument/2006/relationships/notesSlide" Target="/ppt/notesSlides/notesSlide5.xml" Id="Rc29d69d8fc7b42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880b6b5e474080" /><Relationship Type="http://schemas.openxmlformats.org/officeDocument/2006/relationships/image" Target="/ppt/media/image6.png" Id="R80695df2ec8b41e1" /><Relationship Type="http://schemas.openxmlformats.org/officeDocument/2006/relationships/notesSlide" Target="/ppt/notesSlides/notesSlide6.xml" Id="R3f425a59c9cb42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f209b95cf349b2" /><Relationship Type="http://schemas.openxmlformats.org/officeDocument/2006/relationships/image" Target="/ppt/media/image7.png" Id="R539e8a45389d4c46" /><Relationship Type="http://schemas.openxmlformats.org/officeDocument/2006/relationships/notesSlide" Target="/ppt/notesSlides/notesSlide7.xml" Id="Re7602ed068724c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da7f490334d20" /><Relationship Type="http://schemas.openxmlformats.org/officeDocument/2006/relationships/image" Target="/ppt/media/image8.png" Id="Ra3b429e48ac44e2a" /><Relationship Type="http://schemas.openxmlformats.org/officeDocument/2006/relationships/notesSlide" Target="/ppt/notesSlides/notesSlide8.xml" Id="R4dad735d9ac94f9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86213007194143" /><Relationship Type="http://schemas.openxmlformats.org/officeDocument/2006/relationships/image" Target="/ppt/media/image9.png" Id="R79f92328f8ed4fb3" /><Relationship Type="http://schemas.openxmlformats.org/officeDocument/2006/relationships/notesSlide" Target="/ppt/notesSlides/notesSlide9.xml" Id="Rbf6a3d5b613744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a9257422343f7" /><Relationship Type="http://schemas.openxmlformats.org/officeDocument/2006/relationships/image" Target="/ppt/media/image10.png" Id="R636ee679c05f403b" /><Relationship Type="http://schemas.openxmlformats.org/officeDocument/2006/relationships/notesSlide" Target="/ppt/notesSlides/notesSlide10.xml" Id="R45ea981fd4794d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41bb24e5744e7" /><Relationship Type="http://schemas.openxmlformats.org/officeDocument/2006/relationships/image" Target="/ppt/media/image11.png" Id="Rd5795c8f7bee49db" /><Relationship Type="http://schemas.openxmlformats.org/officeDocument/2006/relationships/notesSlide" Target="/ppt/notesSlides/notesSlide11.xml" Id="R522d8191df544d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a05e272e247a4" /><Relationship Type="http://schemas.openxmlformats.org/officeDocument/2006/relationships/image" Target="/ppt/media/image12.png" Id="R4f0567ff5cfe4f86" /><Relationship Type="http://schemas.openxmlformats.org/officeDocument/2006/relationships/notesSlide" Target="/ppt/notesSlides/notesSlide12.xml" Id="R85d72f87620842f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16681f121240d3" /><Relationship Type="http://schemas.openxmlformats.org/officeDocument/2006/relationships/image" Target="/ppt/media/image13.png" Id="R5734917b84364e24" /><Relationship Type="http://schemas.openxmlformats.org/officeDocument/2006/relationships/notesSlide" Target="/ppt/notesSlides/notesSlide13.xml" Id="Rfdf92f0ddc6d44e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23a19448a4b2c" /><Relationship Type="http://schemas.openxmlformats.org/officeDocument/2006/relationships/image" Target="/ppt/media/image14.png" Id="R1f2ce8a9ba714887" /><Relationship Type="http://schemas.openxmlformats.org/officeDocument/2006/relationships/notesSlide" Target="/ppt/notesSlides/notesSlide14.xml" Id="R54ce16a7e1994f8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4205f4cd4b4a76" /><Relationship Type="http://schemas.openxmlformats.org/officeDocument/2006/relationships/image" Target="/ppt/media/image15.png" Id="Rfb96759163c6412a" /><Relationship Type="http://schemas.openxmlformats.org/officeDocument/2006/relationships/notesSlide" Target="/ppt/notesSlides/notesSlide15.xml" Id="R316d55624ffd490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9be6232c8340ff" /><Relationship Type="http://schemas.openxmlformats.org/officeDocument/2006/relationships/image" Target="/ppt/media/image16.png" Id="R42e5f517906441fe" /><Relationship Type="http://schemas.openxmlformats.org/officeDocument/2006/relationships/notesSlide" Target="/ppt/notesSlides/notesSlide16.xml" Id="R8344b328df89444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663ddf06ae48b5" /><Relationship Type="http://schemas.openxmlformats.org/officeDocument/2006/relationships/image" Target="/ppt/media/image17.png" Id="Rcae33856e2f241c2" /><Relationship Type="http://schemas.openxmlformats.org/officeDocument/2006/relationships/notesSlide" Target="/ppt/notesSlides/notesSlide17.xml" Id="R5327e607dd2b4f2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2bb0a00be4bd1" /><Relationship Type="http://schemas.openxmlformats.org/officeDocument/2006/relationships/image" Target="/ppt/media/image18.png" Id="R17f501bcabd8455f" /><Relationship Type="http://schemas.openxmlformats.org/officeDocument/2006/relationships/notesSlide" Target="/ppt/notesSlides/notesSlide18.xml" Id="R608097be0f2e492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de9c015104f94" /><Relationship Type="http://schemas.openxmlformats.org/officeDocument/2006/relationships/image" Target="/ppt/media/image19.png" Id="R2d545d20fbaf4d69" /><Relationship Type="http://schemas.openxmlformats.org/officeDocument/2006/relationships/notesSlide" Target="/ppt/notesSlides/notesSlide19.xml" Id="R858ca2d5cfc2468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ca639bd8b4247" /><Relationship Type="http://schemas.openxmlformats.org/officeDocument/2006/relationships/image" Target="/ppt/media/image20.png" Id="R2d28b94a2e5142cf" /><Relationship Type="http://schemas.openxmlformats.org/officeDocument/2006/relationships/notesSlide" Target="/ppt/notesSlides/notesSlide20.xml" Id="R299bfb477de9476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ee3514814457d" /><Relationship Type="http://schemas.openxmlformats.org/officeDocument/2006/relationships/image" Target="/ppt/media/image21.png" Id="Rb500276da1664041" /><Relationship Type="http://schemas.openxmlformats.org/officeDocument/2006/relationships/notesSlide" Target="/ppt/notesSlides/notesSlide21.xml" Id="R0cbaa13736d0477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5632497a04e1f" /><Relationship Type="http://schemas.openxmlformats.org/officeDocument/2006/relationships/image" Target="/ppt/media/image22.png" Id="R430474ebc58c4b1f" /><Relationship Type="http://schemas.openxmlformats.org/officeDocument/2006/relationships/notesSlide" Target="/ppt/notesSlides/notesSlide22.xml" Id="R1e9ef243db2a4c7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cbdf554bc458c" /><Relationship Type="http://schemas.openxmlformats.org/officeDocument/2006/relationships/image" Target="/ppt/media/image23.png" Id="Rd1ac1fa9925942fb" /><Relationship Type="http://schemas.openxmlformats.org/officeDocument/2006/relationships/notesSlide" Target="/ppt/notesSlides/notesSlide23.xml" Id="R95d5da64784f4c4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0dd4166ee4bd4" /><Relationship Type="http://schemas.openxmlformats.org/officeDocument/2006/relationships/image" Target="/ppt/media/image24.png" Id="Rcd78ca278eec411c" /><Relationship Type="http://schemas.openxmlformats.org/officeDocument/2006/relationships/notesSlide" Target="/ppt/notesSlides/notesSlide24.xml" Id="Rea7da072cdd6428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94ec640bf48e5" /><Relationship Type="http://schemas.openxmlformats.org/officeDocument/2006/relationships/image" Target="/ppt/media/image25.png" Id="Rd413230edc6741e3" /><Relationship Type="http://schemas.openxmlformats.org/officeDocument/2006/relationships/chart" Target="/ppt/slides/charts/chart1.xml" Id="R43eb3740b08d4675" /><Relationship Type="http://schemas.openxmlformats.org/officeDocument/2006/relationships/notesSlide" Target="/ppt/notesSlides/notesSlide25.xml" Id="Rd6a7a7fe511f439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d96e0e0d34634" /><Relationship Type="http://schemas.openxmlformats.org/officeDocument/2006/relationships/image" Target="/ppt/media/image26.png" Id="R1a322a0b2bac4c1e" /><Relationship Type="http://schemas.openxmlformats.org/officeDocument/2006/relationships/notesSlide" Target="/ppt/notesSlides/notesSlide26.xml" Id="R8e13e12e15bf4d0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306cd1de24dcf" /><Relationship Type="http://schemas.openxmlformats.org/officeDocument/2006/relationships/image" Target="/ppt/media/image27.png" Id="Rd12554e5068a4435" /><Relationship Type="http://schemas.openxmlformats.org/officeDocument/2006/relationships/chart" Target="/ppt/slides/charts/chart2.xml" Id="R31478b96ebce4f4f" /><Relationship Type="http://schemas.openxmlformats.org/officeDocument/2006/relationships/notesSlide" Target="/ppt/notesSlides/notesSlide27.xml" Id="R3f220a049862416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92f99a3b74c74" /><Relationship Type="http://schemas.openxmlformats.org/officeDocument/2006/relationships/image" Target="/ppt/media/image28.png" Id="Rd38e3d073ef64a37" /><Relationship Type="http://schemas.openxmlformats.org/officeDocument/2006/relationships/notesSlide" Target="/ppt/notesSlides/notesSlide28.xml" Id="R7787a33f60f0472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ac8aa03144490" /><Relationship Type="http://schemas.openxmlformats.org/officeDocument/2006/relationships/image" Target="/ppt/media/image29.png" Id="Rcdd7c655f8504334" /><Relationship Type="http://schemas.openxmlformats.org/officeDocument/2006/relationships/chart" Target="/ppt/slides/charts/chart3.xml" Id="Rd8351bbb699845c9" /><Relationship Type="http://schemas.openxmlformats.org/officeDocument/2006/relationships/notesSlide" Target="/ppt/notesSlides/notesSlide29.xml" Id="Rc03bbdedcf9c496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a123a46224597" /><Relationship Type="http://schemas.openxmlformats.org/officeDocument/2006/relationships/image" Target="/ppt/media/image30.png" Id="R3b632c67a23648a0" /><Relationship Type="http://schemas.openxmlformats.org/officeDocument/2006/relationships/notesSlide" Target="/ppt/notesSlides/notesSlide30.xml" Id="Rbde769c21f35400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7facf311d4adf" /><Relationship Type="http://schemas.openxmlformats.org/officeDocument/2006/relationships/image" Target="/ppt/media/image31.png" Id="Rfb4fe7b8c25c49bf" /><Relationship Type="http://schemas.openxmlformats.org/officeDocument/2006/relationships/notesSlide" Target="/ppt/notesSlides/notesSlide31.xml" Id="R83b4336d1fed4a4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cc4d28cc940ab" /><Relationship Type="http://schemas.openxmlformats.org/officeDocument/2006/relationships/image" Target="/ppt/media/image32.png" Id="Rdd63fa752f5940bc" /><Relationship Type="http://schemas.openxmlformats.org/officeDocument/2006/relationships/notesSlide" Target="/ppt/notesSlides/notesSlide32.xml" Id="Rd4fdc06b721d4b2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f67a9786c4d78" /><Relationship Type="http://schemas.openxmlformats.org/officeDocument/2006/relationships/image" Target="/ppt/media/image33.png" Id="R480eecfc89e842bb" /><Relationship Type="http://schemas.openxmlformats.org/officeDocument/2006/relationships/notesSlide" Target="/ppt/notesSlides/notesSlide33.xml" Id="R9500a468f7d7435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2cbb51f464277" /><Relationship Type="http://schemas.openxmlformats.org/officeDocument/2006/relationships/image" Target="/ppt/media/image34.png" Id="Ra073d100ff604d6e" /><Relationship Type="http://schemas.openxmlformats.org/officeDocument/2006/relationships/notesSlide" Target="/ppt/notesSlides/notesSlide34.xml" Id="R55b2af2c35d541c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0093fa3754090" /><Relationship Type="http://schemas.openxmlformats.org/officeDocument/2006/relationships/image" Target="/ppt/media/image35.png" Id="R3f0ac05448a74d32" /><Relationship Type="http://schemas.openxmlformats.org/officeDocument/2006/relationships/notesSlide" Target="/ppt/notesSlides/notesSlide35.xml" Id="Rfb7ce784c7cd4b8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f87bea1514d09" /><Relationship Type="http://schemas.openxmlformats.org/officeDocument/2006/relationships/image" Target="/ppt/media/image36.png" Id="R5a8fa8ede2d94390" /><Relationship Type="http://schemas.openxmlformats.org/officeDocument/2006/relationships/image" Target="/ppt/media/image37.png" Id="Rc40904ed0a2045cb" /><Relationship Type="http://schemas.openxmlformats.org/officeDocument/2006/relationships/notesSlide" Target="/ppt/notesSlides/notesSlide36.xml" Id="R4738c6dffd754e1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a98852ded4e89" /><Relationship Type="http://schemas.openxmlformats.org/officeDocument/2006/relationships/image" Target="/ppt/media/image38.png" Id="Rd50e0b15871f4dea" /><Relationship Type="http://schemas.openxmlformats.org/officeDocument/2006/relationships/notesSlide" Target="/ppt/notesSlides/notesSlide37.xml" Id="R98f714529c234639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31e6d9fce4d9b" /><Relationship Type="http://schemas.openxmlformats.org/officeDocument/2006/relationships/image" Target="/ppt/media/image39.png" Id="R72ddf9625880423d" /><Relationship Type="http://schemas.openxmlformats.org/officeDocument/2006/relationships/notesSlide" Target="/ppt/notesSlides/notesSlide38.xml" Id="Rf7c63aee529a462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2679e922c4bc2" /><Relationship Type="http://schemas.openxmlformats.org/officeDocument/2006/relationships/image" Target="/ppt/media/image40.png" Id="R31efa222ad884c6d" /><Relationship Type="http://schemas.openxmlformats.org/officeDocument/2006/relationships/notesSlide" Target="/ppt/notesSlides/notesSlide39.xml" Id="R3386f4918d3d4656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3eb0f481841c6" /><Relationship Type="http://schemas.openxmlformats.org/officeDocument/2006/relationships/image" Target="/ppt/media/image41.png" Id="R9d2e1cb16eff4e44" /><Relationship Type="http://schemas.openxmlformats.org/officeDocument/2006/relationships/notesSlide" Target="/ppt/notesSlides/notesSlide40.xml" Id="R694bbf4bc43245f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6fe3301834680" /><Relationship Type="http://schemas.openxmlformats.org/officeDocument/2006/relationships/image" Target="/ppt/media/image42.png" Id="R0cc6a91583ac47a8" /><Relationship Type="http://schemas.openxmlformats.org/officeDocument/2006/relationships/notesSlide" Target="/ppt/notesSlides/notesSlide41.xml" Id="Rc47595dd70df445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a6b4f445944fe" /><Relationship Type="http://schemas.openxmlformats.org/officeDocument/2006/relationships/image" Target="/ppt/media/image43.png" Id="Raa884a5dcf6149be" /><Relationship Type="http://schemas.openxmlformats.org/officeDocument/2006/relationships/notesSlide" Target="/ppt/notesSlides/notesSlide42.xml" Id="R8841c9c4e5ec4ba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1d6d9f1b174169" /><Relationship Type="http://schemas.openxmlformats.org/officeDocument/2006/relationships/image" Target="/ppt/media/image44.png" Id="R6324dcdefb334e54" /><Relationship Type="http://schemas.openxmlformats.org/officeDocument/2006/relationships/notesSlide" Target="/ppt/notesSlides/notesSlide43.xml" Id="R82f18166eeaf467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2df0b725b4f6e" /><Relationship Type="http://schemas.openxmlformats.org/officeDocument/2006/relationships/image" Target="/ppt/media/image45.png" Id="R7d683590d01b474b" /><Relationship Type="http://schemas.openxmlformats.org/officeDocument/2006/relationships/notesSlide" Target="/ppt/notesSlides/notesSlide44.xml" Id="R6b99683c8811402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a6e84795c48b6" /><Relationship Type="http://schemas.openxmlformats.org/officeDocument/2006/relationships/image" Target="/ppt/media/image46.png" Id="R0e008d32a57542d3" /><Relationship Type="http://schemas.openxmlformats.org/officeDocument/2006/relationships/notesSlide" Target="/ppt/notesSlides/notesSlide45.xml" Id="Rba007e3b2990441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3ad488b8244cb" /><Relationship Type="http://schemas.openxmlformats.org/officeDocument/2006/relationships/image" Target="/ppt/media/image47.png" Id="Reeca8ecebeef45fd" /><Relationship Type="http://schemas.openxmlformats.org/officeDocument/2006/relationships/notesSlide" Target="/ppt/notesSlides/notesSlide46.xml" Id="R452b18dd893c421a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01fd865064ae7" /><Relationship Type="http://schemas.openxmlformats.org/officeDocument/2006/relationships/image" Target="/ppt/media/image48.png" Id="R90531631a8af4c1d" /><Relationship Type="http://schemas.openxmlformats.org/officeDocument/2006/relationships/notesSlide" Target="/ppt/notesSlides/notesSlide47.xml" Id="R22d6aaa72abb4f6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e4b28c10a47a4" /><Relationship Type="http://schemas.openxmlformats.org/officeDocument/2006/relationships/image" Target="/ppt/media/image49.png" Id="R45b9c095443149d5" /><Relationship Type="http://schemas.openxmlformats.org/officeDocument/2006/relationships/notesSlide" Target="/ppt/notesSlides/notesSlide48.xml" Id="Rdbaec1b087ac4a5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6520bb6f44236" /><Relationship Type="http://schemas.openxmlformats.org/officeDocument/2006/relationships/image" Target="/ppt/media/image50.png" Id="R5998096ae1394bb1" /><Relationship Type="http://schemas.openxmlformats.org/officeDocument/2006/relationships/notesSlide" Target="/ppt/notesSlides/notesSlide49.xml" Id="R19ef330195914f5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b8be924c20416e" /><Relationship Type="http://schemas.openxmlformats.org/officeDocument/2006/relationships/image" Target="/ppt/media/image51.png" Id="R65673044c4be4a23" /><Relationship Type="http://schemas.openxmlformats.org/officeDocument/2006/relationships/notesSlide" Target="/ppt/notesSlides/notesSlide50.xml" Id="R52f9dde4e12e4b3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0af41e54744e8" /><Relationship Type="http://schemas.openxmlformats.org/officeDocument/2006/relationships/image" Target="/ppt/media/image52.png" Id="R3d72ce524e8e41ee" /><Relationship Type="http://schemas.openxmlformats.org/officeDocument/2006/relationships/notesSlide" Target="/ppt/notesSlides/notesSlide51.xml" Id="R1d9f09f960874ec9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58fc5307a422d" /><Relationship Type="http://schemas.openxmlformats.org/officeDocument/2006/relationships/image" Target="/ppt/media/image53.png" Id="R8337bca8bdfb478e" /><Relationship Type="http://schemas.openxmlformats.org/officeDocument/2006/relationships/notesSlide" Target="/ppt/notesSlides/notesSlide52.xml" Id="R2f63cce0ecf44df6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a66acd8a4466f" /><Relationship Type="http://schemas.openxmlformats.org/officeDocument/2006/relationships/image" Target="/ppt/media/image54.png" Id="Rfdfec45d8ce34f10" /><Relationship Type="http://schemas.openxmlformats.org/officeDocument/2006/relationships/notesSlide" Target="/ppt/notesSlides/notesSlide53.xml" Id="R2aa04825af5f40bd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22c06a92f4786" /><Relationship Type="http://schemas.openxmlformats.org/officeDocument/2006/relationships/image" Target="/ppt/media/image55.png" Id="R6f68c9a855f94656" /><Relationship Type="http://schemas.openxmlformats.org/officeDocument/2006/relationships/notesSlide" Target="/ppt/notesSlides/notesSlide54.xml" Id="R4d6df703b8d44307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99c83be2a4c0a" /><Relationship Type="http://schemas.openxmlformats.org/officeDocument/2006/relationships/image" Target="/ppt/media/image56.png" Id="R7a8a150c878c4cce" /><Relationship Type="http://schemas.openxmlformats.org/officeDocument/2006/relationships/notesSlide" Target="/ppt/notesSlides/notesSlide55.xml" Id="R87f0fcd2a9c74d68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2a009b68a4b04" /><Relationship Type="http://schemas.openxmlformats.org/officeDocument/2006/relationships/image" Target="/ppt/media/image57.png" Id="R1fd3926e843744bf" /><Relationship Type="http://schemas.openxmlformats.org/officeDocument/2006/relationships/notesSlide" Target="/ppt/notesSlides/notesSlide56.xml" Id="Rd92d4390e2fd4d3a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1b032767c47a5" /><Relationship Type="http://schemas.openxmlformats.org/officeDocument/2006/relationships/image" Target="/ppt/media/image58.png" Id="R861e940a57a448c1" /><Relationship Type="http://schemas.openxmlformats.org/officeDocument/2006/relationships/notesSlide" Target="/ppt/notesSlides/notesSlide57.xml" Id="Rb37415ccfaf44b31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f4b1b90efa4091" /><Relationship Type="http://schemas.openxmlformats.org/officeDocument/2006/relationships/image" Target="/ppt/media/image59.png" Id="R4debb57da39b45f0" /><Relationship Type="http://schemas.openxmlformats.org/officeDocument/2006/relationships/notesSlide" Target="/ppt/notesSlides/notesSlide58.xml" Id="R4cffd81edf324fbc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74c6193914ca7" /><Relationship Type="http://schemas.openxmlformats.org/officeDocument/2006/relationships/image" Target="/ppt/media/image60.png" Id="R22f1394c7f2b4cbd" /><Relationship Type="http://schemas.openxmlformats.org/officeDocument/2006/relationships/notesSlide" Target="/ppt/notesSlides/notesSlide59.xml" Id="Rccc87f7902014ebd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BM25 + field boost Hit@1</c:v>
          </c:tx>
          <c:spPr>
            <a:solidFill xmlns:a="http://schemas.openxmlformats.org/drawingml/2006/main">
              <a:srgbClr val="1F7A4D"/>
            </a:solidFill>
          </c:spPr>
          <c:dLbls/>
          <c:cat>
            <c:strLit>
              <c:ptCount val="6"/>
              <c:pt idx="0">
                <c:v>overall</c:v>
              </c:pt>
              <c:pt idx="1">
                <c:v>factual</c:v>
              </c:pt>
              <c:pt idx="2">
                <c:v>numerical</c:v>
              </c:pt>
              <c:pt idx="3">
                <c:v>semester</c:v>
              </c:pt>
              <c:pt idx="4">
                <c:v>content</c:v>
              </c:pt>
              <c:pt idx="5">
                <c:v>broad</c:v>
              </c:pt>
            </c:strLit>
          </c:cat>
          <c:val>
            <c:numLit>
              <c:formatCode>General</c:formatCode>
              <c:ptCount val="6"/>
              <c:pt idx="0">
                <c:v>75</c:v>
              </c:pt>
              <c:pt idx="1">
                <c:v>100</c:v>
              </c:pt>
              <c:pt idx="2">
                <c:v>100</c:v>
              </c:pt>
              <c:pt idx="3">
                <c:v>100</c:v>
              </c:pt>
              <c:pt idx="4">
                <c:v>50</c:v>
              </c:pt>
              <c:pt idx="5">
                <c:v>50</c:v>
              </c:pt>
            </c:numLit>
          </c:val>
        </c:ser>
        <c:ser>
          <c:idx val="1"/>
          <c:order val="1"/>
          <c:tx>
            <c:v>Dense Hit@1</c:v>
          </c:tx>
          <c:spPr>
            <a:solidFill xmlns:a="http://schemas.openxmlformats.org/drawingml/2006/main">
              <a:srgbClr val="E26D3D"/>
            </a:solidFill>
          </c:spPr>
          <c:dLbls/>
          <c:cat>
            <c:strLit>
              <c:ptCount val="6"/>
              <c:pt idx="0">
                <c:v>overall</c:v>
              </c:pt>
              <c:pt idx="1">
                <c:v>factual</c:v>
              </c:pt>
              <c:pt idx="2">
                <c:v>numerical</c:v>
              </c:pt>
              <c:pt idx="3">
                <c:v>semester</c:v>
              </c:pt>
              <c:pt idx="4">
                <c:v>content</c:v>
              </c:pt>
              <c:pt idx="5">
                <c:v>broad</c:v>
              </c:pt>
            </c:strLit>
          </c:cat>
          <c:val>
            <c:numLit>
              <c:formatCode>General</c:formatCode>
              <c:ptCount val="6"/>
              <c:pt idx="0">
                <c:v>13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50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827"/>
                  </a:solidFill>
                </a:defRPr>
              </a:pPr>
            </a:p>
          </c:txPr>
          <c:dLblPos val="outEnd"/>
          <c:showVal val="1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AF1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B6472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C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5B6472"/>
              </a:solidFill>
            </a:defRPr>
          </a:pPr>
        </a:p>
      </c:txPr>
    </c:legend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BM25 Hit@1</c:v>
          </c:tx>
          <c:spPr>
            <a:solidFill xmlns:a="http://schemas.openxmlformats.org/drawingml/2006/main">
              <a:srgbClr val="1F7A4D"/>
            </a:solidFill>
          </c:spPr>
          <c:dLbls/>
          <c:cat>
            <c:strLit>
              <c:ptCount val="5"/>
              <c:pt idx="0">
                <c:v>overall</c:v>
              </c:pt>
              <c:pt idx="1">
                <c:v>factual</c:v>
              </c:pt>
              <c:pt idx="2">
                <c:v>numerical</c:v>
              </c:pt>
              <c:pt idx="3">
                <c:v>content</c:v>
              </c:pt>
              <c:pt idx="4">
                <c:v>broad</c:v>
              </c:pt>
            </c:strLit>
          </c:cat>
          <c:val>
            <c:numLit>
              <c:formatCode>General</c:formatCode>
              <c:ptCount val="5"/>
              <c:pt idx="0">
                <c:v>50</c:v>
              </c:pt>
              <c:pt idx="1">
                <c:v>50</c:v>
              </c:pt>
              <c:pt idx="2">
                <c:v>100</c:v>
              </c:pt>
              <c:pt idx="3">
                <c:v>50</c:v>
              </c:pt>
              <c:pt idx="4">
                <c:v>0</c:v>
              </c:pt>
            </c:numLit>
          </c:val>
        </c:ser>
        <c:ser>
          <c:idx val="1"/>
          <c:order val="1"/>
          <c:tx>
            <c:v>Hybrid Hit@1</c:v>
          </c:tx>
          <c:spPr>
            <a:solidFill xmlns:a="http://schemas.openxmlformats.org/drawingml/2006/main">
              <a:srgbClr val="1F7A4D"/>
            </a:solidFill>
          </c:spPr>
          <c:dLbls/>
          <c:cat>
            <c:strLit>
              <c:ptCount val="5"/>
              <c:pt idx="0">
                <c:v>overall</c:v>
              </c:pt>
              <c:pt idx="1">
                <c:v>factual</c:v>
              </c:pt>
              <c:pt idx="2">
                <c:v>numerical</c:v>
              </c:pt>
              <c:pt idx="3">
                <c:v>content</c:v>
              </c:pt>
              <c:pt idx="4">
                <c:v>broad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50</c:v>
              </c:pt>
              <c:pt idx="2">
                <c:v>50</c:v>
              </c:pt>
              <c:pt idx="3">
                <c:v>50</c:v>
              </c:pt>
              <c:pt idx="4">
                <c:v>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827"/>
                  </a:solidFill>
                </a:defRPr>
              </a:pPr>
            </a:p>
          </c:txPr>
          <c:dLblPos val="outEnd"/>
          <c:showVal val="1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AF1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B6472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C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5B6472"/>
              </a:solidFill>
            </a:defRPr>
          </a:pPr>
        </a:p>
      </c:txPr>
    </c:legend>
    <c:plotVisOnly val="1"/>
  </c:chart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BM25 Hit@1</c:v>
          </c:tx>
          <c:spPr>
            <a:solidFill xmlns:a="http://schemas.openxmlformats.org/drawingml/2006/main">
              <a:srgbClr val="1F7A4D"/>
            </a:solidFill>
          </c:spPr>
          <c:dLbls/>
          <c:cat>
            <c:strLit>
              <c:ptCount val="6"/>
              <c:pt idx="0">
                <c:v>overall</c:v>
              </c:pt>
              <c:pt idx="1">
                <c:v>factual</c:v>
              </c:pt>
              <c:pt idx="2">
                <c:v>numerical</c:v>
              </c:pt>
              <c:pt idx="3">
                <c:v>semester</c:v>
              </c:pt>
              <c:pt idx="4">
                <c:v>content</c:v>
              </c:pt>
              <c:pt idx="5">
                <c:v>broad</c:v>
              </c:pt>
            </c:strLit>
          </c:cat>
          <c:val>
            <c:numLit>
              <c:formatCode>General</c:formatCode>
              <c:ptCount val="6"/>
              <c:pt idx="0">
                <c:v>78</c:v>
              </c:pt>
              <c:pt idx="1">
                <c:v>67</c:v>
              </c:pt>
              <c:pt idx="2">
                <c:v>100</c:v>
              </c:pt>
              <c:pt idx="3">
                <c:v>100</c:v>
              </c:pt>
              <c:pt idx="4">
                <c:v>50</c:v>
              </c:pt>
              <c:pt idx="5">
                <c:v>100</c:v>
              </c:pt>
            </c:numLit>
          </c:val>
        </c:ser>
        <c:ser>
          <c:idx val="1"/>
          <c:order val="1"/>
          <c:tx>
            <c:v>Hybrid Hit@1</c:v>
          </c:tx>
          <c:spPr>
            <a:solidFill xmlns:a="http://schemas.openxmlformats.org/drawingml/2006/main">
              <a:srgbClr val="1F7A4D"/>
            </a:solidFill>
          </c:spPr>
          <c:dLbls/>
          <c:cat>
            <c:strLit>
              <c:ptCount val="6"/>
              <c:pt idx="0">
                <c:v>overall</c:v>
              </c:pt>
              <c:pt idx="1">
                <c:v>factual</c:v>
              </c:pt>
              <c:pt idx="2">
                <c:v>numerical</c:v>
              </c:pt>
              <c:pt idx="3">
                <c:v>semester</c:v>
              </c:pt>
              <c:pt idx="4">
                <c:v>content</c:v>
              </c:pt>
              <c:pt idx="5">
                <c:v>broad</c:v>
              </c:pt>
            </c:strLit>
          </c:cat>
          <c:val>
            <c:numLit>
              <c:formatCode>General</c:formatCode>
              <c:ptCount val="6"/>
              <c:pt idx="0">
                <c:v>44</c:v>
              </c:pt>
              <c:pt idx="1">
                <c:v>67</c:v>
              </c:pt>
              <c:pt idx="2">
                <c:v>0</c:v>
              </c:pt>
              <c:pt idx="3">
                <c:v>100</c:v>
              </c:pt>
              <c:pt idx="4">
                <c:v>0</c:v>
              </c:pt>
              <c:pt idx="5">
                <c:v>100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827"/>
                  </a:solidFill>
                </a:defRPr>
              </a:pPr>
            </a:p>
          </c:txPr>
          <c:dLblPos val="outEnd"/>
          <c:showVal val="1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AF1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B6472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C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5B6472"/>
              </a:solidFill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EF3D47-E935-4C61-AEB7-C7B3356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095375"/>
            <a:ext cx="88011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9D9D9"/>
          </a:solidFill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00725E-0329-4AB0-A8B5-DE34D2F3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F7A4D"/>
                </a:solidFill>
              </a:defRPr>
            </a:pPr>
            <a:r>
              <a:rPr sz="1950" b="0">
                <a:solidFill>
                  <a:srgbClr val="1F7A4D"/>
                </a:solidFill>
              </a:rPr>
              <a:t>RAG-basiertes Such-</a:t>
            </a:r>
          </a:p>
          <a:p xmlns:a="http://schemas.openxmlformats.org/drawingml/2006/main">
            <a:pPr algn="ctr">
              <a:defRPr sz="1950" b="0">
                <a:solidFill>
                  <a:srgbClr val="1F7A4D"/>
                </a:solidFill>
              </a:defRPr>
            </a:pPr>
            <a:r>
              <a:rPr sz="1950" b="0">
                <a:solidFill>
                  <a:srgbClr val="1F7A4D"/>
                </a:solidFill>
              </a:rPr>
              <a:t>und Fragesystem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6B4F3-15FB-4BEC-B96B-4A9A109A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3812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Selvinaz Tiryaki und Salem Debebe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303e60cdd54fa8"/>
          <a:stretch xmlns:a="http://schemas.openxmlformats.org/drawingml/2006/main"/>
        </p:blipFill>
        <p:spPr>
          <a:xfrm xmlns:a="http://schemas.openxmlformats.org/drawingml/2006/main">
            <a:off x="3790950" y="3271206"/>
            <a:ext cx="1571625" cy="75373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E8E121-AF43-4882-AC9F-7CE64993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Center for Information &amp; Language Processing (CIS), LMU Munich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7DEAE-555F-4471-9B11-36DF5767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530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Finalpraesentation | 1. Juli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365B2-A8F7-48B5-A325-CCFF27C2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2A3267-A8BD-4BA2-81D7-AD1BE18D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ECCC2F-2E5E-4259-8A77-CC5CDCB2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57A411-A41E-4BAC-8171-8866E68B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39DB6-C3CC-4461-AF75-811A2467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0ED1B9-FAC9-45AD-BD94-6E8313FE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 / 59</a:t>
            </a:r>
          </a:p>
        </p:txBody>
      </p:sp>
    </p:spTree>
    <p:extLst>
      <p:ext uri="{BB962C8B-B14F-4D97-AF65-F5344CB8AC3E}">
        <p14:creationId xmlns:p14="http://schemas.microsoft.com/office/powerpoint/2010/main" val="13793509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E09F5C-5EEF-41D2-BC75-7D4937B8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345EE-2A84-449A-9AC3-B43336C6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Leitfrage ist praktisch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8d375f57e49ed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F4012-D13A-488B-A2AF-BFAE96E1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Wie findet eine Studentin schnell die richtige Stelle in langen Studiengangsdokumenten?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680568-C485-4394-92D2-3C208E99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FDC764-0CA1-466C-8EC7-772B9A15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Antworten sollen direkt aus Modulhandbuchstellen kommen.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6F307C-BFDA-4EA5-8CDB-FF71E661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8A4F28-50E8-4F03-BE75-80E24B76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Jede Antwort braucht Quelle, Abschnitt und Seite.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8FEAC-1D39-4280-A2A9-8CF77D76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FC43FA-F488-4E89-9443-9658301B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beste Suche haengt vom Fragetyp ab.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D1A06A-9D74-456D-B350-B1F3A3A6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0004C3-2976-49B2-8763-2C14ABB7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UI soll diese Suchstrategie sichtbar und steuerbar machen.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386176-5B9A-4334-9C3A-3FEF0CE8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9B7E2-938A-4679-B306-D651430D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0F0CF9-C287-47DE-8927-10851084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9327F2-C0C6-4F0C-B27B-6EAE784A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4E5D5D-B564-4F93-8E94-65C787BA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A32ACD-1A9E-4636-B142-6C396846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 / 59</a:t>
            </a:r>
          </a:p>
        </p:txBody>
      </p:sp>
    </p:spTree>
    <p:extLst>
      <p:ext uri="{BB962C8B-B14F-4D97-AF65-F5344CB8AC3E}">
        <p14:creationId xmlns:p14="http://schemas.microsoft.com/office/powerpoint/2010/main" val="7292739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0AAA82-B634-467F-8C30-8CD1433C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2E2D8-9701-4AA9-84A4-5174D495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Der wichtigste Befund ist differenziert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0c8072b9a4b03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667E2-8323-4395-ABF4-A10534C6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Es gibt nicht eine perfekte Methode fuer alle Fragen.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EADA30-031A-475A-A8FC-53A67C8D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5600F-69D0-4781-9B40-35933315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Exakte Studienfragen: BM25 + field chunks ist am staerksten.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108D34-6C22-49D5-B3AC-694864BB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CCAEC5-0389-4394-9DD1-DB46D339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Breite Themenfragen: Dense oder Hybrid kann besser explorieren.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48F7A5-8880-424C-883B-D78A6BD8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DEE17-FE43-49AE-9AFC-74BFE932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Kombinierte Fragen: module-level chunks helfen beim Kontext.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58EFD9-A941-49F2-9704-7CD2943C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DBCEA-04E5-4FD9-987D-2EF8E01D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Top-k 3 ist meist der beste Kompromiss aus Genauigkeit und Pruefbarkeit.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F1FAD8-1CD0-4197-A7DC-D7E7D3D4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58DBE-3CD1-45FF-BEC8-2AC506EB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431C6B-0BA6-46E6-A339-5A799ED1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67177A-1AF0-4BEE-8158-7E6BD3F1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8348FB-25B9-4BE2-9818-E448C1B1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1CEB48-7E88-401B-BB56-756CE73A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 / 59</a:t>
            </a:r>
          </a:p>
        </p:txBody>
      </p:sp>
    </p:spTree>
    <p:extLst>
      <p:ext uri="{BB962C8B-B14F-4D97-AF65-F5344CB8AC3E}">
        <p14:creationId xmlns:p14="http://schemas.microsoft.com/office/powerpoint/2010/main" val="15532365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FBAB5F-B32C-4F1B-8AA9-8201C8C4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5ED526-FA54-4380-A5EB-5ACFD945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Outline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16b90c974e4e61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D097D-1742-422D-90EB-34CA1BAE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24150"/>
            <a:ext cx="3619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24C9E-B23D-4E66-BA99-858CD488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2250"/>
            <a:ext cx="20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56484-4C93-40DE-A0F6-6ACE3AB9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Projektkontext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5189F9-8664-46AA-B97C-40C23559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Warum wir ein RAG-System fuer Modulhandbuecher brauchen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F39B59-D82E-4EF3-97B7-3C93329E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34885-E622-4DF7-AD3D-840D8844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212E7-7FEB-4C58-B3CF-FADDAFC5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2758DF-6748-4112-9419-203C703F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FAD1D2-DB8F-4146-8429-6C1BA928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E5C347-5900-4DDD-8ED7-1CC3A5B0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 / 59</a:t>
            </a:r>
          </a:p>
        </p:txBody>
      </p:sp>
    </p:spTree>
    <p:extLst>
      <p:ext uri="{BB962C8B-B14F-4D97-AF65-F5344CB8AC3E}">
        <p14:creationId xmlns:p14="http://schemas.microsoft.com/office/powerpoint/2010/main" val="6218315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DE96B1-A7C7-4C51-AA5C-F9211378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7545BD-AB4A-4B04-86CE-C2F26915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Studieninformationen sind nicht linear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5751e7f644bde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34FDA1-9490-4BD6-8B91-1902B4B9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Eine Frage fuehrt selten zu genau einem Dokument und genau einer Zeile.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5D5F3-840A-4137-B760-11E18144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F7D23-E5D3-48D9-867B-49D104C8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Modulhandbuecher enthalten strukturierte, aber lange Beschreibungen.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79AB3A-3A7D-45D1-984D-CF8AF6DE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2EB53A-56F0-4200-8819-01DD46E9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Ordnungen und Studienplaene enthalten ergaenzende Regeln.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98147E-031B-40BD-A4B7-5760F648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AF014-0BB7-426C-BFD5-526E8069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PDF-Suche findet Textstellen, aber erklaert nicht automatisch die Antwort.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DADF25-5959-4CF4-B01F-EB424B29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70F41A-10F2-42B5-A500-1E5E47AD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Studierende brauchen eine kurze Antwort plus belegbare Quelle.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DC022-7AD6-4C83-88F2-70052A32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C8EC2D-0F99-4957-B66B-B9097992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A7BFC2-00D2-4622-9AC6-F3362AF4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E81A12-579C-45EF-A9AD-1C0605CE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310EAB-DC09-43CD-A12F-9892638B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C75A0A-B0E2-422C-8C54-539661CA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 / 59</a:t>
            </a:r>
          </a:p>
        </p:txBody>
      </p:sp>
    </p:spTree>
    <p:extLst>
      <p:ext uri="{BB962C8B-B14F-4D97-AF65-F5344CB8AC3E}">
        <p14:creationId xmlns:p14="http://schemas.microsoft.com/office/powerpoint/2010/main" val="9520592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50A1A8-FBD5-43C8-8526-CD572CEE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8DE33-1953-4D8D-B233-5815DA90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Der Korpus deckt mehrere Studienkontexte ab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695df2ec8b41e1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E3DDF0-FD6C-413A-A8CD-4C612AE2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Wir testen nicht nur einen Einzelfall, sondern mehrere Computerlinguistik-nahe Korpora.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BF576-EB8C-4484-853E-71FFDC8B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16B5A-C88F-415D-8203-22935A13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Bachelor Computerlinguistik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E29E87-17B5-4EA5-8F87-D2097A40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8429E-C8FC-405B-A15B-8760AF42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Master Computerlinguistik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A73295-D130-45D2-82BC-2F25A71B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38DFC-6957-48E2-8409-9E5D3898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Master Informatik als Nebenfach-/Vergleichskontext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4DA5A-131E-437B-8406-B1FECF72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682B6-D0C8-434B-AFC5-53813590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Modulhandbuecher plus weitere studienrelevante Dokumente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C338C5-008F-4804-898B-12071F3B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2FEF45-8520-4194-B074-A0201755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F06A7-A6D2-41C7-9A14-D9F1F32F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C7989-CD7A-4946-BD73-83065203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752F5C-5A04-4BD2-A700-D08D9EF8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EACA45-4C62-414D-B865-69FE6FA3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6 / 59</a:t>
            </a:r>
          </a:p>
        </p:txBody>
      </p:sp>
    </p:spTree>
    <p:extLst>
      <p:ext uri="{BB962C8B-B14F-4D97-AF65-F5344CB8AC3E}">
        <p14:creationId xmlns:p14="http://schemas.microsoft.com/office/powerpoint/2010/main" val="4093575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E19B8C-9DEE-4640-91EC-DD91A3E6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FFEFB7-68C8-4CE0-9289-A6FE9249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Dokumente werden in pruefbare Einheiten zerlegt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e8a45389d4c46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593B0-6A76-4C7C-942B-08611D98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Ohne saubere Chunks kann selbst das beste Retrieval die richtige Quelle verfehlen.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AE8E1-F7D6-42DA-B992-5D8935C7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15049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289220-9BB1-4534-AB3D-257C65BA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Ebene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3F326-4210-4E05-923A-25BDB5E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90750"/>
            <a:ext cx="271462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FF73E-1259-4339-879E-E78C3B92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266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Ziel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8D492-5F2B-4653-A896-F3D8AE9A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190750"/>
            <a:ext cx="37909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E2768A-ABD6-4F8B-9766-ABA1EE5B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266950"/>
            <a:ext cx="3648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Typischer Nutzen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EB7022-0053-4064-A7EC-D63A8940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15049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63DE22-42D3-44D9-A82B-B87B8030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1362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raw PDF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1BD23B-A5DF-4FD8-B5A2-FFF5B32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90800"/>
            <a:ext cx="2714625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6C1273-C6DF-4043-978B-7376C285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6670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Ausgangsdokument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B2C9F1-B91D-4C46-86C1-6A39D2DD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90800"/>
            <a:ext cx="37909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1B82F3-7C25-4F7E-8B96-91B7324A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67000"/>
            <a:ext cx="3648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Originalquelle bleibt nachvollziehbar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495AFF-9822-4421-B019-C69C0AA3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81350"/>
            <a:ext cx="15049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4C4BCB-BAE5-4E05-A6C2-D8D583FD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1362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page 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3CC42A-1BA2-400B-A893-70EEB627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81350"/>
            <a:ext cx="2714625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4091C8-32CD-42B7-8901-5B8ED513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257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Seitenbezug erhalten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262EDB-CE3D-4EF2-AFBA-80FEC353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181350"/>
            <a:ext cx="37909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6D158C-C18E-4E9F-BEFB-BFA62929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257550"/>
            <a:ext cx="3648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Antworten koennen auf Seiten verweisen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A7C7E8-4743-491D-82C8-30155DFF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71900"/>
            <a:ext cx="15049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D75A98-42A6-4E07-A26A-138A2323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362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module metadata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9FA415-65F8-4190-81C7-11963832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71900"/>
            <a:ext cx="2714625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50E25C-152E-4CA5-8BE3-9EE4BE354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8481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Modulcode und Titel extrahieren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7B971C-7EBB-49D1-A197-1728432C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771900"/>
            <a:ext cx="37909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748723-46DA-4041-96CC-44A6EF61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848100"/>
            <a:ext cx="3648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Fragen mit WP3, P11 oder P2 werden gezielt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ED692F-70EE-4F7D-80A1-4066C18C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62450"/>
            <a:ext cx="15049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2E1FC2-F89F-42B3-9685-80E9FDBE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38650"/>
            <a:ext cx="1362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section metadata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454C6F-5A26-4457-AA27-3F49785F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362450"/>
            <a:ext cx="2714625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8289FE-3225-45F5-8CEC-0461D01C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4386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Abschnitte erkennen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1B2865-6319-4713-8C35-5A1AA844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362450"/>
            <a:ext cx="37909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2BB52B-EA7B-4901-A9D5-FC9A7162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438650"/>
            <a:ext cx="3648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ECTS, Pruefungsform, Inhalte werden unterscheidbar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18DD90-0F27-48FA-89E0-F6158850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396011-2E20-47CA-8D57-E98FDF47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9AF489-6ACA-4DAD-BF1F-D3EB336C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D75C03-BEEB-4D2C-B008-C499565A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B8EF81-66ED-42E9-8A8E-8285A05E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D075EB0-EE00-4A5E-91F9-114544BD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7 / 59</a:t>
            </a:r>
          </a:p>
        </p:txBody>
      </p:sp>
    </p:spTree>
    <p:extLst>
      <p:ext uri="{BB962C8B-B14F-4D97-AF65-F5344CB8AC3E}">
        <p14:creationId xmlns:p14="http://schemas.microsoft.com/office/powerpoint/2010/main" val="11837493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465004-0FC9-4750-98B6-3261C060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DBAF4-1F6E-48FB-8AE0-27D4655D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Pipeline trennt Suche und Antwort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429e48ac44e2a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B1766-DE6F-417E-8501-902FF19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3628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Antwort ist nur so gut wie die gefundene Quelle. Deshalb evaluieren wir zuerst Retrieval.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4763E6-BB6B-475B-85B8-6B30E195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1390650" cy="14287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7F1EA"/>
          </a:solidFill>
          <a:ln xmlns:a="http://schemas.openxmlformats.org/drawingml/2006/main" w="9525">
            <a:solidFill>
              <a:srgbClr val="9FBAD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AEEB8-5D48-4EAA-95CE-2942AED5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14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F7A4D"/>
                </a:solidFill>
              </a:defRPr>
            </a:pPr>
            <a:r>
              <a:rPr sz="1725" b="1">
                <a:solidFill>
                  <a:srgbClr val="1F7A4D"/>
                </a:solidFill>
              </a:rPr>
              <a:t>Dokumente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ACEE0E-71C2-4D63-84E9-31F26876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PDFs und Ordnungen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92C6CA-5509-4EB5-9094-3537CA56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238500"/>
            <a:ext cx="30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F7A4D"/>
                </a:solidFill>
              </a:defRPr>
            </a:pPr>
            <a:r>
              <a:rPr sz="1950" b="1">
                <a:solidFill>
                  <a:srgbClr val="1F7A4D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B40ADE-7327-4CC4-B435-FB616876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714625"/>
            <a:ext cx="1390650" cy="14287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9FBAD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53F49C-F13E-4147-A615-FCDC71E8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000375"/>
            <a:ext cx="114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F7A4D"/>
                </a:solidFill>
              </a:defRPr>
            </a:pPr>
            <a:r>
              <a:rPr sz="1725" b="1">
                <a:solidFill>
                  <a:srgbClr val="1F7A4D"/>
                </a:solidFill>
              </a:rPr>
              <a:t>Parsing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6DF5C1-5E3D-4C98-9653-74A6F5B2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476625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Text + Seiten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A2569-307E-4AFE-9DF0-4AD153C4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238500"/>
            <a:ext cx="30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F7A4D"/>
                </a:solidFill>
              </a:defRPr>
            </a:pPr>
            <a:r>
              <a:rPr sz="1950" b="1">
                <a:solidFill>
                  <a:srgbClr val="1F7A4D"/>
                </a:solidFill>
              </a:rPr>
              <a:t>-&gt;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44C16A-4424-476D-8C4A-D4287873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14625"/>
            <a:ext cx="1390650" cy="14287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7F1EA"/>
          </a:solidFill>
          <a:ln xmlns:a="http://schemas.openxmlformats.org/drawingml/2006/main" w="9525">
            <a:solidFill>
              <a:srgbClr val="9FBAD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2C90EA-BBE6-4639-88D9-AD6F8831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0375"/>
            <a:ext cx="114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F7A4D"/>
                </a:solidFill>
              </a:defRPr>
            </a:pPr>
            <a:r>
              <a:rPr sz="1725" b="1">
                <a:solidFill>
                  <a:srgbClr val="1F7A4D"/>
                </a:solidFill>
              </a:rPr>
              <a:t>Chunks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B027D2-0101-4B43-AB61-070D0708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field / module / naive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25E45C-EC22-434F-876C-DC177401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38500"/>
            <a:ext cx="30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F7A4D"/>
                </a:solidFill>
              </a:defRPr>
            </a:pPr>
            <a:r>
              <a:rPr sz="1950" b="1">
                <a:solidFill>
                  <a:srgbClr val="1F7A4D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73A557-409D-4FC0-889C-EB3C8CBD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14625"/>
            <a:ext cx="1390650" cy="14287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9FBAD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276EAE-60AC-4415-ABCF-EAEDCC7C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00375"/>
            <a:ext cx="114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F7A4D"/>
                </a:solidFill>
              </a:defRPr>
            </a:pPr>
            <a:r>
              <a:rPr sz="1725" b="1">
                <a:solidFill>
                  <a:srgbClr val="1F7A4D"/>
                </a:solidFill>
              </a:rPr>
              <a:t>Retrieval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81488B-D09F-4BFE-B2F8-F2017688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76625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BM25 / Dense / Hybrid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9642BF-DF50-4666-8427-C2162C2A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238500"/>
            <a:ext cx="30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F7A4D"/>
                </a:solidFill>
              </a:defRPr>
            </a:pPr>
            <a:r>
              <a:rPr sz="1950" b="1">
                <a:solidFill>
                  <a:srgbClr val="1F7A4D"/>
                </a:solidFill>
              </a:rPr>
              <a:t>-&gt;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C8C8A8-36AA-43D1-B758-26F9B24C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14625"/>
            <a:ext cx="1390650" cy="14287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7F1EA"/>
          </a:solidFill>
          <a:ln xmlns:a="http://schemas.openxmlformats.org/drawingml/2006/main" w="9525">
            <a:solidFill>
              <a:srgbClr val="9FBAD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035F-EEAB-43DC-8846-A1B3A9D2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000375"/>
            <a:ext cx="114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F7A4D"/>
                </a:solidFill>
              </a:defRPr>
            </a:pPr>
            <a:r>
              <a:rPr sz="1725" b="1">
                <a:solidFill>
                  <a:srgbClr val="1F7A4D"/>
                </a:solidFill>
              </a:rPr>
              <a:t>Antwort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691706-77BB-4F77-8896-F5797937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476625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Quelle + Kurztext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56FD64-B4D4-432A-969F-DE28A463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38CEB7-8DA6-4A60-AAFF-D6945E45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A434A1-4086-4A52-97DB-63BF5A30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2B0274-D822-4B48-B270-81A0B2CC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9E975F-D11E-4E17-B8E7-39D3FEB6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DB31F3-0E6A-4D30-B4FF-C28523D6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8 / 59</a:t>
            </a:r>
          </a:p>
        </p:txBody>
      </p:sp>
    </p:spTree>
    <p:extLst>
      <p:ext uri="{BB962C8B-B14F-4D97-AF65-F5344CB8AC3E}">
        <p14:creationId xmlns:p14="http://schemas.microsoft.com/office/powerpoint/2010/main" val="19256942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2177BC-6A02-49CC-ABDD-C18934F3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4B702-9BF1-4E0D-8550-592853BC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Outline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92328f8ed4fb3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6E500-4B65-4988-B08F-5CB6991A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24150"/>
            <a:ext cx="3619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1E6ED-5AE5-440D-B034-60AB9059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2250"/>
            <a:ext cx="20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3B78DB-9B42-4CC4-9381-7DEFD7E5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Chunking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A5C4F-2284-42F1-9A74-3C28D9C6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Welche Textstuecke dem Retriever ueberhaupt angeboten werden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D5AF5-F28A-4ED2-BD63-1E51CE34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613396-E152-451D-8693-1BE9EF29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DF886C-03A0-410E-B850-12D17BE4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794DD-6705-47AC-8656-C67F1E29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5B56B5-6B1C-47C3-9C8F-FC3AE174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EF2BD7-3494-4899-A59B-FC51616D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9 / 59</a:t>
            </a:r>
          </a:p>
        </p:txBody>
      </p:sp>
    </p:spTree>
    <p:extLst>
      <p:ext uri="{BB962C8B-B14F-4D97-AF65-F5344CB8AC3E}">
        <p14:creationId xmlns:p14="http://schemas.microsoft.com/office/powerpoint/2010/main" val="5666916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0DE861-7B01-472E-932A-B17B36C9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5C337-F7E5-4897-92B2-4313098E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Chunking entscheidet ueber die Antwortqualitaet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6ee679c05f403b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E7AE4-B3B4-4F90-BEB3-D9392F95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28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Der gleiche PDF-Text kann je nach Chunking sehr unterschiedlich gefunden werden.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B9BCD3-AA27-4E9C-A3FE-FAC39782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3819525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7D8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920F6-C497-42C5-B84A-8F62B56E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190750"/>
            <a:ext cx="3819525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BF8"/>
          </a:solidFill>
          <a:ln xmlns:a="http://schemas.openxmlformats.org/drawingml/2006/main" w="9525">
            <a:solidFill>
              <a:srgbClr val="F1C8B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A35CB-6500-4A9D-9738-55F8B71C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476500"/>
            <a:ext cx="33623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7A4D"/>
                </a:solidFill>
              </a:defRPr>
            </a:pPr>
            <a:r>
              <a:rPr sz="1725" b="1">
                <a:solidFill>
                  <a:srgbClr val="1F7A4D"/>
                </a:solidFill>
              </a:rPr>
              <a:t>Zu kleine Chunks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C7909-0D89-450D-8478-E5B68EFF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2476500"/>
            <a:ext cx="33623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26D3D"/>
                </a:solidFill>
              </a:defRPr>
            </a:pPr>
            <a:r>
              <a:rPr sz="1725" b="1">
                <a:solidFill>
                  <a:srgbClr val="E26D3D"/>
                </a:solidFill>
              </a:rPr>
              <a:t>Zu grosse Chunks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749D98-097B-4299-847A-A976B653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00375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• Sehr praezise Quellen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0856DC-289F-4A6E-A836-32E4491A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552825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• Gut fuer ECTS und Pruefungsform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C4717-9D97-4DBF-A6FD-A6FEEB78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105275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• Risiko: Kontext fehlt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6E569-FF06-40B2-8700-4992C7C9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000375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• Mehr Zusammenhang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9F47A7-DA25-4B15-AD7D-E2619949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552825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• Gut fuer kombinierte Fragen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209790-F82B-4FED-9218-AABE0115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4105275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• Risiko: Antwortstelle wird unscharf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7284C2-F1DF-48E6-BD11-6A273386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9E1778-67E2-4116-8D2F-59086FD1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CA38F4-BFAB-403C-AEEB-30022836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E0ADAB-9D12-4B74-B077-F12F5193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BED16-9B7D-41A9-B955-9D878DE0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5AE01A-8FC4-4032-9153-D8334AE1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10 / 59</a:t>
            </a:r>
          </a:p>
        </p:txBody>
      </p:sp>
    </p:spTree>
    <p:extLst>
      <p:ext uri="{BB962C8B-B14F-4D97-AF65-F5344CB8AC3E}">
        <p14:creationId xmlns:p14="http://schemas.microsoft.com/office/powerpoint/2010/main" val="1685126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CCE29D-128A-45D9-ACE5-3FD7F16E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95258-75EC-4F50-B9E9-FA3C33F2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Wir vergleichen drei Chunk-Strategien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795c8f7bee49db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AA764B-BD72-4356-8535-0D6CDC90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Die Strategien sind bewusst unterschiedlich, damit wir nicht nur einen Pipeline-Zufall messen.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4E04F-DB9B-4243-B254-C844356B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17907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1C190-0716-4068-8336-CDB6964F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647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Strategie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F2A698-2D99-4132-8346-EC82FE47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90750"/>
            <a:ext cx="332422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B36AE-4102-48BF-84DD-F8984788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66950"/>
            <a:ext cx="3181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Was sie enthaelt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0818CA-108E-4759-9E4C-5FB37E1F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190750"/>
            <a:ext cx="28956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9B6F78-D50E-4360-ABE5-680E1280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266950"/>
            <a:ext cx="2752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Erwartete Staerke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5929CE-DEC2-471F-989E-578D1D0F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17907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1117C2-6CB9-439F-BA30-53B71C0C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1647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field-level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DA31E-DC8A-449D-8225-C4C36DA2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90800"/>
            <a:ext cx="3324225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C408B-B0D1-411F-AE98-C1A3C6ED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667000"/>
            <a:ext cx="3181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Ein Modulabschnitt oder Feld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E9DCBD-0C8C-459E-9613-64093295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90800"/>
            <a:ext cx="28956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6FFB8E-8C53-4FFB-AE2A-911ADFF0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67000"/>
            <a:ext cx="27527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Sehr genaue Antworten und Quellen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13E00-317C-48F7-9FFC-D03AC8E8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57550"/>
            <a:ext cx="17907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7A8CDF-2B5B-4043-88C2-ED279C3D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0"/>
            <a:ext cx="1647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module-level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8F9002-49F4-403B-AB2D-8AD93C97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257550"/>
            <a:ext cx="3324225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7241F6-7F9D-473F-A233-33BFDF26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333750"/>
            <a:ext cx="3181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Viele Felder eines Moduls zusammen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DFC40B-D281-41C5-BDA5-A52B8485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257550"/>
            <a:ext cx="28956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0FB3B0-7516-4DF2-9037-3E99F66B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333750"/>
            <a:ext cx="27527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Kombinierte und uebergreifende Fragen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EEE6EA-292F-4669-AD78-7601DF9D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924300"/>
            <a:ext cx="17907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8293BA-EE21-4EF3-A037-D04BB2E7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647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naive chunks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8E4DCA-11C7-4293-95B4-19CAC8C5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24300"/>
            <a:ext cx="3324225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67537B-DCCF-4A07-82AC-A93998C3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00500"/>
            <a:ext cx="3181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Text nach einfacher Zerlegung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AB0E35-A77E-4662-ACD6-902C5761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924300"/>
            <a:ext cx="289560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7FEF3A-1B8D-468A-84F7-40E84310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00500"/>
            <a:ext cx="27527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Baseline und Plausibilitaetskontrolle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49AF6D-0B9B-46B4-92F6-544C4FFA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6AFC6E-7C46-4BDC-9E12-F094684A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FED5F7-6778-4382-AD85-FC677593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0E79CF-4B77-43C9-BD36-4A7F395C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D18E79-15C6-441A-A2D4-F37415B2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EBF98F-2CB3-4590-9A1B-74171155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11 / 59</a:t>
            </a:r>
          </a:p>
        </p:txBody>
      </p:sp>
    </p:spTree>
    <p:extLst>
      <p:ext uri="{BB962C8B-B14F-4D97-AF65-F5344CB8AC3E}">
        <p14:creationId xmlns:p14="http://schemas.microsoft.com/office/powerpoint/2010/main" val="2294587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119380-2907-4F31-BF05-5B4B9E52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76A42-A54D-4B6E-BDAA-83F7B581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Field-level chunks sind stark bei Studienfeldern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567ff5cfe4f86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80F71E-52D2-4728-A9C6-23A0ABD9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Sie treffen die Stelle, an der die Antwort wirklich steht.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407FF-14EB-4651-AAE9-EEE1DADD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3A870-B0F7-45BB-B30E-95E7CA0B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ECTS, SWS, Semester und Pruefungsform stehen meist in klaren Feldern.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FCF4C5-DCE8-4591-BC68-FAAE4ED1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69E228-EEF9-4A58-B174-025FFCCB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Abschnittsnamen koennen im Retrieval zusaetzlich gewichtet werden.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063F3-9B07-4045-A830-53D09C54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4A66A-4105-466C-9FC1-40E1A8E0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Quelle ist fuer die UI sehr sauber: Modul, Abschnitt, Seite.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B4E447-3BFB-4201-82D4-8B6A36E6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DC2131-8D12-4EDE-A2A6-4C3A2781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Grenze: Bei mehreren zusammenhaengenden Feldern kann Kontext fehlen.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0A9040-8D6D-4AAE-8978-0D0024C2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CF267A-3FDC-499E-B0CF-1932AD6F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A6F3F2-0676-4001-887C-672B3111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A63BA1-6FDD-4F80-BBC0-C9730065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013AB3-2EED-4EC5-9423-1B02404C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9CE04E-6F37-426C-B1EB-6F2B5D7F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12 / 59</a:t>
            </a:r>
          </a:p>
        </p:txBody>
      </p:sp>
    </p:spTree>
    <p:extLst>
      <p:ext uri="{BB962C8B-B14F-4D97-AF65-F5344CB8AC3E}">
        <p14:creationId xmlns:p14="http://schemas.microsoft.com/office/powerpoint/2010/main" val="13281903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D9E4A8-0F77-411E-988D-2FD487EA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218019-ADEB-4995-8F42-778080D2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Module-level chunks helfen bei kombinierten Fragen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34917b84364e24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E44C91-1220-40CE-A7D4-8C30ABE0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Wenn eine Frage mehrere Felder verbindet, ist der groessere Kontext wertvoll.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9BE64-AC2D-4556-8524-F5DC203A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B85CBE-03D8-4A69-B6F1-E4475B5C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Beispiel: ECTS, Praesenzzeit und Selbststudium zusammen.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653B88-1D18-40D6-829B-72722157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E2D58-85E4-4AF8-8A0A-970ED37A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Beispiel: Welche Modulteile gehoeren zu einem Modul?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212A55-E6B8-4466-9CA1-63E9ABB6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87AF71-BE87-4B07-A9E3-27BAA9D7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Mehr Kontext reduziert Fragmentierung.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D0C816-EF54-47A4-8817-95507012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FD7157-2657-4C5A-9443-1DCF19BB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Antwortstelle ist weniger punktgenau als bei field-level chunks.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AD6D7A-67BA-4FF5-9D10-CF456829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5F7B1C-90F3-49CB-9501-6F916047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DE83D1-57DA-4EE6-9D91-94C4ECB2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0AC15-1808-4027-B1CA-749F8798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AF0D2A-578D-4542-8946-F355E7AB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DA3065-818E-45E3-8F53-C578FA9C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13 / 59</a:t>
            </a:r>
          </a:p>
        </p:txBody>
      </p:sp>
    </p:spTree>
    <p:extLst>
      <p:ext uri="{BB962C8B-B14F-4D97-AF65-F5344CB8AC3E}">
        <p14:creationId xmlns:p14="http://schemas.microsoft.com/office/powerpoint/2010/main" val="11941074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4555B-DFE5-4BDA-AA6E-30221285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2C1DE-594E-4700-BFF9-16E0566C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Naive chunks bleiben als Baseline wichtig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ce8a9ba714887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2E328-66D9-4817-98BE-372E6C0A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Eine Baseline zeigt, ob die strukturierte Pipeline wirklich Mehrwert bringt.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833C4-9047-4D91-9232-22937E1A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0EF371-885C-47D9-857D-B431146D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Sie sind schnell erzeugbar und einfach zu erklaeren.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F66AE-E9B5-43EC-9CED-6C8562F9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52F5C7-0C6C-4CC3-98EA-2A7B5323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Sie finden manchmal relevante Textumgebung.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EB7F6-1386-4141-BA6F-77053D44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3738D0-9898-4CEF-A21D-ADD740D9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Sie sind weniger gut fuer saubere Abschnitts- und Seitenzitate.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F3A6D4-60DD-45F0-ACA2-C8B44B08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C6883-F84A-4929-9FC1-2E922DCB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In der finalen Empfehlung stehen sie nicht an erster Stelle.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5396A-F470-440A-B5C7-2FAD5B72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C881C7-5D80-4325-A498-8C4E6E3D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7906B5-E55F-45E9-A193-752CB69B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014363-2F35-45AC-B009-F9F56315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CDC819-B865-47A7-92F9-7F1FC196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D08C10-D5A3-4D60-B838-4F10BE61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14 / 59</a:t>
            </a:r>
          </a:p>
        </p:txBody>
      </p:sp>
    </p:spTree>
    <p:extLst>
      <p:ext uri="{BB962C8B-B14F-4D97-AF65-F5344CB8AC3E}">
        <p14:creationId xmlns:p14="http://schemas.microsoft.com/office/powerpoint/2010/main" val="16733675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645D3E-5F9C-41A7-9EC0-20EDD1E3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9B2E3C-6B4E-4B96-9586-2ECCE78C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Outline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96759163c6412a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9DB85-B23A-4AA5-8E7E-1AE81781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24150"/>
            <a:ext cx="3619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EA7F7-B78A-420B-8C82-9FC4A8DA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2250"/>
            <a:ext cx="20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72E3DC-A552-4294-8C2E-29E31D55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Retrieval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9922F-FEBA-4EF9-B067-2AA3821D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Warum BM25, Dense und Hybrid verschiedene Aufgaben loesen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52EAE-83A8-42D6-A7FE-7ED3EA14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41F981-2472-4329-92C5-6C37F69D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CA7E6D-A640-47AA-B559-D7FEE124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6E3B8-AFDB-4615-8742-C662153A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BF006-44C7-47F9-9803-545C4A2D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01EC59-E194-4BAF-B995-18134C13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15 / 59</a:t>
            </a:r>
          </a:p>
        </p:txBody>
      </p:sp>
    </p:spTree>
    <p:extLst>
      <p:ext uri="{BB962C8B-B14F-4D97-AF65-F5344CB8AC3E}">
        <p14:creationId xmlns:p14="http://schemas.microsoft.com/office/powerpoint/2010/main" val="20349759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6FC93B-AE10-455E-9915-120147F8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5D2EDB-9B47-4D67-89B2-F3C5EF159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BM25 ist die starke exakte Suche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5f517906441fe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759E0-43A2-4C4C-998E-E5B5E612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Bei Modulcodes, Zahlen und festen Begriffen ist lexikalische Uebereinstimmung ein Vorteil.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AAD41-2C09-4884-BC0B-F27B9726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20002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EA8854-C75C-4225-89DA-D1B3371F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BM25 findet gut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8DB1F1-FE12-423F-B174-0CF91E9F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190750"/>
            <a:ext cx="336232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9FF057-4494-43A3-9205-FE302ED7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6695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Warum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00BFE8-A67E-4686-A243-99756CE5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190750"/>
            <a:ext cx="26479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05886-4955-4E8D-94FE-332297D3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266950"/>
            <a:ext cx="2505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Typische Frage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1D5FC-C1CB-4629-A37F-03A59984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200025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23BBE4-612D-47E1-B73B-AC0235EB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1857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Modulcodes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4395D5-C0C6-4D1E-BDE2-2F80FBFD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590800"/>
            <a:ext cx="336232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500D27-349D-4032-BDF8-B015E0FF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6700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WP3, P11 oder P2 stehen direkt im 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66682-04E7-44EF-A65F-25AC8059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590800"/>
            <a:ext cx="264795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947FFF-7DA7-41D4-B361-3EFAA0B0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667000"/>
            <a:ext cx="2505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Welche ECTS hat WP3?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F0CB93-0A71-48BC-80EB-63B0CD36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305175"/>
            <a:ext cx="200025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37690F-1111-4E16-8E4A-45D222A0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81375"/>
            <a:ext cx="1857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Felder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2DAFCB-2BFC-4EF5-82BD-F0FC025D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305175"/>
            <a:ext cx="336232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7FB732-A023-4166-AF1D-FE8BA60D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81375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ECTS, Semester, Pruefungsform sind sichtbare Woerter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A95E93-07C2-41AB-B852-AE31E5F7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05175"/>
            <a:ext cx="264795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950EE9-2003-4BA7-9E47-1320EC8F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381375"/>
            <a:ext cx="2505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Welche Pruefungsform?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5D1E6A-88E6-463D-A7CF-DF5FC7B0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19550"/>
            <a:ext cx="200025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99B527-9EA6-48EB-8821-1AE370D5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1857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Titel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8005EB-1292-45CA-A018-D37655D7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019550"/>
            <a:ext cx="336232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2BB521-DE4E-4F43-AA77-FE585066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957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Modultitel sind relativ stabil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E1FA02-FB22-4FC3-BFA9-D4591898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019550"/>
            <a:ext cx="264795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B9F506-2AF8-4EA0-B9F2-FE274641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095750"/>
            <a:ext cx="2505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Was ist Information Retrieval?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81D80F-7F68-43BE-91BD-8FE5885A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06089E-3915-43FC-9A7F-0BF75830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9AB252-80C0-4C0E-BC30-7E66D1F3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B94B70-918F-4DE3-B74A-7A6C3A15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4BFA52-BF4B-4DE0-94FF-D3E30934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E81786-D60B-4218-A077-58BB1B85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16 / 59</a:t>
            </a:r>
          </a:p>
        </p:txBody>
      </p:sp>
    </p:spTree>
    <p:extLst>
      <p:ext uri="{BB962C8B-B14F-4D97-AF65-F5344CB8AC3E}">
        <p14:creationId xmlns:p14="http://schemas.microsoft.com/office/powerpoint/2010/main" val="12740541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501BC3-52F8-423F-BDA9-1E4597A5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1A0D8-C141-41A9-A9CD-83CFC228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Dense ist die semantische Ergaenzung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33856e2f241c2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30EBAE-7B0B-47DF-A1B6-8595E752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Dense kann helfen, wenn die Frage andere Woerter verwendet als die Quelle.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AC81F9-A2B1-4A6A-8B18-C49473C1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26670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6DB20-B372-4F38-B48C-075B718E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Staerke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822A8C-C1D9-4330-BC9F-0EFEFA7F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190750"/>
            <a:ext cx="26670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B6C6B-250C-47B7-83A3-963BDAE8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Nutzen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485FDE-F08B-40ED-9F26-08ED10A7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190750"/>
            <a:ext cx="26670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021B0C-7B7E-4700-80D3-39924F5B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6695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Grenze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FFC619-8BC7-4003-BAC9-19C28B24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3341F3-A5A1-4A35-A16C-1BEB666A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Semantische Naehe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E9B95F-EA9E-42C4-A8ED-CA5B6DA7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5908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05F6F5-4480-4D22-8137-B6389EDB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670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Breitere Themen werden gefunden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8B1DEE-23E5-4D4D-A216-3B768281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5908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F92369-E914-4550-B1A3-30FF95C5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670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Bei Zahlen nicht praezise genug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D2768C-FA57-457F-82AF-B36F0638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4325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B11AE-2368-4335-9798-12AE8E3E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Mehrsprachige Formulierung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963C24-FBCA-4FD8-93DE-C4EDE590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14325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F7A5F-3396-4755-92B4-4F4A954A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Deutsch, Englisch und Tuerkisch koennen naeher zusammenruecken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6C37BA-6B49-45C7-872A-463F0DEF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14325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BCD8A1-A3C9-4257-8EC1-0174AD7B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1945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Modulcodes bleiben trotzdem wichtig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BD4FE4-6F36-4C58-B3DF-0D85E808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57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99EDA0-EAD7-4FB0-A88C-0B15B2B1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Exploration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0E1409-8AB9-4B87-93C7-289D4008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6957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12F058-734A-45C7-A31C-ECEBDC9C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719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Mehr passende Themen in Top-k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0B68BF-5B22-4943-8C60-963C264A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6957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0E9F1C-BADB-49D8-B90B-CD7F27CB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7719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Erster Treffer ist nicht immer die Antwort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351D75-E318-407F-A031-FED4AC3B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A82F30-9506-494E-B930-27FFF7B3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3B7C65-4806-4BCC-A0F6-2C8F5CE2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3CF1EC-84D2-4C1D-8B84-DAA912EA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B58335-852E-42EE-8720-B401E2D8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706274-F717-40A9-90A3-3DC23DF6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17 / 59</a:t>
            </a:r>
          </a:p>
        </p:txBody>
      </p:sp>
    </p:spTree>
    <p:extLst>
      <p:ext uri="{BB962C8B-B14F-4D97-AF65-F5344CB8AC3E}">
        <p14:creationId xmlns:p14="http://schemas.microsoft.com/office/powerpoint/2010/main" val="84173062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027CE8-ABD2-4BCA-913A-7E10D072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EA104-6B9C-4D91-9D65-CA98FBC0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Hybrid verbindet zwei Suchlogiken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501bcabd8455f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C84D59-7B0D-48B4-8953-9AE612E0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Hybrid kombiniert BM25 und Dense mit einem Alpha-Wert.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EADC9-2EC4-4745-9318-DF88093A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157162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967763-597C-4D42-9D74-68B69D45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Alpha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1426DF-6526-4F8D-8618-2CED189D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190750"/>
            <a:ext cx="34290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BA3C2-8748-4CA7-8E46-84006543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266950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Interpretation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07AA0-6293-4A82-B7A5-B5C08B0A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190750"/>
            <a:ext cx="300037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7A9B88-F4EC-4669-BAAB-8D1E04D9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266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Empfehlung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99231-93D6-4A80-A034-B0CDC231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157162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42AFEA-43D8-4BDC-94C2-4968CC66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142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0,00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1C4525-81E6-48F1-9AF1-89732EF1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590800"/>
            <a:ext cx="342900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7A9F58-8813-4DB3-930D-5E2F8AB5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667000"/>
            <a:ext cx="328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Fast nur BM25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8E2C6A-49BD-442F-A096-53EB33AA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90800"/>
            <a:ext cx="300037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6F2A-BC4A-400A-A087-87EB4FCB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667000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Exakte Feldfragen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550ABE-6A33-4056-B619-E004E279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305175"/>
            <a:ext cx="157162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E20E4C-4644-4679-9630-F569ACEF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81375"/>
            <a:ext cx="142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0,50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B3A697-2A00-41F1-8803-5D5C20DB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305175"/>
            <a:ext cx="342900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462F8E-F83C-4C8D-9E39-A5E1D081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381375"/>
            <a:ext cx="328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Gleichgewicht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B51350-D6C1-495D-910B-5071485B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05175"/>
            <a:ext cx="300037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3CD6EF-5E0A-48CB-9DF3-A71C61AB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3813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Guter Start fuer Inhaltsfragen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F84EE9-ED5B-4ECF-8B13-4B1A5B7F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19550"/>
            <a:ext cx="157162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E351C9-72B5-4C9B-8149-DFBD15D7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142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1,00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0F8645-A5A8-4D77-B91B-03128D81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019550"/>
            <a:ext cx="342900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338715-F58E-44EE-9710-F33F6784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095750"/>
            <a:ext cx="328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Fast nur Dense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7261B7-A340-4DE3-B361-3FEFF038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019550"/>
            <a:ext cx="300037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4C5F00-6317-42C8-B974-C9F667D5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095750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Exploration, nicht ECTS-Standard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8D70A7-91F3-4387-B1A8-719779BD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D05F8-B079-4C26-965F-FABF003D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BE8D94-FA78-466F-A660-A223E5AC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838468-074D-4CBC-81CF-CD46BBD1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CF8ACA-0CE1-4EA4-9B1A-B1BEC0A6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EB934C-11E3-4CB0-A45B-5046CA42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18 / 59</a:t>
            </a:r>
          </a:p>
        </p:txBody>
      </p:sp>
    </p:spTree>
    <p:extLst>
      <p:ext uri="{BB962C8B-B14F-4D97-AF65-F5344CB8AC3E}">
        <p14:creationId xmlns:p14="http://schemas.microsoft.com/office/powerpoint/2010/main" val="203917055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CC44D6-24E6-4FA1-9F31-5D12CC30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D3247-BD62-4B17-A126-4BFDD4A4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Abschnittsgewichtung macht Feldfragen robuster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45d20fbaf4d69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F9E5A-B3E4-42BD-934C-8E707E88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Bestimmte Fragen zielen auf typische Modulhandbuchabschnitte.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687DC-6FA3-4907-B7D7-0365C1A0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2E5DA5-6A54-4723-B095-45774D4E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ECTS-Fragen sollen ECTS-nahe Abschnitte bevorzugen.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1F4220-4F33-4961-9C19-E5023E1A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A4CEC-CD60-45EB-885D-0CD8C142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Pruefungsfragen sollen Pruefungsform und Modulteile bevorzugen.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38C02-D6CA-4E68-A968-EC814D1C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79F54F-CB99-41B2-8C96-18D319A9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Bei Bachelor-CL war ein hoher Wert fuer exakte Fragen besonders hilfreich.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CA9B8A-4493-4DEE-9AEE-B6BDE579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E3E3A9-6B6E-4C82-BDAB-051168D5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Bei breiten Themenfragen sollte der Boost vorsichtiger genutzt werden.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14F8D5-CD2A-4806-8657-FA861A22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4ED3F0-6AD1-4CF8-BBD5-7D41CCAF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3D7B0-7958-4FF7-9D55-337CF6F2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362F3-E4D6-4125-87FE-C903AC1C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7AC693-D0C3-4635-AED8-3E266460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932379-21E5-4682-AEFA-A58F4C7C3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19 / 59</a:t>
            </a:r>
          </a:p>
        </p:txBody>
      </p:sp>
    </p:spTree>
    <p:extLst>
      <p:ext uri="{BB962C8B-B14F-4D97-AF65-F5344CB8AC3E}">
        <p14:creationId xmlns:p14="http://schemas.microsoft.com/office/powerpoint/2010/main" val="47649092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65A67C-D232-443C-84EC-AFDF2079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19AE6-F142-4CD6-A71C-A3A698CC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Outline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8b94a2e5142cf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0151C9-AF66-4166-8B66-B93FD55C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24150"/>
            <a:ext cx="3619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70308-52F7-41EB-AF29-CC7EB118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2250"/>
            <a:ext cx="20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B611E-FA3A-4B23-BBB2-260EB235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Evaluation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65624-0A9C-462C-B533-94C2163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Wie wir die Ergebnisse realistisch messen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712231-00E5-4495-B56D-66B1AA6D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6F588-600F-422F-B912-FE42DFEB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6988A-0D84-4C04-B4C8-6D83E84D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61BD4B-C714-4479-A860-748AA47A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578F6B-AA66-4BEC-81AF-76E1D339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44D52F-5735-4C21-AA82-792A6763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20 / 59</a:t>
            </a:r>
          </a:p>
        </p:txBody>
      </p:sp>
    </p:spTree>
    <p:extLst>
      <p:ext uri="{BB962C8B-B14F-4D97-AF65-F5344CB8AC3E}">
        <p14:creationId xmlns:p14="http://schemas.microsoft.com/office/powerpoint/2010/main" val="1276564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FF3A08-BD43-4A34-86E7-9AAEBF4D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8C671C-B8A3-4199-852F-A0FF5B04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Wir evaluieren zuerst Quellen, nicht Sprachschoenheit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00276da1664041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B5B54-8B65-4D7E-A93A-0BC97CC3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Damit vermeiden wir, dass ein gut formulierter Satz eine falsche Quelle verdeckt.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39935-AF86-4C66-9AFF-C79DEE73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76EE5C-2B84-4296-89DA-7D7A72CC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Goldstandard: Welche Modul- oder Abschnittsstelle soll gefunden werden?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85BBD-6907-4AB3-B01F-1EA27D77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0A68D-D7CC-4721-9D62-8DF00F8E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Hit@1: Ist der erste Treffer richtig?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044E4-059F-4949-AD08-16EBCF1A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7EE27-EFEF-4763-B763-EA070218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Recall@3: Ist die richtige Quelle in den ersten drei Treffern?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B8FA0-9539-4CC3-9E11-68D2EC23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FB8735-2B7E-4482-94B4-7B5BF2CE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MRR und nDCG@3 bewerten die Rangordnung.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7EBB5B-A1E9-44BC-AB11-A0E11336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0FAAAF-79C6-4C07-9330-D7125221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157392-152A-4C79-A18F-4C878514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F150D6-76ED-4E04-81CC-007F3EB9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9E12D0-FA35-499D-9845-C9385D75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0AECB-DFC6-44C2-B347-BB3C524E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21 / 59</a:t>
            </a:r>
          </a:p>
        </p:txBody>
      </p:sp>
    </p:spTree>
    <p:extLst>
      <p:ext uri="{BB962C8B-B14F-4D97-AF65-F5344CB8AC3E}">
        <p14:creationId xmlns:p14="http://schemas.microsoft.com/office/powerpoint/2010/main" val="7260036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3739F4-DA07-497E-9D06-5456A78E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FE421-E1C3-4C8B-9746-F838420C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Fragetypen decken typische Nutzung ab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0474ebc58c4b1f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D576EE-D711-4586-8E78-741240D0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Wir testen nicht nur ECTS, sondern mehrere realistische Suchabsichten.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B22D20-74D8-4422-8ED4-B171BBCC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15049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06786C-0A71-4F89-A7D1-2CBA4E92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Fragetyp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5AC35-5D68-49BA-9617-7FDF4761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90750"/>
            <a:ext cx="307657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0F1F3-94BF-4461-89D7-D1E10E9D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26695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Beispiel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D4651-46A1-471F-B5B1-0A1EFC70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2190750"/>
            <a:ext cx="34290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6B2E4-35A7-49DF-B9E4-189B99EC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66950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Was schwierig 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93AFA5-016D-4458-A12A-79D80534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15049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2F26BB-7392-4F64-9E0A-B3AB7399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1362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numerisch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F1BD8-0EE8-433C-9ED2-419D6790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90800"/>
            <a:ext cx="3076575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B0A919-7BF4-48B4-9C59-36903A2A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66700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Wie viele ECTS hat WP3?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78879C-5413-4CBF-970E-9102FC07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2590800"/>
            <a:ext cx="3429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E298B2-A2F6-4715-8703-FE6C7DF7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6700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Die genaue Zeile muss gefunden werden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D51525-279E-4386-A54E-5510EAA3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43250"/>
            <a:ext cx="15049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4E2D6E-B2E4-47EC-A29B-8916B9D4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1362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faktisch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427266-731E-4221-915B-EBEE9561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43250"/>
            <a:ext cx="3076575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DB2797-CEAE-4ACC-AD6A-2698E377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2194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Welche Pruefungsform hat das Modul?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81CAB8-C9DC-45F4-B2CD-BB7DB41C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143250"/>
            <a:ext cx="3429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7BD2F1-CABC-4B82-A9E0-BB8CDA7D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1945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Feldname und Modul muessen passen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80C98C-3D3A-4A33-8CDB-07B7A4F5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5700"/>
            <a:ext cx="15049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487EE4-A6CA-4EF8-8835-CAC00295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1362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Semester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152BED-E25C-4A83-9D8F-3D01D26E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95700"/>
            <a:ext cx="3076575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5A8034-EC9C-477D-B543-D0480A99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77190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In welchem Semester wird es empfohlen?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8302DD-9C91-48EF-8F5E-98100C7E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695700"/>
            <a:ext cx="3429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21DD2B-62C6-4C49-8C39-7A6A7220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7190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Empfehlung steht oft in Tabellen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D74A15-506F-45F6-B2EE-28D46280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15049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FE5A77-075A-4FD7-96E3-FEC4F393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24350"/>
            <a:ext cx="1362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inhaltlich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C4A438-2D42-4160-972B-0D5844DB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48150"/>
            <a:ext cx="3076575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6AB840-040E-47D3-B8F1-7E7A213D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3243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Welche Inhalte behandelt P11?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CF5B5A-CA24-4AAF-9FEB-10025C34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4248150"/>
            <a:ext cx="3429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32EC7C-474F-4A76-8914-C6658E42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2435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Formulierungen koennen variieren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1CEC57-AB76-438E-BB54-4BA5B934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800600"/>
            <a:ext cx="15049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76CBC9-4E99-4EB1-9690-C7DA034C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1362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breites Thema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CD319F-9353-4D2E-AE6D-2EEEEFEB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00600"/>
            <a:ext cx="3076575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676F45-9BB5-46F7-9F3A-F2ECAE55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7680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Welche Module passen zu IR?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B60179-1BF2-4114-BFEE-ED045631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4800600"/>
            <a:ext cx="3429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76C61F-07EB-455F-9617-E117F6D0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7680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Mehrere relevante Treffer moeglich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F5ED39-CCB6-40A8-AE43-5B55D824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05B532-3FB4-4330-BEB5-D1909919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18913C-DE18-4C1C-ABD4-07CB2CCF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EA9A64-A42E-41E6-8AEE-3FB929E7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5B7F6E-BFE7-494D-9D94-011F5818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407F283-4D9D-44AA-B595-68A1E8E6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22 / 59</a:t>
            </a:r>
          </a:p>
        </p:txBody>
      </p:sp>
    </p:spTree>
    <p:extLst>
      <p:ext uri="{BB962C8B-B14F-4D97-AF65-F5344CB8AC3E}">
        <p14:creationId xmlns:p14="http://schemas.microsoft.com/office/powerpoint/2010/main" val="166905569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47195C-5484-4ECF-B248-1A3BE7D2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C10521-9534-4276-B9A7-8FF314B8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Mehrsprachig testen wir kontrolliert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c1fa9925942fb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00ED7-8107-4F04-952F-CB390FB6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Deutsch, Englisch und Tuerkisch bleiben im Projekt; Amharisch nehmen wir fuer diese Phase heraus.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462D7-1BD9-4446-887F-62D7667D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F283D4-AE5B-4C4D-834D-C9AF2440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Deutsch ist die Referenz, weil die Dokumente deutsch sind.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92301-4D3F-4AC6-8B9C-7FC7C41D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371BE4-1B3A-483C-B15C-DCD0722F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Englisch ist relevant, weil Fachbegriffe oft englisch sind.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B3D5C5-929B-432D-96C5-567FDEEE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9A687-79FF-4CB4-AA38-F84C0DC9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Tuerkisch prueft, ob die Suche trotz anderer Formulierung funktioniert.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E13B92-5223-4ECC-AA37-49EC4C34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E0ABF1-4D3D-4B73-9AFD-61285780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Bewertet wird, ob dieselbe Quelle gefunden wird.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5DD905-248E-4F82-B8D9-7026CA68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0EFBEF-EABF-4923-A037-497C182C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4FACF-5775-497F-B0C4-8E344E0D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2F52E-CAF2-407F-BEFF-F99ACDD6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2CDFCB-DD28-4A49-859A-2968A611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A44862-0344-4D4A-8C7C-DB609D5C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23 / 59</a:t>
            </a:r>
          </a:p>
        </p:txBody>
      </p:sp>
    </p:spTree>
    <p:extLst>
      <p:ext uri="{BB962C8B-B14F-4D97-AF65-F5344CB8AC3E}">
        <p14:creationId xmlns:p14="http://schemas.microsoft.com/office/powerpoint/2010/main" val="187986641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6F048D-493A-4745-A543-29D18E10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C716A-5031-4B4E-AF67-231A1A4A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Outline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8ca278eec411c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B5680-5FE5-435D-996B-873FE532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24150"/>
            <a:ext cx="3619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3FB24C-A88C-451D-84A0-599719FA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2250"/>
            <a:ext cx="20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0757D-5884-4F27-9EC7-E4152784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Ergebnisse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E3DD7-26EA-4FA2-B2D8-5FE4FA95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Was die drei Korpora und Fragetypen zeigen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2F2C42-00EF-4EB2-BFB2-D7429B9A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98A6E-6AB7-4B7F-955C-B24BC7BB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86C683-9626-4C4E-AAAE-E356EAE3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F94BF1-6AD9-424B-84A8-BEE2146F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115D01-1B9E-46EC-B296-B3ADCFE7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A753D-F3BD-4FD3-B2F7-927F4E84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24 / 59</a:t>
            </a:r>
          </a:p>
        </p:txBody>
      </p:sp>
    </p:spTree>
    <p:extLst>
      <p:ext uri="{BB962C8B-B14F-4D97-AF65-F5344CB8AC3E}">
        <p14:creationId xmlns:p14="http://schemas.microsoft.com/office/powerpoint/2010/main" val="71772043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C282F1-609F-419A-A153-2495D679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039567-E337-4D9F-A560-CB5DF28E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Bachelor-CL zeigt den klarsten BM25-Vorteil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13230edc6741e3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9C9FF-A944-4A1D-A7F7-5667D42A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28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Mit field-orientierten Chunks erreicht BM25 besonders starke Werte fuer genaue Fragen.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4DAA30-CB03-4C69-961C-094A4EF6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7143750" cy="3095625"/>
          </a:xfrm>
          <a:prstGeom xmlns:a="http://schemas.openxmlformats.org/drawingml/2006/main" prst="roundRect">
            <a:avLst>
              <a:gd name="adj" fmla="val 3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962025" y="2619375"/>
          <a:ext xmlns:a="http://schemas.openxmlformats.org/drawingml/2006/main" cx="6610350" cy="2524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eb3740b08d4675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77781-54CF-440C-AB48-16C9FAA1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2A9C9D-B660-451E-B1E8-C22FF122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2D665-3C40-49D4-9BFA-BBEE8BDB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BF4B43-0841-4442-A6D0-85F31453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D54B2-3C89-4906-995F-5CF4D961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548A3-D80B-485D-86B2-7A1681FE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25 / 59</a:t>
            </a:r>
          </a:p>
        </p:txBody>
      </p:sp>
    </p:spTree>
    <p:extLst>
      <p:ext uri="{BB962C8B-B14F-4D97-AF65-F5344CB8AC3E}">
        <p14:creationId xmlns:p14="http://schemas.microsoft.com/office/powerpoint/2010/main" val="24406365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C3085D-90DD-49FF-A40C-03494187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85F24-8E3B-47D5-8BD8-D7C2ECE8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Im Bachelor sind exakte Fragen fast ideal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22a0b2bac4c1e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B7031-F55E-4AEF-84B5-D8D44A90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Die Daten bestaetigen die erwartete Staerke der feldnahen Suche.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9542D-E717-459B-BBAE-6A82112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589D71-7449-4D0A-8D95-79DA320D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Faktische, numerische und Semesterfragen erreichen Hit@1 = 1,000.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E8B44-F1A1-4321-A62D-72716A24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0227DD-A4B4-46AB-A1F8-F3AA176E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Content und broad-topic liegen niedriger, weil dort mehrere Formulierungen moeglich sind.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0FF271-C174-4FC7-9197-F865B75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5BE108-C1BC-4CEA-B566-738CAE12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Hybrid verbessert vor allem die Chance, relevante Inhalte in Top-k zu sehen.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8CDC7-DF9C-4AE3-958D-DA84C036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F865A4-A858-47FA-A6B4-7158F3E3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Empfehlung fuer Demo: BM25, top-k 3, Abschnittsgewichtung 8.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94782A-A0C0-4CCC-94C6-DE70F3AB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A0368-22F6-4111-9996-4584B879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52A737-D441-40DA-8C3E-06EF8D97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D25E8D-3B93-4340-AF54-ECF34D7A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EF453A-8EF5-4733-9F55-2523CCEF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BF31F-2BB1-485B-9341-F9CBF906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26 / 59</a:t>
            </a:r>
          </a:p>
        </p:txBody>
      </p:sp>
    </p:spTree>
    <p:extLst>
      <p:ext uri="{BB962C8B-B14F-4D97-AF65-F5344CB8AC3E}">
        <p14:creationId xmlns:p14="http://schemas.microsoft.com/office/powerpoint/2010/main" val="171512768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67D119-1D0B-47CD-9D0B-30435705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FF4C00-9932-423D-B5B7-CCBE7D81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Master-CL ist heterogener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2554e5068a4435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5506A-AF75-4BFC-9DFC-40E20CCD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28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Hier ist BM25 fuer numerische Fragen stark, aber Top-k wird wichtiger.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60507D-86D6-43FD-A2DD-A679F6D1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7143750" cy="3095625"/>
          </a:xfrm>
          <a:prstGeom xmlns:a="http://schemas.openxmlformats.org/drawingml/2006/main" prst="roundRect">
            <a:avLst>
              <a:gd name="adj" fmla="val 3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962025" y="2619375"/>
          <a:ext xmlns:a="http://schemas.openxmlformats.org/drawingml/2006/main" cx="6610350" cy="2524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478b96ebce4f4f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E2EF3-2384-4E82-8E2C-D847731B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AED700-7560-4DEF-A83E-0024873B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4AD919-E888-4E88-A586-8EF3BAA6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16244C-9DFD-4070-9464-0C4CE201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85106-BB1C-48DE-A1B5-2D4BED40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FBFA4D-3F33-493E-88BC-C3FB44F0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27 / 59</a:t>
            </a:r>
          </a:p>
        </p:txBody>
      </p:sp>
    </p:spTree>
    <p:extLst>
      <p:ext uri="{BB962C8B-B14F-4D97-AF65-F5344CB8AC3E}">
        <p14:creationId xmlns:p14="http://schemas.microsoft.com/office/powerpoint/2010/main" val="61713039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5E2373-EF75-4ACD-8857-131E6999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B95AB2-9EF5-40CB-83D4-4D61D7FD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Im Master-CL zaehlt die Interpretation der Treffer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e3d073ef64a37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9781F9-B649-4C4C-9328-EFE89212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Die Methode muss hier vorsichtiger eingesetzt werden als im Bachelor.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C014DD-877D-435C-81A6-B5D3BCBE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67067-7499-4539-A062-4AA45937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Numerische Fragen bleiben mit BM25 sehr gut loesbar.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2EBEC0-A3CD-4D07-B54F-77B73A1A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53D66-B4E7-42CE-9A31-AF277595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Faktische und inhaltliche Fragen brauchen haeufig die Top-3-Quellen.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7303DE-1277-4647-90D7-113E9B0B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20A335-0389-4FD9-9CA3-21AAA546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Dense allein ist als Standard zu schwach.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9316C3-B069-4D27-8CBB-2AF1CCEA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FFE218-B9C7-4173-BE4E-404C4570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Hybrid ist als Erkundung sinnvoll, wenn BM25 zu eng wird.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E026B8-84E2-43E4-BDDD-EA3DDE20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C321A0-1443-42DA-94FE-B80C9E48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32F2A0-BA5D-4442-90B0-AE8A364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28A36-FF9E-4706-ADEC-BB637A59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0B8B3-48F3-4265-B9A1-E20853F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1821AF-EEE0-45F6-B064-88EB73EC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28 / 59</a:t>
            </a:r>
          </a:p>
        </p:txBody>
      </p:sp>
    </p:spTree>
    <p:extLst>
      <p:ext uri="{BB962C8B-B14F-4D97-AF65-F5344CB8AC3E}">
        <p14:creationId xmlns:p14="http://schemas.microsoft.com/office/powerpoint/2010/main" val="73248968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7874CA-CA8E-4923-AF85-C8774888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1450A-36A5-41C6-99E8-F0662706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Master Informatik ist insgesamt sehr stabil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d7c655f8504334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E9000-1093-48C4-AB97-56E59689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28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BM25 erreicht im Informatik-Korpus den besten Gesamteindruck.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972C95-3244-463C-9038-CEB2D7DF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7143750" cy="3095625"/>
          </a:xfrm>
          <a:prstGeom xmlns:a="http://schemas.openxmlformats.org/drawingml/2006/main" prst="roundRect">
            <a:avLst>
              <a:gd name="adj" fmla="val 3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F"/>
            </a:solidFill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962025" y="2619375"/>
          <a:ext xmlns:a="http://schemas.openxmlformats.org/drawingml/2006/main" cx="6610350" cy="2524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351bbb699845c9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C4FA9-0E2D-4FD6-A85F-EAE8FE4F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A36FD-6BA7-4872-9297-DEEB5C3A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887A8-6E26-483E-A670-5124149E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4C4FA7-16FA-4462-A1B0-D0C050E2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2B3372-AED0-4D5C-9FF9-38B50B2C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737D23-9842-4C4C-B97B-4D1D1CD6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29 / 59</a:t>
            </a:r>
          </a:p>
        </p:txBody>
      </p:sp>
    </p:spTree>
    <p:extLst>
      <p:ext uri="{BB962C8B-B14F-4D97-AF65-F5344CB8AC3E}">
        <p14:creationId xmlns:p14="http://schemas.microsoft.com/office/powerpoint/2010/main" val="104857763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90D6EB-B237-4BA0-AA35-DB563278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C9D66-28F6-464F-AA18-BB8D39C2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Gesamtauswertung hat eine klare Regel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32c67a23648a0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EFC34-883E-42A0-9558-B711349C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Die beste Einstellung folgt dem Fragetyp, nicht dem Bauchgefuehl.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5E7370-FB59-43DD-9532-A4629BDA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1714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496F0-4B55-4102-8A62-0E11BDB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Fragetyp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565E23-55A4-4F5B-86DA-BB273967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190750"/>
            <a:ext cx="25717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10E48-6B57-491B-8C4E-D2E36B19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26695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Bester Start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2B362-4555-41AE-8D9C-0A8AE18D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190750"/>
            <a:ext cx="37147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E394A-295D-4B0E-B3E3-5CDD9416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3571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Begruendung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39F39D-22CC-46A7-82B3-33F87FE9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171450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F36FAB-3A99-4D47-9B13-9862EE66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ECTS / Zahlen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7377B2-A25F-467A-94CD-9685B588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590800"/>
            <a:ext cx="2571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7804BB-E76C-4683-BD1A-20F4B40D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6700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BM25 + field chunks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FC0DF1-4822-48E4-9AF7-AC8051ED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590800"/>
            <a:ext cx="3714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D61FC5-15E5-420B-B1AB-290F3E58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667000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Zahlen stehen in klaren Feldern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41C889-3C2B-451A-A42C-6094D87F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05150"/>
            <a:ext cx="171450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6DEAC9-D78C-49FA-9C9E-19A02DDA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81350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Modulcode / Fakt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AA8E2D-617E-4D00-86F5-5EA7F9CC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105150"/>
            <a:ext cx="2571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F15A81-B0D9-4C01-92A2-F1172264F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135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BM25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039A0F-4E5F-4B47-9CC7-08032BCA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105150"/>
            <a:ext cx="3714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63623D-4818-4B81-BB71-0634312A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81350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Begriffe sind direkt im 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8FFB4-69FA-40C8-AE9C-AF7FB143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19500"/>
            <a:ext cx="171450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7DC0F1-EFDE-4C83-9486-5D28CAF3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Inhalte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9120BA-250D-451C-9E2F-81486D4F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619500"/>
            <a:ext cx="2571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155CE-C80F-4306-8FDF-C947307C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9570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Hybrid 0,5 oder BM25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ED1E64-678C-44E8-ABD3-A0B15A62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619500"/>
            <a:ext cx="3714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3CAF50-7F0A-47B1-A0F5-1F0933BF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95700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Formulierung kann variieren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34021A-B6DF-48A1-8AE5-E574BAD3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133850"/>
            <a:ext cx="171450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751D1A-2462-46EF-944A-B4736966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breites Thema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218FC6-8FDB-4147-98ED-FC45B04D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133850"/>
            <a:ext cx="2571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6657A0-79FA-49B9-8B6D-FDDF44C6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1005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Dense oder Hybrid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55D471-D8F7-4F59-8B04-C7FE6C19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33850"/>
            <a:ext cx="3714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564AA5-9BAA-4A85-9B7C-3CB4DE7B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10050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Semantische Naehe wichtiger als Wortgleichheit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19E0BF-79E3-4F85-B83A-30648B4B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48200"/>
            <a:ext cx="171450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CF6A6C-C039-402F-91EF-EECC08CC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1571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kombiniert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FF1FE7D-B62B-415B-B010-EBEC2FE1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648200"/>
            <a:ext cx="2571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1F8F38-6E48-45E3-A7A5-58A3106D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2440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module-level plus Top-k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AA5BF7-04CA-4375-B012-568C89EC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648200"/>
            <a:ext cx="3714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8F7243-5483-4B07-B043-01E93B49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724400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Mehrere Felder muessen zusammenkommen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AC4EEFD-D2C3-4C7A-9E21-9A396061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E96065-4B94-4162-A992-2388810A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0C0543-6AD8-4CAB-A037-AC5D9C9B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8191A4-FD42-4471-A04D-B271A574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4B3631-8690-4E02-B63E-B32D77DB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0F5156-CDC7-4272-BD5B-193EE775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30 / 59</a:t>
            </a:r>
          </a:p>
        </p:txBody>
      </p:sp>
    </p:spTree>
    <p:extLst>
      <p:ext uri="{BB962C8B-B14F-4D97-AF65-F5344CB8AC3E}">
        <p14:creationId xmlns:p14="http://schemas.microsoft.com/office/powerpoint/2010/main" val="61572003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5BFE13-6B12-45DA-B96F-BE85C8E0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A9480-2BA7-4D7C-87D2-3F21B4A2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Outline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fe7b8c25c49bf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9F9A5-BDCA-4C81-B4A6-A4B34D7A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24150"/>
            <a:ext cx="3619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53D65-6B49-442E-BB80-2B9D021D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2250"/>
            <a:ext cx="20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8EACC-3C69-48EB-AB3E-02EB784A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Beispiele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A2FEE-E1AE-43A1-B62A-03DBFC64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Wie die Ergebnisse in echten Fragen aussehen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7D251E-E1EF-4A59-8E95-042D36BE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40503B-6EC7-462D-861A-2243FD98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4447DC-8A2B-4182-B718-6D9AD0DF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72BD97-E0F9-4A6B-B18B-46AA0AF0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C4BBCE-C7D6-4797-ACB4-1D3A3F3F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C50D41-F266-4F14-A773-9B59469F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31 / 59</a:t>
            </a:r>
          </a:p>
        </p:txBody>
      </p:sp>
    </p:spTree>
    <p:extLst>
      <p:ext uri="{BB962C8B-B14F-4D97-AF65-F5344CB8AC3E}">
        <p14:creationId xmlns:p14="http://schemas.microsoft.com/office/powerpoint/2010/main" val="81830280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EA3D75-453B-459E-B7F6-A5DCE787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8E16CB-C307-432C-AE71-18EA0696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WP3 Information Retrieval ist der Demo-Fall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63fa752f5940bc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0B3A0C-DD4F-4363-8205-99D0CB82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Die Frage nach ECTS zeigt, warum BM25 und field chunks zusammenpassen.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F0F87-1477-4ED8-9389-E78505ED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165F1A-74CD-4848-A4A5-3D623D0F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Frage: Wie viele ECTS hat WP3 Information Retrieval?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F7D969-90A3-4816-AD8F-319937F1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4F790-4533-4A13-B657-23D11773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Richtige Antwort: 9 ECTS.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AC40B0-74DB-46E0-B130-885C50BD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17D767-919C-4B62-A501-D741EBF4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Richtige Quelle: WP3 | Information Retrieval | zugeordnete Modulteile.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DF1B98-2C9D-4458-B7F3-199F8F59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0F2E1-D2DB-48B2-ADFE-D4D1D9C2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Dense kann hier Header finden; BM25 findet die konkrete Stelle stabiler.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B44454-6974-49AB-9946-B76C18AB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832A63-A612-4F46-AB74-1D04481C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83435B-0F36-4FBA-87D2-C6C6D4F2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6C3396-20C7-46C4-8427-0BF2AA4A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840EB-86ED-4C1B-BCB5-5E80CAAE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995E65-587C-47E7-9C8C-ADF04B24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32 / 59</a:t>
            </a:r>
          </a:p>
        </p:txBody>
      </p:sp>
    </p:spTree>
    <p:extLst>
      <p:ext uri="{BB962C8B-B14F-4D97-AF65-F5344CB8AC3E}">
        <p14:creationId xmlns:p14="http://schemas.microsoft.com/office/powerpoint/2010/main" val="182169803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301519-5DAD-4684-90A9-7BF2B2D7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7122D0-B8C1-478F-B9F4-83588501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Vertiefung im Master zeigt den alten guten Stand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eecfc89e842bb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F9CA1-4F33-4A9B-B811-963B9743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Die gute fruehere Suche war reproduzierbar, wenn die Einstellung passt.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989A03-596D-4A37-A42A-1EB4300F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EE3078-B05B-4BC6-830C-D3A7409D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Frage: Wie viele ECTS hat Vertiefung?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65DF5-A515-4E7F-B8EA-7C395CFC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FD7A7-492B-4BB6-A559-DE59B805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Starker Treffer: P2 | Vertiefung Grundlagen der Computerlinguistik.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52A9DD-0071-4F0A-ACB6-D6FD76F7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6AF08F-72A9-4EB2-8488-F3AA8E7F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Antwort: Insgesamt 6 ECTS-Punkte.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969B6-9560-4A6B-88A7-48698D45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C72FD-FD8C-4373-94E0-FA48B84D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Entscheidend war BM25 statt Dense als exakte Suche.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F551B-5D03-40DB-A19D-A74BD606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53B226-65EA-4F8B-8F17-F2540F12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9C1DD3-1814-4652-8702-530D843D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2C5AA5-B005-49C9-A9B7-770BBB58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897475-0F04-4762-8D12-544283E6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274C3B-338D-4BD9-905C-AF3842B9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33 / 59</a:t>
            </a:r>
          </a:p>
        </p:txBody>
      </p:sp>
    </p:spTree>
    <p:extLst>
      <p:ext uri="{BB962C8B-B14F-4D97-AF65-F5344CB8AC3E}">
        <p14:creationId xmlns:p14="http://schemas.microsoft.com/office/powerpoint/2010/main" val="207214830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FAD14F-C0B3-4205-B479-5571D0358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D6F9C2-22E2-43E8-BBD8-1DD5FB18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Inhaltsfragen brauchen mehr Kontext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3d100ff604d6e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FAF83-0F6C-4233-A1B6-DFF3372B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Bei Fragen nach Inhalten ist der erste Treffer nicht immer genug.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56E47F-677E-4159-9200-1715F621E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B41F1-680A-4E98-ADD9-19D23E5D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Beispiel: Welche Inhalte behandelt P11?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76E41-4996-4633-B661-F454015F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CE975-A62E-42F9-84D5-CF2B6D26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BM25 findet oft den passenden Modulkontext.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AE0A62-50CC-4156-894F-91922FAD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426C72-7745-4D9F-A3E3-3120B3BE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Hybrid kann bei freierer Formulierung zusaetzliche relevante Treffer zeigen.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9D7E58-C9F5-46C5-BB0E-44CD08A0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EE3BC-99C1-4208-9678-5545C25D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Top-k 3 oder 5 ist hier sinnvoller als Top-k 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0E9944-98E8-421F-A5DC-39A33CA7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3FE689-686D-4E7E-90CB-12AC7BAA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05C462-4034-41E9-AC94-7061B7D7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2F9F25-D3FC-4BF4-9BCD-8626BD6D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9C496C-539B-436F-8FB6-7D88F3D9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F2F5F7-4831-4803-A929-29490F90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34 / 59</a:t>
            </a:r>
          </a:p>
        </p:txBody>
      </p:sp>
    </p:spTree>
    <p:extLst>
      <p:ext uri="{BB962C8B-B14F-4D97-AF65-F5344CB8AC3E}">
        <p14:creationId xmlns:p14="http://schemas.microsoft.com/office/powerpoint/2010/main" val="206669666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4EB1C1-4DAE-4D19-BBFC-15E062C5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CE6B94-09D9-487E-BF09-1801C70F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Breite Themenfragen sind explorativ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0ac05448a74d32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3DF13-C690-4672-823D-AD078331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Eine breite Frage hat oft mehrere gute Antworten.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C1FC4-67D8-4293-99BD-3D1F278E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75978-03AF-4D16-803F-5550D511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Beispiel: Welche Module passen zu Information Retrieval?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0D8AD4-E70A-4719-877B-0FDF7384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2997FD-0F40-4F81-9519-5A1AF64D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Dense oder Hybrid kann semantische Naehe besser abbilden.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97505-966B-4877-8362-37DF2322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2F82F9-616F-44EF-BDAD-A8255092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UI sollte mehrere Quellen zeigen.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13BC8-61AA-4E9C-A698-6048D9F6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660D1-00AF-40CE-8EC0-7AC597E8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Antwort sollte nicht so tun, als gaebe es nur ein einziges Modul.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51EE66-906C-456A-8263-7E1B0171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8067F-74F3-41C0-B491-A49D1494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2DFF1B-9B8B-4194-8D48-1BE0344A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5FFC55-4D99-423D-A1E6-F5019DCF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D6D153-87D8-46FC-92B9-6F32DD60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6478B5-B517-4AFF-9A78-76585F10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35 / 59</a:t>
            </a:r>
          </a:p>
        </p:txBody>
      </p:sp>
    </p:spTree>
    <p:extLst>
      <p:ext uri="{BB962C8B-B14F-4D97-AF65-F5344CB8AC3E}">
        <p14:creationId xmlns:p14="http://schemas.microsoft.com/office/powerpoint/2010/main" val="40259102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60B9A5-F3A7-44C2-BD1B-140F3041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07BCA-621B-4FE3-87AB-A33C638D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UI macht die Suchstrategie sichtbar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fa8ede2d94390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FAEB8-DCD4-4708-9DF9-28F92F10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28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Die Nutzerin sieht nicht nur eine Antwort, sondern auch Korpus, Retrieval-Methode, Trefferzahl und Quellen.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9292DA-A734-489F-8DD4-1CB7DB96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190750"/>
            <a:ext cx="542925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0904ed0a2045cb"/>
          <a:stretch xmlns:a="http://schemas.openxmlformats.org/drawingml/2006/main"/>
        </p:blipFill>
        <p:spPr>
          <a:xfrm xmlns:a="http://schemas.openxmlformats.org/drawingml/2006/main">
            <a:off x="571500" y="2731124"/>
            <a:ext cx="5219700" cy="263400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470550-CCF2-4BEA-B646-7D9E72FB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333625"/>
            <a:ext cx="2219325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7FBFF"/>
          </a:solidFill>
          <a:ln xmlns:a="http://schemas.openxmlformats.org/drawingml/2006/main" w="9525">
            <a:solidFill>
              <a:srgbClr val="C7D8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E3BE72-DF40-4FB6-97CC-DF700370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185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7A4D"/>
                </a:solidFill>
              </a:defRPr>
            </a:pPr>
            <a:r>
              <a:rPr sz="1575" b="1">
                <a:solidFill>
                  <a:srgbClr val="1F7A4D"/>
                </a:solidFill>
              </a:rPr>
              <a:t>Wichtig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0C1097-6DD7-4907-AC55-D2433EE0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52750"/>
            <a:ext cx="1790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Dense ist sichtbar, aber nicht der Standard fuer exakte ECTS-Fragen.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435C48-0E14-43B3-AF43-B41D2549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667125"/>
            <a:ext cx="2219325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9525">
            <a:solidFill>
              <a:srgbClr val="F1C8B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AF099C-90B5-43EE-B5F4-9DA429EE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185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26D3D"/>
                </a:solidFill>
              </a:defRPr>
            </a:pPr>
            <a:r>
              <a:rPr sz="1575" b="1">
                <a:solidFill>
                  <a:srgbClr val="E26D3D"/>
                </a:solidFill>
              </a:rPr>
              <a:t>Demo-Regel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5D2231-8412-4EF5-BDD3-C253F8E3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86250"/>
            <a:ext cx="1790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Fuer genaue Studieninfos: BM25, top-k 3, Abschnittsgewichtung 8.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B0F5FD-743F-4183-B47C-06130DDA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079248-4E2C-4566-B32B-1A5161B7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B8A80D-D7EA-4A83-8FB3-A0B05D36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E27EC1-6AFE-40B7-B000-1E42A9DD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7FABB2-E0CB-499F-95CE-7E2C9CB1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314CC8-DC5A-4286-AB2E-AEBE52D9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36 / 59</a:t>
            </a:r>
          </a:p>
        </p:txBody>
      </p:sp>
    </p:spTree>
    <p:extLst>
      <p:ext uri="{BB962C8B-B14F-4D97-AF65-F5344CB8AC3E}">
        <p14:creationId xmlns:p14="http://schemas.microsoft.com/office/powerpoint/2010/main" val="28235903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F2027B-A536-47E1-8D0F-C5E212F9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FE0F7-F5B9-4EB6-A48E-9445EC65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Outline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0e0b15871f4dea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902798-9585-4319-AB25-BEAB1CA1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24150"/>
            <a:ext cx="3619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CD094-B796-46A4-84FE-ED932FB7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2250"/>
            <a:ext cx="20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53C0D2-E5A8-400E-BBD5-8E6C6455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Benutzeroberflaeche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57A9A1-6B2D-434E-86D0-E01CD20B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Welche Einstellungen wir Nutzern empfehlen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2C557-01EF-4437-85E9-5F43C6A3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BDD343-60B5-4EE2-8EE1-9EE8EFF0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62AEB6-2327-4942-9063-5605010A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85D908-8B68-4E42-85B7-8FEA90C3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8DB036-920E-4EDC-83AA-B703FBA2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C3E6E4-70AD-4CC8-A841-86157690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37 / 59</a:t>
            </a:r>
          </a:p>
        </p:txBody>
      </p:sp>
    </p:spTree>
    <p:extLst>
      <p:ext uri="{BB962C8B-B14F-4D97-AF65-F5344CB8AC3E}">
        <p14:creationId xmlns:p14="http://schemas.microsoft.com/office/powerpoint/2010/main" val="118584896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F1AE7D-B6CF-44C9-BD46-A44A9469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0CC1B2-FA81-486A-ACA4-D67EB04D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UI-Einstellungen sind Teil der Methode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ddf9625880423d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78A8AD-BF97-4597-B820-5404DDE6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Die Oberflaeche ist kein Beiwerk, sondern macht Retrieval-Entscheidungen pruefbar.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9FF4D-85B0-446F-8833-C39908EF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185737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D0A0C0-3B19-4DEE-9812-CBAECD00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Einstellung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EDF80-D8C4-4D14-B454-765AC77C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90750"/>
            <a:ext cx="307657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1C9E08-7004-4DA4-8940-7014E9D8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6695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Bedeutung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A0148-D103-4D89-A68C-E4D30B40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307657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03B63F-8276-4D0F-BEE6-E2D6E53B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6695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Empfehlung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270D24-5639-4721-9105-8288EACF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18573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D10C6D-47D2-48BA-99BD-0315A5CC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Korpus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65AF69-8617-428C-94C3-3D88A223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59080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083C4B-0D35-4A2C-ABBC-676D4E7D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6670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Welche Dokumentensammlung durchsucht wird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A50E2D-FFFB-4F46-975D-C22B20B6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9080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546825-4A8E-46F0-9EE1-60AF2C18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670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Immer passend zum Studiengang waehlen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E456DE-EF94-4D59-B129-080DDBAC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05150"/>
            <a:ext cx="18573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AD57C7-6511-4CDB-8662-96FAB92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813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Retrieval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E00F7E-5193-43A2-AA6F-80939422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0515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065CA3-AAC2-4EDD-9F04-0B304393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1813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BM25, Dense oder Hybrid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DB11D9-83FC-47E9-BE62-095E48A6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0515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952576-6CCA-4D9A-A840-2DB93F19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1813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Nach Fragetyp entscheiden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3BACD3-91FA-4A8B-B4A8-4B82F674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19500"/>
            <a:ext cx="18573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CCB1C9-D0A8-4A9E-BC22-B83D7777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Trefferanzahl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313745-A02F-4C8F-8FD3-01D48046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61950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5E7160-3D42-4ADC-BEA5-8D8D2A2E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6957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Wie viele Quellen erscheinen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0F2696-CA79-4965-9CFE-AC9AAAF4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23CB06-840C-4149-9B46-5706F19F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957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3 als Standard, 5 fuer Exploration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6CC776-04C8-411D-A74E-4C41E3E7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133850"/>
            <a:ext cx="18573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DAD2E7-DD0C-4778-98A7-A580C24B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Hybrid-Gewichtung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53DC86-5D0F-4441-A08F-3E0A680D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3385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2D44D2-2FAD-47F2-8B63-4AA666AE4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2100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BM25-Dense-Verhaeltnis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49BC86-A3EA-4B38-8DC1-FCA8C4D3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3385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B04CA3-1321-4FE6-9F02-D8061186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100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0,5 fuer Inhalte, niedriger fuer exakte Fragen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F6FB9D-62AA-44E4-B01F-DF8F7D2F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48200"/>
            <a:ext cx="18573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485009-C967-4C85-9A60-C8CD683D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Abschnittsgewichtung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D6DCCF-04B5-49C3-BF5E-D3DBA07C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64820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258BC3-275C-46F1-924F-6EC9C720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244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Boost fuer passende Felder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140062-B953-451F-924F-03E925DF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4820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C790A0-47E4-439C-9482-26C23372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7244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8 fuer ECTS/Pruefungsform-Demo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AD9B16-EE00-44C8-8AF8-C2987D2F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D85849-7F61-4377-9CD9-5E87C776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A1DEC-C4A1-464B-843B-C05E8A84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36199E7-15DE-4C5E-8712-E6D5CB55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76B204D-7286-4958-B5EF-75A65AA0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1C58C7C-124A-41B1-A366-45FF5202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38 / 59</a:t>
            </a:r>
          </a:p>
        </p:txBody>
      </p:sp>
    </p:spTree>
    <p:extLst>
      <p:ext uri="{BB962C8B-B14F-4D97-AF65-F5344CB8AC3E}">
        <p14:creationId xmlns:p14="http://schemas.microsoft.com/office/powerpoint/2010/main" val="105986606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3DAA80-24BD-4C44-BF13-38676B01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72696-D3BD-4F9D-B087-3D0480DE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Suchempfehlung kann direkt in die UI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fa222ad884c6d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4BE528-EB56-4D8D-BEAF-FB5B40DF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Nutzer brauchen vorab eine einfache Regel, bevor sie suchen.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53454-3F3F-48DA-A320-011D2712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257175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50A40C-4E46-4CB4-8DB4-172D848F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Wenn die Frage ist ...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41F6E7-9129-46D5-BCA4-9172109E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190750"/>
            <a:ext cx="23622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59768A-9F1A-4CD1-8A2B-B65136CC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6695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Dann starten mit ...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7E7EE-CE80-47BE-9092-933CA8B8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307657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546F7A-7441-4687-912B-145B4843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6695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Warum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9F7326-5D6B-491C-8474-0A6F19C0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2571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F19B5D-4A68-43D4-A258-A07213B1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eine Zahl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5FCDA8-C967-48D3-8418-71A64768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590800"/>
            <a:ext cx="236220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CFAA13-BAB7-4F55-954D-1B9D34EE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67000"/>
            <a:ext cx="22193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BM25, top-k 3, Boost 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2D0A5-EB30-4ABD-BDBE-3EF20FF8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9080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B9D277-88CD-4F67-A748-38A2D7A6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670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Exakte Felder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F04243-192D-4AE9-9569-0CAC93CB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05150"/>
            <a:ext cx="2571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21CB29-42DB-4EC6-A1A1-C8D3E30A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8135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ein Modulcode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50F5CA-F997-4987-8B36-377C8D47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05150"/>
            <a:ext cx="236220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DB0539-F261-40B1-A8A2-95AC3C77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81350"/>
            <a:ext cx="22193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BM25, top-k 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28697E-94A6-4E1D-9707-D63A605F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0515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331D8D-1FA5-450B-AF04-FF30C4F9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1813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Lexikalische Staerke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1D950D-D4C4-43BE-ADCD-E30E009F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19500"/>
            <a:ext cx="2571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7D8A39-1245-4A19-8BBE-DB0436BC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ein Inhalt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3592B0-8FB5-4132-91A1-C6550EE5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619500"/>
            <a:ext cx="236220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8E436D-F264-481E-B2F9-7F0079C0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95700"/>
            <a:ext cx="22193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Hybrid 0,5, top-k 3-5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6C7D1-AD2A-4B16-B8CC-1DA8080E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14EAB0-9821-4D72-B7C2-8B60AC98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957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Flexible Formulierung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09311F-0625-4FEC-8980-4F08615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133850"/>
            <a:ext cx="2571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45BC67-65AB-41C4-B33C-D1913138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ein Thema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1DA19A-7478-4C93-B6A5-5D53C691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133850"/>
            <a:ext cx="236220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EE9C8F-6C7E-4E61-AC23-B63BDF43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10050"/>
            <a:ext cx="22193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Dense oder Hybrid, top-k 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7BDDDE-E501-49B8-BD8E-104B5036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3385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2EFCFC-78D1-4F47-81E8-777BEE2B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100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Semantische Exploration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F8D0FE-27B6-4C6B-89AE-17617155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48200"/>
            <a:ext cx="25717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37C104-6A71-4AD3-90A6-D1B02101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2440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mehrere Felder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59D51E-F04B-488B-B408-7E33F716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648200"/>
            <a:ext cx="236220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477EB4-D67B-485A-AA67-FE1EC07A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24400"/>
            <a:ext cx="22193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BM25/Hybrid plus module-level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92861F-FC77-4EFE-8E8D-768DFEAE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48200"/>
            <a:ext cx="3076575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2938A8-F3D7-4A0A-92EB-C17E58E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7244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Kontext zusammenhalten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A05C67-C2DF-43A3-917B-7F4A5645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17D4BE6-DF7D-412C-A770-4D6FFFCC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C07141-70DF-4E2A-A320-FA5DCB31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9A7F48-B76C-4217-9DDD-319389E3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F1100F3-1955-4027-BE2D-56C75BA2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98B06F-762E-4FBF-A50F-554B9AD6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39 / 59</a:t>
            </a:r>
          </a:p>
        </p:txBody>
      </p:sp>
    </p:spTree>
    <p:extLst>
      <p:ext uri="{BB962C8B-B14F-4D97-AF65-F5344CB8AC3E}">
        <p14:creationId xmlns:p14="http://schemas.microsoft.com/office/powerpoint/2010/main" val="67539984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E82B59-7CD0-4EB2-B82D-5F67E034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488D7-22CE-4814-88C9-F2AF36A1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Trefferanzahl 1 ist nur selten genug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2e1cb16eff4e44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95262-ACD1-4B11-B9A1-1CE6FDDB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Fuer eine Vorfuehrung wirkt Top-1 schnell, aber Top-3 ist wissenschaftlich robuster.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336DF2-0638-41E6-A9BB-80D7100E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165EC5-8E0D-49DA-BD89-7FE74437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Top-1: gut fuer sehr genaue Demo-Fragen.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2745A-B214-4935-A89D-B70BB298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70DCC-348C-400C-99A2-2EFD337C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Top-3: guter Standard fuer Studienberatung und Nachvollziehbarkeit.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119B6B-89EA-4C50-B66D-5374BBAF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5A693-4809-4D84-9FD4-E07E3A06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Top-5 bis Top-8: sinnvoll fuer Themenrecherche.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D170A3-CFCC-4914-B10D-FDF869D3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854B4F-E5F3-459D-B071-82FA24F9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Mehr Treffer bedeuten nicht weniger Qualitaet, sondern mehr Kontext.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749243-AB88-48C6-898D-4C5BA18E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5759A0-7D48-4056-85E5-EF96E615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7625AB-2E4D-4129-8F3E-313A2014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B60ABE-EA34-4C34-9B43-848D712B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F0416-D324-4357-9BDA-48188FFC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05274-2EB6-4849-83C2-17D995CF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40 / 59</a:t>
            </a:r>
          </a:p>
        </p:txBody>
      </p:sp>
    </p:spTree>
    <p:extLst>
      <p:ext uri="{BB962C8B-B14F-4D97-AF65-F5344CB8AC3E}">
        <p14:creationId xmlns:p14="http://schemas.microsoft.com/office/powerpoint/2010/main" val="40890550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B302A2-1DA1-414B-B7BA-9AE2667A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30E768-DE1B-4AE4-815D-C4F723B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Hybrid-Gewichtung muss erklaert werden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c6a91583ac47a8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D0074-3EBF-432C-8A07-36FBEFF8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Der Alpha-Wert sollte nicht zufaellig verschoben werden.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182A5-6CC3-4489-BB0A-1B5CDC75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FEB5CD-0AF7-49BA-B034-D9E57EE5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Alpha nahe 0: BM25 dominiert, gut fuer exakte Woerter.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B01234-A424-4585-9A7A-2966EB9B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9140C8-1D4B-483E-828B-16BC7F47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Alpha 0,5: balanciert, gut fuer Inhaltsfragen.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2E1D75-CAF5-4468-ADB8-7D5FD5AC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BE8336-D8F8-420C-995C-58BAAAB6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Alpha nahe 1: Dense dominiert, gut fuer Exploration.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C69B5-C915-40BD-9B15-73373DB8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BEEAC-D8F8-492A-A31D-88914870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Fuer ECTS-Fragen ist ein hoher Dense-Anteil riskant.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311672-5634-40EF-930E-E7324D0E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F94DBA-EAFB-4EE9-BF7A-DF309873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681FAD-7A82-438D-B3A2-5C830AF2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CB3CC0-4C01-4034-9E81-49FBA7A0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31C2F3-70B3-41FB-9DBC-21DF6890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9A661A-36BD-4F11-9947-AFD9095F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41 / 59</a:t>
            </a:r>
          </a:p>
        </p:txBody>
      </p:sp>
    </p:spTree>
    <p:extLst>
      <p:ext uri="{BB962C8B-B14F-4D97-AF65-F5344CB8AC3E}">
        <p14:creationId xmlns:p14="http://schemas.microsoft.com/office/powerpoint/2010/main" val="204459841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1D11CA-5B39-4C2E-94E8-A81ED328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31DED-B34A-4833-81E1-DADDFC26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Abschnittsgewichtung ist ein Feldsignal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84a5dcf6149be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3D268-082D-4583-B862-BC469D70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Sie nutzt die Struktur des Modulhandbuchs, statt nur Text zu vergleichen.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80A91-E604-4ED1-9261-96A0F262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8A4042-4093-43B2-9029-2075EBDC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ECTS-Fragen sollen ECTS-nahe Abschnitte bevorzugen.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2AA41-0AB7-4D18-8474-40D9B356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CE92B-DC41-4401-B197-A752F86C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Semesterfragen sollen empfohlene Semester nach vorne holen.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FFE4D-CC34-4764-B84C-F34B0A4B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6C040-B35F-4194-8227-6E588160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Pruefungsfragen sollen Pruefungsform und Modulteile bevorzugen.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7F4912-1205-442A-858B-23A4E298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CFF00-1064-4DAD-ACFD-E4A92A54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Bei breiten Themenfragen kann ein zu hoher Boost ablenken.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4C60DD-0D17-4F6D-982E-1DF41F79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1EC0A5-92E8-489D-B4D1-56F694A3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9271C4-DF4C-4500-8760-246087612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D3A95E-89F2-4801-8F21-5E4D4BD0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B4F587-E930-4CCF-9462-9B2E3CF7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C6DF74-1205-4BE7-AF6F-3AA0E83C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42 / 59</a:t>
            </a:r>
          </a:p>
        </p:txBody>
      </p:sp>
    </p:spTree>
    <p:extLst>
      <p:ext uri="{BB962C8B-B14F-4D97-AF65-F5344CB8AC3E}">
        <p14:creationId xmlns:p14="http://schemas.microsoft.com/office/powerpoint/2010/main" val="157581068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625438-2862-4B03-8A42-1E4037AB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C365D-B30D-4932-898D-D367B71D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Outline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24dcdefb334e54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45C295-03A4-4B74-821A-892A2B28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24150"/>
            <a:ext cx="3619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85F40-75BF-4415-8219-6CFC2A0D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2250"/>
            <a:ext cx="20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D64DD2-F032-404B-BB15-E6499DBB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Live-Demo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F4CD7B-ECB4-4649-B7A3-522F056C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Ein sicherer Ablauf fuer die Vorlesung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9DDCFF-4C6F-423D-9B35-FBB5648D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361C3-49F0-4053-9E57-6810E14F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2575B-7AB5-429C-8BA9-85E1E998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96493-6053-47E2-BD1B-165DECF0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8B351D-4AF5-475A-9937-EC4EC722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DBAA4C-9FD2-4F08-A7DA-BC1F3A1D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43 / 59</a:t>
            </a:r>
          </a:p>
        </p:txBody>
      </p:sp>
    </p:spTree>
    <p:extLst>
      <p:ext uri="{BB962C8B-B14F-4D97-AF65-F5344CB8AC3E}">
        <p14:creationId xmlns:p14="http://schemas.microsoft.com/office/powerpoint/2010/main" val="47998910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4753CE-1836-4A92-B25E-5B218E77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63B9B-794C-4D3A-BA7E-E6750C63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Live-Demo folgt drei Fragen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683590d01b474b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1A529-B916-444B-A480-510DDCFB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Wir zeigen nicht nur eine perfekte Frage, sondern drei Suchsituationen.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305122-6AE6-48E0-B886-D0A380BE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128587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8F078-AC80-4AB7-A91F-EEDA95BC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DFCA1-2EEB-46EA-B7AD-3C8D9566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213582-1DA2-40E6-9C5D-BC7576DC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Frage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BB93A-20EE-4926-A3EE-A11AD3D2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190750"/>
            <a:ext cx="2714625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9EFF93-71C9-434C-904C-2D49832B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266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Einstellung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EA19C6-76F2-4420-A9F1-C89C773E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128587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EE495-DC0F-4961-B7AD-A99B8736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114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1. Exakt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B58F4B-1713-44AA-90EC-2F4177B5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90800"/>
            <a:ext cx="400050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F3A798-AFC9-4B49-8F2F-D0436B94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667000"/>
            <a:ext cx="3857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Wie viele ECTS hat WP3 Information Retrieval?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A82CDA-8F82-4AF8-8D39-2725C143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590800"/>
            <a:ext cx="271462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5A5D43-3171-4DCD-84EB-4CDE223A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67000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Bachelor CL, BM25, top-k 3, Boost 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E2F145-B1C3-438A-BF7E-B98224A6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305175"/>
            <a:ext cx="128587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1DCB4C-D710-454F-9D7D-5FB6EE3A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81375"/>
            <a:ext cx="114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2. Inhalt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CCA110-77B4-42BC-9D61-A30B5006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05175"/>
            <a:ext cx="400050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D54D76-5A92-424A-867E-2FFEC02E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381375"/>
            <a:ext cx="3857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Welche Inhalte behandelt P11?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DA62D8-12F4-4030-B927-88B7DF95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05175"/>
            <a:ext cx="271462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AE870A-B344-4B24-8992-35064743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BM25 oder Hybrid, top-k 3-5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6F4766-AA97-4058-A870-DE9DF56B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19550"/>
            <a:ext cx="128587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63958B-553C-47FE-AE47-BF7172FC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114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3. Thema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54BFA-714F-458B-98B9-0410F5FA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19550"/>
            <a:ext cx="4000500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BB4165-4592-4C40-923C-33F2564E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095750"/>
            <a:ext cx="3857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Welche Module passen zu Information Retrieval?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BD11CC-87C7-4C4A-A8AC-D939C654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19550"/>
            <a:ext cx="2714625" cy="71437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95BFE2-1115-4676-940B-063B1997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095750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Hybrid/Dense, top-k 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29C01A-C0EE-4D06-8860-B4A13074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FFF118-4E79-4710-A24C-812C91F6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D42E9E-0930-473E-B953-E0C9ED59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223C92-0ED2-4C31-BB9D-8E38D0ED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EDCFF0-11BB-471D-BAFD-4C74BAAA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E70F3B-F0D7-4B54-94F7-81B7AC3F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44 / 59</a:t>
            </a:r>
          </a:p>
        </p:txBody>
      </p:sp>
    </p:spTree>
    <p:extLst>
      <p:ext uri="{BB962C8B-B14F-4D97-AF65-F5344CB8AC3E}">
        <p14:creationId xmlns:p14="http://schemas.microsoft.com/office/powerpoint/2010/main" val="126646657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CE20E2-6CEA-492E-B540-DD33C09F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E9AA1D-7439-4258-9B3C-03713C6B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Wir zeigen zuerst die Quelle, dann die Antwort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008d32a57542d3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549051-4897-4766-954B-877C2357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Das schuetzt die Praesentation vor Halluzinationsfragen.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3564E2-135A-4A39-918F-ACCFF170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10F9E9-16A1-41DB-B8BC-7E7123E9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Quelle mit Modul, Abschnitt und Seite nennen.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767DFE-36A6-4D96-8C63-9A17F947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7F19E3-36FF-4F4D-86F4-13B8B482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Dann die kurze Antwort aus der Quelle formulieren.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7152F-D07A-409E-A1AD-7A7A0B3D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BFA171-CA37-46B9-A687-08608BC8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Bei Unsicherheit mehrere Treffer vergleichen.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611A4C-01A9-4E58-AEAA-3EAADE4F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E09355-967B-41C8-97D0-F34C4D2D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Excel erst oeffnen, wenn Zahlen oder Vergleichstabellen gefragt sind.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3B961A-1BE8-48EC-8166-BF69BE9B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A0ECAF-1108-4FFA-8E58-675A689B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E3AD7-373C-4500-B4B1-DF9A41F0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9B4B0-10DF-4AF0-908D-CA66634C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6B3B20-0812-41F9-99C7-AD912574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9C2CE-22A6-4684-BD57-2EA10D35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45 / 59</a:t>
            </a:r>
          </a:p>
        </p:txBody>
      </p:sp>
    </p:spTree>
    <p:extLst>
      <p:ext uri="{BB962C8B-B14F-4D97-AF65-F5344CB8AC3E}">
        <p14:creationId xmlns:p14="http://schemas.microsoft.com/office/powerpoint/2010/main" val="8347511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6486A7-BCFE-4BC8-BE74-023B488A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86E75D-D434-4905-BD7D-CC0CC719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Typische Fehlerbilder sind erklaerbar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ca8ecebeef45fd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F5662-0D2E-42EE-84F8-6EF120C0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Ein schlechter Treffer ist meistens kein Zufall, sondern eine falsche Suchstrategie.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F658D-11FC-4B85-984D-454D92BD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3FBA47-0BA9-44FA-9B46-2DB9455E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Dense findet bei ECTS manchmal nur Header oder Modultitel.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6732A3-0A6B-44EE-BCA2-9E5F9F57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223AC2-C334-4335-B47A-C64137CD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Top-k 1 versteckt richtige Treffer, die auf Rang 2 oder 3 liegen.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D7463-6201-4AB7-80D0-D0030BD9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A99819-04DC-43E4-AB05-19D840D7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Zu hoher Abschnittsboost kann bei breiten Fragen zu eng werden.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046FC-563B-456E-AADE-23D63496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AC5051-10D0-4DA4-93FC-8BA11FD9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Falscher Korpus fuehrt zu richtigen Methoden, aber falschen Dokumenten.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28B448-6000-4123-8339-D65026BC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9A57B-9B99-4F1C-B6CF-2FF04BD4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DBAFF-B35A-4C7D-B348-D2D5739E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2B7FF2-0BB5-45F8-BEC7-CDA9EB7F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997BCB-DD34-4F79-A581-A05E1618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55F093-A279-45CA-B504-6EF60E85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46 / 59</a:t>
            </a:r>
          </a:p>
        </p:txBody>
      </p:sp>
    </p:spTree>
    <p:extLst>
      <p:ext uri="{BB962C8B-B14F-4D97-AF65-F5344CB8AC3E}">
        <p14:creationId xmlns:p14="http://schemas.microsoft.com/office/powerpoint/2010/main" val="73870919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C776A0-6ECB-4DDD-9CF9-338AC14A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E1304A-2099-4E05-BA6A-F76A3B88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Outline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31631a8af4c1d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3B69AD-958E-4137-AF9D-B8AA14FC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24150"/>
            <a:ext cx="3619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29204C-2A32-47AC-BBCF-66FBE40D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2250"/>
            <a:ext cx="20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84E7D-A9AB-4268-B4E1-55B8926C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Projektstatus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18780-912F-46A1-B5BC-93848C3C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Was fertig ist und was als naechstes verbessert werden kann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E35A15-6248-4030-A3B7-81D4A97D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3326C-06C1-461B-9B1C-B285DFC4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F6B5BB-0C58-4EFD-9176-272BF675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50D71F-133A-4064-B846-92F99601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62C5E-1295-4FCD-A6A7-D9199367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2E4163-00BE-4224-9750-70CD3EE9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47 / 59</a:t>
            </a:r>
          </a:p>
        </p:txBody>
      </p:sp>
    </p:spTree>
    <p:extLst>
      <p:ext uri="{BB962C8B-B14F-4D97-AF65-F5344CB8AC3E}">
        <p14:creationId xmlns:p14="http://schemas.microsoft.com/office/powerpoint/2010/main" val="62833129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8D5CD7-26ED-42B2-867F-FCF7490F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65ADF4-1991-4706-87AB-21B1CCF1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Abgabe besteht aus mehreren Artefakten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9c095443149d5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FC81A4-8FA5-48F8-939C-CF5A5036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Die Dateien sind nicht getrennt zu sehen, sondern bilden zusammen die Projektuebergabe.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0D21B-D10C-47EC-91B5-4EE6FD63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26670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9F0F17-E8D9-4F56-9D8A-C9FEC8CA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Artefakt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F3015-FFC1-4384-B82A-AA9841B7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190750"/>
            <a:ext cx="26670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D94FAA-B8BA-4556-90A6-35A1EE19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Rolle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0F0470-78B1-46EB-9CF5-DB53D480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190750"/>
            <a:ext cx="26670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3A7619-CABF-4AA2-B739-2523F9F1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6695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C13E97-36A4-4B13-A6A9-BD0A90D0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AC68E9-9DC6-435B-B716-03209BFC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GitHub-Repo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C746F1-FBA9-42CA-B8FA-B1EDB8D4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5908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6409A3-C474-4CA3-8C0A-0B740F13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670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Code, Datenstruktur, CLI und Streamlit-App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6140C-D38E-480C-A6CD-DEE2E0E8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5908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A336CD-EFF8-4160-9A87-79E08807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670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main ist online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E2B3E-A05D-4F72-BD62-4DC7008A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4325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2AE014-70D7-4B1D-B794-CA819D03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Excel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2EBAF7-BBB7-4671-A03A-D803F782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14325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4C80E2-45CD-4312-98E9-F4C8B884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Ergebnistabellen und Vergleiche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304F0D-C2EA-45CD-9607-947D1D7A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14325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321CAC-5B7A-496E-99F5-90C55055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1945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7 Tabellenblaetter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7004F2-F458-4A1E-A14A-96C6518D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57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091604-A42D-4615-BE6C-EAC99C7C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PowerPoint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60D335-2E37-4200-8204-79555FD2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6957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0974FC-8779-40B7-88F2-EA6DBF4D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719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Vortrag und Ergebnislogik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ABDE90-1FFF-4A7D-8222-F02A5924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69570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D8E3DD-C26F-49CA-A680-08A92E3C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77190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diese 40-Minuten-Fassung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66F2AC-74A1-467E-8A0D-E92E5ED9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AEDA50-7F3D-423E-B413-AB73785D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2435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Zwischenbericht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DE1C1C-863E-477C-B100-8F2E594E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424815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B36357-2D6F-45D4-BE88-71FCD290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2435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Vorlesetext und Q&amp;A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7F6446-90D3-48FC-89CB-3E6F3108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248150"/>
            <a:ext cx="2667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9EB044-5117-4261-AC8C-24B610BA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24350"/>
            <a:ext cx="252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DOCX und PDF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5EEE70-7B47-462B-9F80-35A980D3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E1992DA-4783-479E-9ADA-D9FAB979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1F530E-8EA0-4BBF-A241-0C7C8643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C344D1A-92EB-4C6E-BBCE-A3C07BB5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E9C1CE-E6CE-49C2-82F2-84E91E17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DAEBBE-30D9-498A-A29E-B03BD222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48 / 59</a:t>
            </a:r>
          </a:p>
        </p:txBody>
      </p:sp>
    </p:spTree>
    <p:extLst>
      <p:ext uri="{BB962C8B-B14F-4D97-AF65-F5344CB8AC3E}">
        <p14:creationId xmlns:p14="http://schemas.microsoft.com/office/powerpoint/2010/main" val="105601828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3C7A01-39AB-42A3-BA66-40D3191A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56BFEA-9DC8-401E-9AB0-7023A483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Grenzen sind transparent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98096ae1394bb1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CF5F59-69A7-4204-B256-B24056A6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Gerade die Grenzen machen den Zwischenstand glaubwuerdig.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37BED-296E-42F5-9FDB-5783FC5C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6FD0E-8850-48C6-BF91-588CBF7C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Der Goldstandard ist noch klein und sollte erweitert werden.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52D9CA-A773-40B4-9334-2AFFF0FDF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4BE068-1405-4FEA-8B62-36BBED03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Mehrsprachigkeit ist kontrolliert getestet, aber noch nicht breit.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58E1B1-3F5A-4E48-952B-932F4861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952EF5-EB9E-4CE8-86E9-1B776BDF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Dense-Fallback ist lokal robust, externe Sentence-Transformer koennen spaeter aktiviert werden.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FEB2C7-165F-446B-BD70-A743C9E1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28461E-C1F2-4331-BA63-9988B9E9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UI braucht noch eine kurze Nutzerhilfe fuer empfohlene Einstellungen.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A05757-F3A1-452E-A086-7BA6395C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D4AB65-2E1B-4D7D-9B93-1AC27ED2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02593B-A547-4734-BE32-FFC7686A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61212A-7444-408E-9959-6A605642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88FF3D-0F6E-4EAB-B87C-7E438E5F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130FFC-D29E-49F3-A77E-7395E072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49 / 59</a:t>
            </a:r>
          </a:p>
        </p:txBody>
      </p:sp>
    </p:spTree>
    <p:extLst>
      <p:ext uri="{BB962C8B-B14F-4D97-AF65-F5344CB8AC3E}">
        <p14:creationId xmlns:p14="http://schemas.microsoft.com/office/powerpoint/2010/main" val="166949169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03393A-7696-4A4C-80B6-53D5D103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42A5EC-9C07-42E7-B225-5423DF99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Die naechsten Verbesserungen sind klar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73044c4be4a23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EDF71-4740-4A43-841A-C3AF1FC3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Wir wuerden nicht alles neu bauen, sondern gezielt erweitern.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F172F-ABEB-4820-BD00-934D5D11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C971AB-8EC9-46F8-9143-19B9AC2E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Mehr Testfragen pro Fragetyp und Korpus.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16FD52-AE48-457C-A166-B3E274CF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B14D07-1960-4827-A962-D24B924D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Mehrsprachige Goldstandard-Tabelle fuer Deutsch, Englisch und Tuerkisch.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C757EA-A46F-4405-82DE-C427C215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72C79F-776D-493A-BC99-35988796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UI-Hinweisbox mit Suchstrategie pro Fragetyp.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DA20E-B1B5-44A8-A92C-9E0FC862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F3EC98-B4CF-46AE-8D8A-876E3796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Optional: LLM-Antworten strenger an zitierte Quellen binden.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EC79DE-8B67-4D09-B08C-A5B39BB2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DDDB7-0332-4678-A1A0-9775BA6B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2B7F7-8B2A-4686-B129-0BBFB98D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ABD6C8-819C-4A80-ABE4-1A2B1EB5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77B46D-607C-4443-8AD9-089EFA76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920223-787C-4B6A-AE00-58D6E813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50 / 59</a:t>
            </a:r>
          </a:p>
        </p:txBody>
      </p:sp>
    </p:spTree>
    <p:extLst>
      <p:ext uri="{BB962C8B-B14F-4D97-AF65-F5344CB8AC3E}">
        <p14:creationId xmlns:p14="http://schemas.microsoft.com/office/powerpoint/2010/main" val="43305485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940FFD-B07D-4838-BF33-6718FD0E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C5710-A368-4785-85F4-E243E476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Das Fazit ist eine Suchstrategie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2ce524e8e41ee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C35055-6602-47F3-B932-3E8AE0AE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Der wichtigste Beitrag ist nicht ein einzelner Score, sondern ein erklaerbarer Entscheidungsweg.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8309B2-929A-44EF-A5AD-55E3459E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C8EE0-E68D-4A2B-A873-6C23D0EA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Exakte Studieninformationen: BM25 + field chunks.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82ECE8-3DC9-4880-8838-8467EAC3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552C3A-3EC7-4FD8-B956-8059E012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Inhaltliche Fragen: Hybrid mit mehreren Quellen.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01075A-D169-48D4-AAD8-94C5F752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CCF94-ADF2-431A-A469-B2141EBC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Breite Themen: Dense oder Hybrid als Exploration.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D316B3-D993-47D5-A09D-05494843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19DD52-4D2F-4971-9089-E5853C51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Jede Antwort bleibt an eine Quelle gebunden.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868131-BB13-4317-945F-38822A9C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ED5930-9971-4E41-90AD-C5FC8507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3D4C26-968A-4D8B-A3F8-AF0A40DF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2CF87F-E84B-46A0-9A5E-3BF49406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49926-BE06-41FC-AF25-DF6A7E82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2D7F4E-A2A9-40CC-BBBB-82E7A11A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51 / 59</a:t>
            </a:r>
          </a:p>
        </p:txBody>
      </p:sp>
    </p:spTree>
    <p:extLst>
      <p:ext uri="{BB962C8B-B14F-4D97-AF65-F5344CB8AC3E}">
        <p14:creationId xmlns:p14="http://schemas.microsoft.com/office/powerpoint/2010/main" val="151976659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DE81D-D103-4C62-9B1B-54FF49CA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62950-B8E5-4749-B39D-FE1A7353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Outline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37bca8bdfb478e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F786BB-B6DF-4304-B786-1CC036A1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24150"/>
            <a:ext cx="3619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44DFD3-E75E-4350-B9D2-C08F1856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2250"/>
            <a:ext cx="200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5C71E7-3893-4904-8842-BB9EAC08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827"/>
                </a:solidFill>
              </a:defRPr>
            </a:pPr>
            <a:r>
              <a:rPr sz="2250" b="0">
                <a:solidFill>
                  <a:srgbClr val="111827"/>
                </a:solidFill>
              </a:rPr>
              <a:t>Fragen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1D29D-DE46-4890-A91E-0DE4089B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86125"/>
            <a:ext cx="6429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</a:defRPr>
            </a:pPr>
            <a:r>
              <a:rPr sz="1200" b="0">
                <a:solidFill>
                  <a:srgbClr val="5B6472"/>
                </a:solidFill>
              </a:rPr>
              <a:t>Technische Rueckfragen, UI-Fragen und methodische Grenzen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267CD-9122-46C2-BF98-90BE9733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57E0C-4A71-495F-928D-6F58DD4F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B67EB2-6B34-43EC-978A-52A93753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DC86E3-568C-43AA-9788-9EEE78DA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93FF5-49B2-4655-A3CB-188B9D91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18EB3D-F4F4-4DDB-A40F-78F21514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52 / 59</a:t>
            </a:r>
          </a:p>
        </p:txBody>
      </p:sp>
    </p:spTree>
    <p:extLst>
      <p:ext uri="{BB962C8B-B14F-4D97-AF65-F5344CB8AC3E}">
        <p14:creationId xmlns:p14="http://schemas.microsoft.com/office/powerpoint/2010/main" val="7253927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B10015-584E-44A2-9EF3-C25C0F90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6D5244-BD5D-47D6-A662-026B4CAD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Q&amp;A: Warum nicht nur ein LLM?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fec45d8ce34f10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1B8F1-B7A4-44CB-A9FD-3717871E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Die Antwort ist bewusst retrieval-zentriert.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A2CB26-AD8F-4EF5-8DEC-0DDB1087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005794-76DF-4117-9B9C-D9383030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Frage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6A87B7-A74F-4BBE-86ED-490944CC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2448F0-1DB3-4A09-A31C-75739AC2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Kurze Antwort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A7A731-6F7A-4FB8-88A3-132BC45C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560355-4C0A-4E21-A387-63EEFB67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Warum nicht direkt ChatGPT/LLM?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27D1D2-24A6-432C-AFDD-F523DBE0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7BB119-5706-4356-8023-F47644CC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Weil Studieninformationen belegbar sein muessen.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BC2F0E-46DB-4C49-9F49-8018F690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90352F-6DC4-407C-82D7-43C04315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Was verhindert Halluzination?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32BFCB-5CFD-4042-8B1F-C7B0410B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27F175-5773-4C9A-88D0-8DFBDE7E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Antworten werden aus gefundenen Quellen formuliert.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06C25B-5F47-4C51-ACCE-4F1BF13E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C313A3-57BF-48A1-A4AF-ABD516E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Warum zuerst Retrieval evaluieren?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AF669E-9213-437B-8130-F71521E7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FB70E-A1EE-4153-95E8-D13D8A61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Wenn die Quelle falsch ist, ist die Formulierung wertlos.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40F635-F3F2-4E1B-9C30-6943E8B0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01F82C-B57D-41DE-92EE-0F1A7F7B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8D4A6D-FCBF-4D8F-B604-F1384AA4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EC576E-5DC6-48AF-A7DD-7F6DC8E0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997E92-E291-463F-9F00-F691A2DC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802B8C-322B-4E8F-BC6A-A0BE3E78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53 / 59</a:t>
            </a:r>
          </a:p>
        </p:txBody>
      </p:sp>
    </p:spTree>
    <p:extLst>
      <p:ext uri="{BB962C8B-B14F-4D97-AF65-F5344CB8AC3E}">
        <p14:creationId xmlns:p14="http://schemas.microsoft.com/office/powerpoint/2010/main" val="393790611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91B3EC-D3A1-45AE-B25B-ABBD039C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F3882E-A4A1-4F2E-BC96-CF8E3A73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Q&amp;A: Warum gewinnt BM25 so oft?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68c9a855f94656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422D8-B8AF-4EBC-87A4-A4393753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Die Daten haben viele exakte Signale.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2A36A-3ECF-47E5-9089-2402405E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3C41B-B0DF-4327-B4F4-A5677BC5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Grund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C8086D-D5D2-4F12-A99B-4D54D0C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856C9-4B58-4BAF-86D9-22BEE1FD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Bedeutung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24698-E933-4638-8C33-0D8E593B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68BA5D-4237-46C3-89D1-F705D7F5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Modulcodes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175D3-3F76-47A6-9C74-F4DAEFA8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BBD789-E171-4940-A1D9-27163B2C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WP3, P11, P2 sind starke Suchanker.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EBCCC0-619E-4E99-895A-91F59626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55B7FF-2EBD-49DC-A000-41151B2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Feldnamen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BCEEC1-0138-40DC-A467-9D5506C3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A1AB37-0E7D-4E56-ADE0-EF3A6939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ECTS, Semester und Pruefungsform stehen explizit im Text.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0E2155-2037-48D8-91D2-007B23C8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C636B6-6F50-46EC-962C-FC73681F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Dokumentstruktur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135FE-63D6-4E63-B6F7-B16E32F0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A53559-AE0A-4BA4-B2D6-0538B658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Abschnittsgewichtung nutzt die Modulhandbuchlogik.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ED350E-CE85-4531-B746-656BB809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357D80-9F05-4CA0-810F-4E413085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082957-E918-46FD-AA87-885935DF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58FE4B-E5CD-4F95-A709-5C29084F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FB2DBF-490C-463E-B802-3C2675FD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C096F1-6F0E-4896-B12D-4D8FD0A8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54 / 59</a:t>
            </a:r>
          </a:p>
        </p:txBody>
      </p:sp>
    </p:spTree>
    <p:extLst>
      <p:ext uri="{BB962C8B-B14F-4D97-AF65-F5344CB8AC3E}">
        <p14:creationId xmlns:p14="http://schemas.microsoft.com/office/powerpoint/2010/main" val="124586513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11F9E4-AD9B-45F1-A4E8-BEEBA9C2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490276-4FD0-4C22-84A7-86C18578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Q&amp;A: Wann ist Dense trotzdem sinnvoll?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a150c878c4cce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BCD41-CE1C-4F41-8D04-08AED01D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Dense ist fuer semantische Suche da, nicht fuer jede Zahl.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A29D2-63C6-444F-8F92-DAC4A215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62449A-E843-4818-BFF3-04B54DA6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Situation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4E9E35-E1FF-4B59-923A-C66B51E5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CA942-9D46-4EE7-8361-04E2E49E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Warum Dense/Hybrid hilft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21FABE-8E78-4A70-AB49-2A1353B2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03A370-93B6-4B0A-B06D-6ADA1E7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breite Themen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A86A6-8C6F-4610-9E26-E2606097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6065C7-FEE3-4EA4-90CA-57AA0743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Mehrere Begriffe koennen inhaltlich zusammenhaengen.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BBFDE0-1471-40E9-BA99-41DB6EE2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0EB742-786B-43CA-8DDF-4FB27497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andere Sprache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77CC76-FB71-499C-808C-DC81C2B3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C1BE42-D164-4B3F-9993-FC89C5B2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Formulierungen koennen von der deutschen Quelle abweichen.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2B213-0D62-4FAA-A136-204BD91C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0F2C0C-09A7-4277-B341-56EDDF22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Exploration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947EA7-2871-40C2-83E2-BEABB992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21A9B6-4ACB-4CC7-A3CE-EE30832E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Mehrere plausible Module sind relevant.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F6DE93-83DA-43D6-8F41-B8BDE952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211FD1-C80C-40A0-A186-B384FEE2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C3EADB-15D1-4073-AA3B-610FC9EC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53056A-E7CB-4DED-BE7C-CA64D427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D7A9FD-F45C-4903-B1F2-10422976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4C6DBF-4603-4AE2-9961-5C623011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55 / 59</a:t>
            </a:r>
          </a:p>
        </p:txBody>
      </p:sp>
    </p:spTree>
    <p:extLst>
      <p:ext uri="{BB962C8B-B14F-4D97-AF65-F5344CB8AC3E}">
        <p14:creationId xmlns:p14="http://schemas.microsoft.com/office/powerpoint/2010/main" val="24637635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7B3466-4EF0-4DAB-B937-DE78B203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6EB5E-8D51-4EE3-98CC-29695D4F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Q&amp;A: Welche Chunk-Strategie ist richtig?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d3926e843744bf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24C3FE-10EB-4E54-9167-91325A19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Die Antwort haengt vom Fragetyp ab.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BC5B58-1D26-4FF9-8E72-5EFE3E1B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7058A-AEAB-4BC1-9DE3-9BFBD8DD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Frage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F4B6E-C9D2-4E8A-ABAD-1E81653E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77BF96-346F-471D-A7A7-0E7DF71C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Chunk-Strategie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B5D981-276D-41E0-9A91-AD73AC9C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3FEF5-6049-46BF-871A-E4C5DC53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eine Zahl oder ein Feld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140106-088C-422D-88DE-76922527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550747-6219-4772-85AA-5E33CED5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field-level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FC7629-727E-48BC-ACEF-83E2B052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24C028-3BE0-4B31-988B-A885DC4A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mehrere Felder eines Moduls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AD068F-ED36-4CBF-9BF5-FED51E0F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F6473-C595-4468-ABDF-A3380F8B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module-level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B04D4D-B91E-448F-A63C-8F07537F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39C720-8C7A-4D8F-AD12-3133B522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Baseline-Vergleich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92D1F4-B259-4001-A50E-AA13F8AF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437C4C-2BFF-4668-86BC-2E461831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naive chunks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48AB88-94F7-489A-A46F-129D2B79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790A28-2287-4735-8F38-1C3530B2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243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breite Suche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E3E0A2-5939-4A30-B559-2F72D7C6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481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8932D0-6B37-451B-BF80-67720B2B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243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field plus Top-k oder module-level pruefen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9C59BE-2B75-4399-9C50-7598D8C8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B9D1BF-9612-490A-BF5E-A08E7571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1E6B47-660E-4FE3-869F-F9B28855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43021C-05C5-499F-B817-D2719273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9B3416-8C6F-45CB-A3E0-F5CB3C7F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7C4CB8-A320-4E87-BA1C-AB7879BE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56 / 59</a:t>
            </a:r>
          </a:p>
        </p:txBody>
      </p:sp>
    </p:spTree>
    <p:extLst>
      <p:ext uri="{BB962C8B-B14F-4D97-AF65-F5344CB8AC3E}">
        <p14:creationId xmlns:p14="http://schemas.microsoft.com/office/powerpoint/2010/main" val="233318801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08D14A-8A8D-477A-8C66-7C1FF5DB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85474D-AAEC-4773-B62F-A61E7728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Q&amp;A: Was zeigen die Metriken wirklich?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1e940a57a448c1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470DD-7700-42FF-A494-5BFCA99F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Die Metriken bewerten, ob die richtige Quelle im Ranking erscheint.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234C58-00D9-4047-BAA8-0E2BD7AA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965542-D1DA-4D1E-951E-71C12D7A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Metrik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529B8E-8AFD-4814-A3D1-07A5DB89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AD6567-3134-467A-B543-3C028449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Interpretation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C2EA34-173F-4532-9981-F09A009D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8FC77D-7B70-42BF-B981-41A322F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Hit@1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8AB800-0B13-42B8-A73E-3FCCC779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8BF997-EBDD-4E1F-8314-70C9E1FD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Der erste Treffer ist richtig.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CBB1B9-B243-46C7-980A-8B580465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31EE0E-F33F-4A06-BAEB-4B27EB17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Recall@3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97490A-754B-4C13-A44B-A15899AD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C8C0A1-778B-4268-BB0D-3EE6CE5B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Die richtige Quelle ist in den ersten drei Treffern.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F2F13A-D972-48B0-83A0-9F56870F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10021-31D4-4C67-B701-E2D5E8DD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MRR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45BC74-5118-49B7-8407-20D2068E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42E4CB-537F-4B82-AF49-590DD7D4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Richtige Treffer stehen moeglichst weit oben.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57E9EF-652C-4DF9-8404-204DBAB5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9A0BC1-55E6-445C-B05E-73A9EFAF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243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nDCG@3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7297C6-C53F-4E8B-9A94-35D1D5E4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481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744F5-3870-4D7C-8BE3-6BC0EC3F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243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Rankingqualitaet in den Top-3.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E014A4-37EA-4140-ADF5-019492EC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C93EAA-C255-4511-9AA2-C3DF9616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39764E-EA4E-458B-AEF2-0D9533BC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5372BF-0B26-4087-809A-51F0E621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D38421-ABA8-4E5C-9BCF-EE88AB5C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C7E049-FBE7-452A-A7D9-7D225097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57 / 59</a:t>
            </a:r>
          </a:p>
        </p:txBody>
      </p:sp>
    </p:spTree>
    <p:extLst>
      <p:ext uri="{BB962C8B-B14F-4D97-AF65-F5344CB8AC3E}">
        <p14:creationId xmlns:p14="http://schemas.microsoft.com/office/powerpoint/2010/main" val="315960866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511B17-320B-4A49-B09E-8D6B3E1E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5762A-AD3C-40E5-91B0-14E1C39F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Q&amp;A: Was ist mit Mehrsprachigkeit?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bb57da39b45f0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D03CDA-3B47-4BE5-A9A8-279EAD91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</a:defRPr>
            </a:pPr>
            <a:r>
              <a:rPr sz="1425" b="0">
                <a:solidFill>
                  <a:srgbClr val="111827"/>
                </a:solidFill>
              </a:rPr>
              <a:t>Wir berichten nur, was sauber kontrolliert 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CD718-2664-4919-BE8C-C65A1941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13442-7DFD-4532-B0FC-B7DA3D9A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Sprache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34D09B-8E75-4FDE-B819-ECDDD88A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90750"/>
            <a:ext cx="4000500" cy="4000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1F7A4D"/>
          </a:solidFill>
          <a:ln xmlns:a="http://schemas.openxmlformats.org/drawingml/2006/main" w="9525">
            <a:solidFill>
              <a:srgbClr val="1F7A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3FB25-D386-48C0-8502-FDFB0D4B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7A1BB-A31A-453B-BE61-29C420B0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1A651-9079-41B5-B1B4-99743067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Deutsch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DF1F6-F4AB-46F8-8F83-55157949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5908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39D71-4971-41DD-BC9F-5347B07B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670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Referenzsprache der Dokumente.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29F95E-7BE4-47E0-B294-2118CCCF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C73278-B604-43E1-A4D6-406E5160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Englisch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C9B48A-D8FA-4C4B-90CE-D666F72E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432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DC775-A532-474F-9747-A793FD8E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Fachbegriffe und uebersetzte Fragen getestet.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3A9A5C-D7F0-4B08-B439-9089FB10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2ACB4-3A76-47DA-9A2B-D0184A34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Tuerkisch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6CE5FA-492F-4ABC-A903-B8DE7738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9570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A0923-FB97-4780-8B15-61B8B044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719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Realistische mehrsprachige Nutzerperspektive.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F90204-D6AB-472E-B534-CE25AB8D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F63C22-2B55-42CC-A536-03061F16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243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Amharisch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6B7886-51F2-4604-B7A1-12ED50B6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48150"/>
            <a:ext cx="40005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1D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987F77-272C-4524-A237-42DF1D1F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2435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</a:defRPr>
            </a:pPr>
            <a:r>
              <a:rPr sz="1050" b="0">
                <a:solidFill>
                  <a:srgbClr val="111827"/>
                </a:solidFill>
              </a:rPr>
              <a:t>Nicht Teil dieser Projektphase.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D3D1A4-9EBA-4FBA-9B23-951D4B31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970E3E-09C4-47E6-AF52-1B721860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200134-CBCF-4DD5-9772-599C612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AD49C1-9913-4EFC-911D-E7D7B8F0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D8E496-AA6C-4783-B793-785ABBF1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F807B6-4894-4A72-807B-A6AE5169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58 / 59</a:t>
            </a:r>
          </a:p>
        </p:txBody>
      </p:sp>
    </p:spTree>
    <p:extLst>
      <p:ext uri="{BB962C8B-B14F-4D97-AF65-F5344CB8AC3E}">
        <p14:creationId xmlns:p14="http://schemas.microsoft.com/office/powerpoint/2010/main" val="695750252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AEC2AA-E6D2-4BFA-AF68-BBE11382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solidFill>
              <a:srgbClr val="EEEE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BDFA6-D6B3-45A3-BF2B-2B8A8D99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7000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F7A4D"/>
                </a:solidFill>
              </a:defRPr>
            </a:pPr>
            <a:r>
              <a:rPr sz="1875" b="0">
                <a:solidFill>
                  <a:srgbClr val="1F7A4D"/>
                </a:solidFill>
              </a:rPr>
              <a:t>Schlussfolie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1394c7f2b4cbd"/>
          <a:stretch xmlns:a="http://schemas.openxmlformats.org/drawingml/2006/main"/>
        </p:blipFill>
        <p:spPr>
          <a:xfrm xmlns:a="http://schemas.openxmlformats.org/drawingml/2006/main">
            <a:off x="7934325" y="62836"/>
            <a:ext cx="790575" cy="3791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658042-44CF-456E-97D2-E8A54932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524000"/>
            <a:ext cx="73628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Wir liefern kein perfektes Orakel, sondern eine nachvollziehbare Suchhilfe.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551493-58C2-4DFE-A874-05C9E890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3526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274A79-013A-4704-964B-8D4B2D73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Methode ist erklaerbar.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49F00-8118-4617-9476-26F0774C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9432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5921BF-754B-42B6-89D6-718442B4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9241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Quellen bleiben sichtbar.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2CE4DA-F7D8-4EEE-ACE9-D101F78E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3377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FEDF47-12FB-4C7F-AC3E-AD7ABE15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351472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UI macht Retrieval-Entscheidungen steuerbar.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7187B9-D8DA-4F80-BE2C-5E3BF7EF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124325"/>
            <a:ext cx="200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7A4D"/>
                </a:solidFill>
              </a:defRPr>
            </a:pPr>
            <a:r>
              <a:rPr sz="1650" b="1">
                <a:solidFill>
                  <a:srgbClr val="1F7A4D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373B5F-7EDE-4834-BD57-3A692FE0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105275"/>
            <a:ext cx="7362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Die Ergebnisse sind stark, aber realistisch interpretiert.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67340D-C368-4395-9789-1C0417AA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A4D"/>
          </a:solidFill>
          <a:ln xmlns:a="http://schemas.openxmlformats.org/drawingml/2006/main" w="0">
            <a:solidFill>
              <a:srgbClr val="1F7A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2E37E4-90E4-419F-8893-DB11C22E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6619875"/>
            <a:ext cx="3000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B4E61C-75E2-464F-A4F3-2EBA8E8C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619875"/>
            <a:ext cx="30765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 w="0">
            <a:solidFill>
              <a:srgbClr val="E6E6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3548EC-CEC7-469B-B5C7-F635D8B6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6675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</a:defRPr>
            </a:pPr>
            <a:r>
              <a:rPr sz="825" b="0">
                <a:solidFill>
                  <a:srgbClr val="FFFFFF"/>
                </a:solidFill>
              </a:rPr>
              <a:t>Selvinaz Tiryaki (LMU Munich)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2FB85D-5B45-4EED-85D1-6D916BE9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66675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RAG-Suchsystem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7FD953-7072-4F42-92FC-4426F54A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667500"/>
            <a:ext cx="2219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1F7A4D"/>
                </a:solidFill>
              </a:defRPr>
            </a:pPr>
            <a:r>
              <a:rPr sz="825" b="0">
                <a:solidFill>
                  <a:srgbClr val="1F7A4D"/>
                </a:solidFill>
              </a:rPr>
              <a:t>1. Juli 2026        59 / 59</a:t>
            </a:r>
          </a:p>
        </p:txBody>
      </p:sp>
    </p:spTree>
    <p:extLst>
      <p:ext uri="{BB962C8B-B14F-4D97-AF65-F5344CB8AC3E}">
        <p14:creationId xmlns:p14="http://schemas.microsoft.com/office/powerpoint/2010/main" val="958687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2026-07-01T11:20:46.1710000Z</dcterms:created>
  <dcterms:modified xsi:type="dcterms:W3CDTF">2026-07-01T11:20:46.1720000Z</dcterms:modified>
</coreProperties>
</file>