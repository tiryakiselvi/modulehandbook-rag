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7e50e22a8145b6" /><Relationship Type="http://schemas.openxmlformats.org/officeDocument/2006/relationships/extended-properties" Target="/docProps/app.xml" Id="R8a08e93f97fa4b87" /><Relationship Type="http://schemas.openxmlformats.org/officeDocument/2006/relationships/officeDocument" Target="/ppt/presentation.xml" Id="R2cdd7bd702484c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60403f625a4a43"/>
  </p:sldMasterIdLst>
  <p:notesMasterIdLst>
    <p:notesMasterId xmlns:r="http://schemas.openxmlformats.org/officeDocument/2006/relationships" r:id="Refab0cd2e9384093"/>
  </p:notesMasterIdLst>
  <p:sldIdLst>
    <p:sldId xmlns:r="http://schemas.openxmlformats.org/officeDocument/2006/relationships" id="256" r:id="R96305e9c05704459"/>
    <p:sldId xmlns:r="http://schemas.openxmlformats.org/officeDocument/2006/relationships" id="257" r:id="R83a85d6980c34894"/>
    <p:sldId xmlns:r="http://schemas.openxmlformats.org/officeDocument/2006/relationships" id="258" r:id="R8d4dbab0d5344882"/>
    <p:sldId xmlns:r="http://schemas.openxmlformats.org/officeDocument/2006/relationships" id="259" r:id="R4f4e46851628418d"/>
    <p:sldId xmlns:r="http://schemas.openxmlformats.org/officeDocument/2006/relationships" id="260" r:id="Rc32370494eb24525"/>
    <p:sldId xmlns:r="http://schemas.openxmlformats.org/officeDocument/2006/relationships" id="261" r:id="Rea77bbbf95dc4aa0"/>
    <p:sldId xmlns:r="http://schemas.openxmlformats.org/officeDocument/2006/relationships" id="262" r:id="Rfa79e779603f4e50"/>
    <p:sldId xmlns:r="http://schemas.openxmlformats.org/officeDocument/2006/relationships" id="263" r:id="Rfe26a079b8234b04"/>
    <p:sldId xmlns:r="http://schemas.openxmlformats.org/officeDocument/2006/relationships" id="264" r:id="R8cdb3ea886b04b1f"/>
    <p:sldId xmlns:r="http://schemas.openxmlformats.org/officeDocument/2006/relationships" id="265" r:id="R0fd6b9ea7f014448"/>
    <p:sldId xmlns:r="http://schemas.openxmlformats.org/officeDocument/2006/relationships" id="266" r:id="R385ef67b8d03423b"/>
    <p:sldId xmlns:r="http://schemas.openxmlformats.org/officeDocument/2006/relationships" id="267" r:id="R5321b6e06f8747c7"/>
    <p:sldId xmlns:r="http://schemas.openxmlformats.org/officeDocument/2006/relationships" id="268" r:id="R697873c9d4fa447d"/>
  </p:sldIdLst>
  <p:sldSz cx="9753600" cy="73152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1d752c28d8444b" /><Relationship Type="http://schemas.openxmlformats.org/officeDocument/2006/relationships/slideMaster" Target="/ppt/slideMasters/slideMaster1.xml" Id="R4660403f625a4a43" /><Relationship Type="http://schemas.openxmlformats.org/officeDocument/2006/relationships/notesMaster" Target="/ppt/notesMasters/notesMaster1.xml" Id="Refab0cd2e9384093" /><Relationship Type="http://schemas.openxmlformats.org/officeDocument/2006/relationships/presProps" Target="/ppt/presProps.xml" Id="R66d108020dd149a5" /><Relationship Type="http://schemas.openxmlformats.org/officeDocument/2006/relationships/tableStyles" Target="/ppt/tableStyles.xml" Id="R0b5631a7a74d46be" /><Relationship Type="http://schemas.openxmlformats.org/officeDocument/2006/relationships/slide" Target="/ppt/slides/slide1.xml" Id="R96305e9c05704459" /><Relationship Type="http://schemas.openxmlformats.org/officeDocument/2006/relationships/slide" Target="/ppt/slides/slide2.xml" Id="R83a85d6980c34894" /><Relationship Type="http://schemas.openxmlformats.org/officeDocument/2006/relationships/slide" Target="/ppt/slides/slide3.xml" Id="R8d4dbab0d5344882" /><Relationship Type="http://schemas.openxmlformats.org/officeDocument/2006/relationships/slide" Target="/ppt/slides/slide4.xml" Id="R4f4e46851628418d" /><Relationship Type="http://schemas.openxmlformats.org/officeDocument/2006/relationships/slide" Target="/ppt/slides/slide5.xml" Id="Rc32370494eb24525" /><Relationship Type="http://schemas.openxmlformats.org/officeDocument/2006/relationships/slide" Target="/ppt/slides/slide6.xml" Id="Rea77bbbf95dc4aa0" /><Relationship Type="http://schemas.openxmlformats.org/officeDocument/2006/relationships/slide" Target="/ppt/slides/slide7.xml" Id="Rfa79e779603f4e50" /><Relationship Type="http://schemas.openxmlformats.org/officeDocument/2006/relationships/slide" Target="/ppt/slides/slide8.xml" Id="Rfe26a079b8234b04" /><Relationship Type="http://schemas.openxmlformats.org/officeDocument/2006/relationships/slide" Target="/ppt/slides/slide9.xml" Id="R8cdb3ea886b04b1f" /><Relationship Type="http://schemas.openxmlformats.org/officeDocument/2006/relationships/slide" Target="/ppt/slides/slide10.xml" Id="R0fd6b9ea7f014448" /><Relationship Type="http://schemas.openxmlformats.org/officeDocument/2006/relationships/slide" Target="/ppt/slides/slide11.xml" Id="R385ef67b8d03423b" /><Relationship Type="http://schemas.openxmlformats.org/officeDocument/2006/relationships/slide" Target="/ppt/slides/slide12.xml" Id="R5321b6e06f8747c7" /><Relationship Type="http://schemas.openxmlformats.org/officeDocument/2006/relationships/slide" Target="/ppt/slides/slide13.xml" Id="R697873c9d4fa44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74908e22f84c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262c87bd144327" /><Relationship Type="http://schemas.openxmlformats.org/officeDocument/2006/relationships/notesMaster" Target="/ppt/notesMasters/notesMaster1.xml" Id="R30f31f118d074f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40b4686d0e4a69" /><Relationship Type="http://schemas.openxmlformats.org/officeDocument/2006/relationships/notesMaster" Target="/ppt/notesMasters/notesMaster1.xml" Id="Rd28b4adfcd3347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f43e81e8cb4382" /><Relationship Type="http://schemas.openxmlformats.org/officeDocument/2006/relationships/notesMaster" Target="/ppt/notesMasters/notesMaster1.xml" Id="R9a9903ce493647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d888299cd94608" /><Relationship Type="http://schemas.openxmlformats.org/officeDocument/2006/relationships/notesMaster" Target="/ppt/notesMasters/notesMaster1.xml" Id="Rc0ff8010a3d647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92085213f642ad" /><Relationship Type="http://schemas.openxmlformats.org/officeDocument/2006/relationships/notesMaster" Target="/ppt/notesMasters/notesMaster1.xml" Id="Ra189fd1e731547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6283c02b1c45b9" /><Relationship Type="http://schemas.openxmlformats.org/officeDocument/2006/relationships/notesMaster" Target="/ppt/notesMasters/notesMaster1.xml" Id="R2d02f4a9aa6c4b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228fa48bd24547" /><Relationship Type="http://schemas.openxmlformats.org/officeDocument/2006/relationships/notesMaster" Target="/ppt/notesMasters/notesMaster1.xml" Id="R4b7cad39d6924d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76100ba1b74dac" /><Relationship Type="http://schemas.openxmlformats.org/officeDocument/2006/relationships/notesMaster" Target="/ppt/notesMasters/notesMaster1.xml" Id="R8e31b0c763c24f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4b22a493264b76" /><Relationship Type="http://schemas.openxmlformats.org/officeDocument/2006/relationships/notesMaster" Target="/ppt/notesMasters/notesMaster1.xml" Id="Ra86fc113397e409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b68715c24c4922" /><Relationship Type="http://schemas.openxmlformats.org/officeDocument/2006/relationships/notesMaster" Target="/ppt/notesMasters/notesMaster1.xml" Id="R02c032a32ee145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e6d7cf78f545fd" /><Relationship Type="http://schemas.openxmlformats.org/officeDocument/2006/relationships/notesMaster" Target="/ppt/notesMasters/notesMaster1.xml" Id="R8b7d7c92b62f4f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d99c49658b4ea0" /><Relationship Type="http://schemas.openxmlformats.org/officeDocument/2006/relationships/notesMaster" Target="/ppt/notesMasters/notesMaster1.xml" Id="Rca46551111bc4c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1fba5f64934056" /><Relationship Type="http://schemas.openxmlformats.org/officeDocument/2006/relationships/notesMaster" Target="/ppt/notesMasters/notesMaster1.xml" Id="R72a186c2627d49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9727ea4dc94c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2627e782074609" /><Relationship Type="http://schemas.openxmlformats.org/officeDocument/2006/relationships/slideLayout" Target="/ppt/slideLayouts/slideLayout1.xml" Id="R3237fa4440054c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37fa4440054c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1e261d6714630" /><Relationship Type="http://schemas.openxmlformats.org/officeDocument/2006/relationships/image" Target="/ppt/media/image.png" Id="Rd0a5e3de403a41d8" /><Relationship Type="http://schemas.openxmlformats.org/officeDocument/2006/relationships/notesSlide" Target="/ppt/notesSlides/notesSlide1.xml" Id="R2735fdd577e74b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0f32d231c4fef" /><Relationship Type="http://schemas.openxmlformats.org/officeDocument/2006/relationships/image" Target="/ppt/media/image2.png" Id="R8568530799b64373" /><Relationship Type="http://schemas.openxmlformats.org/officeDocument/2006/relationships/notesSlide" Target="/ppt/notesSlides/notesSlide2.xml" Id="Rf5f736a03e0e47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201c2ef45406f" /><Relationship Type="http://schemas.openxmlformats.org/officeDocument/2006/relationships/image" Target="/ppt/media/image3.png" Id="Rad99285484c64c7c" /><Relationship Type="http://schemas.openxmlformats.org/officeDocument/2006/relationships/notesSlide" Target="/ppt/notesSlides/notesSlide3.xml" Id="R0373ad5b515a4d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51b09dc2345b1" /><Relationship Type="http://schemas.openxmlformats.org/officeDocument/2006/relationships/image" Target="/ppt/media/image4.png" Id="Rcbb3e35e8b9e422c" /><Relationship Type="http://schemas.openxmlformats.org/officeDocument/2006/relationships/notesSlide" Target="/ppt/notesSlides/notesSlide4.xml" Id="R10ae553b188c4f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012d673dc476a" /><Relationship Type="http://schemas.openxmlformats.org/officeDocument/2006/relationships/image" Target="/ppt/media/image5.png" Id="Rec6ce0793be24421" /><Relationship Type="http://schemas.openxmlformats.org/officeDocument/2006/relationships/notesSlide" Target="/ppt/notesSlides/notesSlide5.xml" Id="R1dce7655624945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82ae1506e44b0" /><Relationship Type="http://schemas.openxmlformats.org/officeDocument/2006/relationships/image" Target="/ppt/media/image6.png" Id="R2f194cab513b4e7a" /><Relationship Type="http://schemas.openxmlformats.org/officeDocument/2006/relationships/notesSlide" Target="/ppt/notesSlides/notesSlide6.xml" Id="R78a60914f38549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460978fa14ae6" /><Relationship Type="http://schemas.openxmlformats.org/officeDocument/2006/relationships/image" Target="/ppt/media/image7.png" Id="R974e1ae1d2df4df4" /><Relationship Type="http://schemas.openxmlformats.org/officeDocument/2006/relationships/notesSlide" Target="/ppt/notesSlides/notesSlide7.xml" Id="R9c57fd11658740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757a43fcd494e" /><Relationship Type="http://schemas.openxmlformats.org/officeDocument/2006/relationships/chart" Target="/ppt/slides/charts/chart1.xml" Id="R7b49af391d8b4e3e" /><Relationship Type="http://schemas.openxmlformats.org/officeDocument/2006/relationships/image" Target="/ppt/media/image8.png" Id="R5274c2bf4ecc49f7" /><Relationship Type="http://schemas.openxmlformats.org/officeDocument/2006/relationships/notesSlide" Target="/ppt/notesSlides/notesSlide8.xml" Id="R5871c685fd4a43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0b42d42054b8a" /><Relationship Type="http://schemas.openxmlformats.org/officeDocument/2006/relationships/image" Target="/ppt/media/image9.png" Id="R84cec55d56e24e63" /><Relationship Type="http://schemas.openxmlformats.org/officeDocument/2006/relationships/notesSlide" Target="/ppt/notesSlides/notesSlide9.xml" Id="R70275bcf812c41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8097cf831489d" /><Relationship Type="http://schemas.openxmlformats.org/officeDocument/2006/relationships/image" Target="/ppt/media/image10.png" Id="R47e5795fa4a949a6" /><Relationship Type="http://schemas.openxmlformats.org/officeDocument/2006/relationships/notesSlide" Target="/ppt/notesSlides/notesSlide10.xml" Id="Rc778988265694c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64958fd184b5f" /><Relationship Type="http://schemas.openxmlformats.org/officeDocument/2006/relationships/image" Target="/ppt/media/image11.png" Id="Rdaaace68a17d43e8" /><Relationship Type="http://schemas.openxmlformats.org/officeDocument/2006/relationships/notesSlide" Target="/ppt/notesSlides/notesSlide11.xml" Id="R5aaf41fecc0046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95b57e4034e84" /><Relationship Type="http://schemas.openxmlformats.org/officeDocument/2006/relationships/image" Target="/ppt/media/image12.png" Id="R24a1cf8d134d402c" /><Relationship Type="http://schemas.openxmlformats.org/officeDocument/2006/relationships/notesSlide" Target="/ppt/notesSlides/notesSlide12.xml" Id="Rb3e441b0443f4e8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0c905166b401a" /><Relationship Type="http://schemas.openxmlformats.org/officeDocument/2006/relationships/notesSlide" Target="/ppt/notesSlides/notesSlide13.xml" Id="R5a9ee7bfe4994aaa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BM25</c:v>
          </c:tx>
          <c:spPr>
            <a:solidFill xmlns:a="http://schemas.openxmlformats.org/drawingml/2006/main">
              <a:srgbClr val="1F5F87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Bachelor CL</c:v>
              </c:pt>
              <c:pt idx="1">
                <c:v>Master CL</c:v>
              </c:pt>
              <c:pt idx="2">
                <c:v>Master Informatik</c:v>
              </c:pt>
            </c:strLit>
          </c:cat>
          <c:val>
            <c:numLit>
              <c:formatCode>0%</c:formatCode>
              <c:ptCount val="3"/>
              <c:pt idx="0">
                <c:v>0.625</c:v>
              </c:pt>
              <c:pt idx="1">
                <c:v>0.5</c:v>
              </c:pt>
              <c:pt idx="2">
                <c:v>0.778</c:v>
              </c:pt>
            </c:numLit>
          </c:val>
        </c:ser>
        <c:ser>
          <c:idx val="1"/>
          <c:order val="1"/>
          <c:tx>
            <c:v>Dense</c:v>
          </c:tx>
          <c:spPr>
            <a:solidFill xmlns:a="http://schemas.openxmlformats.org/drawingml/2006/main">
              <a:srgbClr val="E8752A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Bachelor CL</c:v>
              </c:pt>
              <c:pt idx="1">
                <c:v>Master CL</c:v>
              </c:pt>
              <c:pt idx="2">
                <c:v>Master Informatik</c:v>
              </c:pt>
            </c:strLit>
          </c:cat>
          <c:val>
            <c:numLit>
              <c:formatCode>0%</c:formatCode>
              <c:ptCount val="3"/>
              <c:pt idx="0">
                <c:v>0.125</c:v>
              </c:pt>
              <c:pt idx="1">
                <c:v>0</c:v>
              </c:pt>
              <c:pt idx="2">
                <c:v>0.333</c:v>
              </c:pt>
            </c:numLit>
          </c:val>
        </c:ser>
        <c:ser>
          <c:idx val="2"/>
          <c:order val="2"/>
          <c:tx>
            <c:v>Hybrid</c:v>
          </c:tx>
          <c:spPr>
            <a:solidFill xmlns:a="http://schemas.openxmlformats.org/drawingml/2006/main">
              <a:srgbClr val="006633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Bachelor CL</c:v>
              </c:pt>
              <c:pt idx="1">
                <c:v>Master CL</c:v>
              </c:pt>
              <c:pt idx="2">
                <c:v>Master Informatik</c:v>
              </c:pt>
            </c:strLit>
          </c:cat>
          <c:val>
            <c:numLit>
              <c:formatCode>0%</c:formatCode>
              <c:ptCount val="3"/>
              <c:pt idx="0">
                <c:v>0.5</c:v>
              </c:pt>
              <c:pt idx="1">
                <c:v>0.375</c:v>
              </c:pt>
              <c:pt idx="2">
                <c:v>0.444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7D7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632D7D-A10E-4276-A5B9-2DACA01A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0"/>
            <a:ext cx="93726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3891C-C872-4936-9786-90FDE690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09700"/>
            <a:ext cx="803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1F8A4C"/>
                </a:solidFill>
              </a:defRPr>
            </a:pPr>
            <a:r>
              <a:rPr sz="2550" b="0" i="0">
                <a:solidFill>
                  <a:srgbClr val="1F8A4C"/>
                </a:solidFill>
              </a:rPr>
              <a:t>RAG für LMU-Modulhandbücher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FF1A0-F375-41D9-B560-E14673EE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24100"/>
            <a:ext cx="651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111111"/>
                </a:solidFill>
              </a:defRPr>
            </a:pPr>
            <a:r>
              <a:rPr sz="1950" b="0" i="0">
                <a:solidFill>
                  <a:srgbClr val="111111"/>
                </a:solidFill>
              </a:rPr>
              <a:t>Chunking- und Retrieval-Vergleich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65BE72-3076-4E34-83EE-44FD0FA3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81300"/>
            <a:ext cx="613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111"/>
                </a:solidFill>
              </a:defRPr>
            </a:pPr>
            <a:r>
              <a:rPr sz="1875" b="0" i="0">
                <a:solidFill>
                  <a:srgbClr val="111111"/>
                </a:solidFill>
              </a:rPr>
              <a:t>Selvinaz Tiryaki und Salem Debebe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CEDA8-2B36-49F4-B6EF-28282ACD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765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Masterseminar Suchmaschinen, Retrieval Augmented Generation und Agentensysteme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F7013-8E5F-4F48-A8C7-B9A95A9E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91150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111111"/>
                </a:solidFill>
              </a:defRPr>
            </a:pPr>
            <a:r>
              <a:rPr sz="1950" b="0" i="0">
                <a:solidFill>
                  <a:srgbClr val="111111"/>
                </a:solidFill>
              </a:rPr>
              <a:t>July 1,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099E8-46D2-47DF-82A7-B1CE27A9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86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5DA79-0E84-4D00-8099-211909A7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086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EC253-5835-4920-A23A-07EBB65C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086600"/>
            <a:ext cx="3276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2EF371-7B08-4003-BC84-D3793954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11517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/>
                </a:solidFill>
              </a:defRPr>
            </a:pPr>
            <a:r>
              <a:rPr sz="975" b="0" i="0">
                <a:solidFill>
                  <a:srgbClr val="FFFFFF"/>
                </a:solidFill>
              </a:rPr>
              <a:t>Selvinaz Tiryaki und Salem Debebe (LMU Munich)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64EC4-FB7B-499F-8E30-5CAAABC4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1151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Munich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8EAD2-4C52-45A0-95C0-63605521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1151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July 1,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285AC-7460-4D05-85D7-29303499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71151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1 / 13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5e3de403a41d8"/>
          <a:stretch xmlns:a="http://schemas.openxmlformats.org/drawingml/2006/main"/>
        </p:blipFill>
        <p:spPr>
          <a:xfrm xmlns:a="http://schemas.openxmlformats.org/drawingml/2006/main">
            <a:off x="3733800" y="3353739"/>
            <a:ext cx="2286000" cy="108397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2377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5CC00A-E07E-4AF0-B3CF-37775AB3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95610-57EC-4A56-8B60-83EE9878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524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F8A4C"/>
                </a:solidFill>
              </a:defRPr>
            </a:pPr>
            <a:r>
              <a:rPr sz="2550" b="0" i="0">
                <a:solidFill>
                  <a:srgbClr val="1F8A4C"/>
                </a:solidFill>
              </a:rPr>
              <a:t>Outline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93009-635E-480B-8F36-066E8304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86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94AD9-53DC-4A65-8527-475066DB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086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1D249-402C-43AD-9805-C6864FB5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086600"/>
            <a:ext cx="3276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39381-8286-4FE1-B85A-8544840E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11517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/>
                </a:solidFill>
              </a:defRPr>
            </a:pPr>
            <a:r>
              <a:rPr sz="975" b="0" i="0">
                <a:solidFill>
                  <a:srgbClr val="FFFFFF"/>
                </a:solidFill>
              </a:rPr>
              <a:t>Selvinaz Tiryaki und Salem Debebe (LMU Munich)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8F458-F4F9-45A3-9B35-A5AEFFAA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1151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Munich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A1909-D4CB-4601-8E28-444A224A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1151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July 1,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CF14C-4684-4335-AD75-EA6FC3B4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71151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2 / 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629ED-702B-4B80-A00A-5880F420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4C"/>
          </a:solidFill>
          <a:ln xmlns:a="http://schemas.openxmlformats.org/drawingml/2006/main" w="9525">
            <a:solidFill>
              <a:srgbClr val="C7DB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B14810-2886-4707-B438-1B62F335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9067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1D49D2-1800-49B0-AB05-D01B0AC2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524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11111"/>
                </a:solidFill>
              </a:defRPr>
            </a:pPr>
            <a:r>
              <a:rPr sz="2100" b="0" i="0">
                <a:solidFill>
                  <a:srgbClr val="111111"/>
                </a:solidFill>
              </a:rPr>
              <a:t>Motivation und Fragestellung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01DB3-8F82-485F-A99E-6196B3EA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26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DF"/>
          </a:solidFill>
          <a:ln xmlns:a="http://schemas.openxmlformats.org/drawingml/2006/main" w="9525">
            <a:solidFill>
              <a:srgbClr val="C7DBC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BAC514-AE80-474B-BF59-5A8D72B4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F8A4C"/>
                </a:solidFill>
              </a:defRPr>
            </a:pPr>
            <a:r>
              <a:rPr sz="1050" b="1" i="0">
                <a:solidFill>
                  <a:srgbClr val="1F8A4C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D6DFA-5AE6-494A-B256-166A561F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888888"/>
                </a:solidFill>
              </a:defRPr>
            </a:pPr>
            <a:r>
              <a:rPr sz="2100" b="0" i="0">
                <a:solidFill>
                  <a:srgbClr val="888888"/>
                </a:solidFill>
              </a:rPr>
              <a:t>Korpus und Pipeline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36FC8-BABE-4334-92BE-C9FB073F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DF"/>
          </a:solidFill>
          <a:ln xmlns:a="http://schemas.openxmlformats.org/drawingml/2006/main" w="9525">
            <a:solidFill>
              <a:srgbClr val="C7DB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64E82-5EBC-4B28-8634-5D9C264C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F8A4C"/>
                </a:solidFill>
              </a:defRPr>
            </a:pPr>
            <a:r>
              <a:rPr sz="1050" b="1" i="0">
                <a:solidFill>
                  <a:srgbClr val="1F8A4C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B8482E-D74C-44A9-ADE8-A4234221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86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888888"/>
                </a:solidFill>
              </a:defRPr>
            </a:pPr>
            <a:r>
              <a:rPr sz="2100" b="0" i="0">
                <a:solidFill>
                  <a:srgbClr val="888888"/>
                </a:solidFill>
              </a:rPr>
              <a:t>Chunking- und Retrieval-Strategien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10ED9F-6EE2-42DD-B930-3B39B8B8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DF"/>
          </a:solidFill>
          <a:ln xmlns:a="http://schemas.openxmlformats.org/drawingml/2006/main" w="9525">
            <a:solidFill>
              <a:srgbClr val="C7DBC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457D08-FB6D-4A13-83D8-3CF68F7E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F8A4C"/>
                </a:solidFill>
              </a:defRPr>
            </a:pPr>
            <a:r>
              <a:rPr sz="1050" b="1" i="0">
                <a:solidFill>
                  <a:srgbClr val="1F8A4C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4D5740-C965-46D4-8946-5E2A1899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671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888888"/>
                </a:solidFill>
              </a:defRPr>
            </a:pPr>
            <a:r>
              <a:rPr sz="2100" b="0" i="0">
                <a:solidFill>
                  <a:srgbClr val="888888"/>
                </a:solidFill>
              </a:rPr>
              <a:t>Evaluation und Ergebnisse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0C72CB-7BC6-452D-B33E-75399763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95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DF"/>
          </a:solidFill>
          <a:ln xmlns:a="http://schemas.openxmlformats.org/drawingml/2006/main" w="9525">
            <a:solidFill>
              <a:srgbClr val="C7DBC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8F1BFE-29C1-4F49-8AE0-704312E8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F8A4C"/>
                </a:solidFill>
              </a:defRPr>
            </a:pPr>
            <a:r>
              <a:rPr sz="1050" b="1" i="0">
                <a:solidFill>
                  <a:srgbClr val="1F8A4C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330968-56AF-4015-9CA2-898FE2A9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482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888888"/>
                </a:solidFill>
              </a:defRPr>
            </a:pPr>
            <a:r>
              <a:rPr sz="2100" b="0" i="0">
                <a:solidFill>
                  <a:srgbClr val="888888"/>
                </a:solidFill>
              </a:rPr>
              <a:t>Beispiel, Grenzen und Fazit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8530799b64373"/>
          <a:stretch xmlns:a="http://schemas.openxmlformats.org/drawingml/2006/main"/>
        </p:blipFill>
        <p:spPr>
          <a:xfrm xmlns:a="http://schemas.openxmlformats.org/drawingml/2006/main">
            <a:off x="8199705" y="0"/>
            <a:ext cx="1526641" cy="723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2459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F16197-87FA-401F-BA52-F7AF91F2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2F8B6-08D2-4E5B-ACC5-CA72B506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524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F8A4C"/>
                </a:solidFill>
              </a:defRPr>
            </a:pPr>
            <a:r>
              <a:rPr sz="2550" b="0" i="0">
                <a:solidFill>
                  <a:srgbClr val="1F8A4C"/>
                </a:solidFill>
              </a:rPr>
              <a:t>Motivation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43996-6ED6-4439-B9EB-28F84ADA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86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C72FE4-D7E3-4CF2-928F-FAFD5DC1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086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495E5-9DA6-4A2D-A827-7CD2CE60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086600"/>
            <a:ext cx="3276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BB0F7-4B60-44C7-B876-CAB2A56A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11517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/>
                </a:solidFill>
              </a:defRPr>
            </a:pPr>
            <a:r>
              <a:rPr sz="975" b="0" i="0">
                <a:solidFill>
                  <a:srgbClr val="FFFFFF"/>
                </a:solidFill>
              </a:rPr>
              <a:t>Selvinaz Tiryaki und Salem Debebe (LMU Munich)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86E51-C270-42AE-B800-61818A6C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1151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Munich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FF13A-8465-45B1-9EF2-2B1BF17C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1151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July 1,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9784C-264A-4B0B-BA69-5B9A0D12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71151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3 / 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3E6B0-C355-4F11-A38E-A48B23BD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57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63B87-7DDA-41C2-B3A1-2B90ED44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352550"/>
            <a:ext cx="781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111"/>
                </a:solidFill>
              </a:defRPr>
            </a:pPr>
            <a:r>
              <a:rPr sz="1725" b="0" i="0">
                <a:solidFill>
                  <a:srgbClr val="111111"/>
                </a:solidFill>
              </a:rPr>
              <a:t>Modulhandbücher kombinieren kurze Felder mit längeren Modulbeschreibungen.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33A7A-4387-429C-984B-97D6AF9D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796F55-8ECA-4FFE-AAA4-816AB3AD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33600"/>
            <a:ext cx="781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111"/>
                </a:solidFill>
              </a:defRPr>
            </a:pPr>
            <a:r>
              <a:rPr sz="1725" b="0" i="0">
                <a:solidFill>
                  <a:srgbClr val="111111"/>
                </a:solidFill>
              </a:rPr>
              <a:t>Gesucht werden nicht nur Antworten, sondern belegbare Textstellen.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CB4DB-43ED-4D23-A4ED-A0E22954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86AFA1-0701-4002-B8A8-91840B5E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781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111"/>
                </a:solidFill>
              </a:defRPr>
            </a:pPr>
            <a:r>
              <a:rPr sz="1725" b="0" i="0">
                <a:solidFill>
                  <a:srgbClr val="111111"/>
                </a:solidFill>
              </a:rPr>
              <a:t>Die zentrale Frage: Welche Chunking- und Retrieval-Strategie findet die richtigen Quellen zuverlässig?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0752D2-8776-49CA-85F1-7350CA56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34000"/>
            <a:ext cx="7620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7F2"/>
          </a:solidFill>
          <a:ln xmlns:a="http://schemas.openxmlformats.org/drawingml/2006/main" w="9525">
            <a:solidFill>
              <a:srgbClr val="C8D8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75B71-E3FE-4996-950B-78AAD0E6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05450"/>
            <a:ext cx="720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Praktischer Fokus: ECTS, Prüfungsform, Semester, Inhalte, Studienplan und Ordnungsdokumente.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99285484c64c7c"/>
          <a:stretch xmlns:a="http://schemas.openxmlformats.org/drawingml/2006/main"/>
        </p:blipFill>
        <p:spPr>
          <a:xfrm xmlns:a="http://schemas.openxmlformats.org/drawingml/2006/main">
            <a:off x="8199705" y="0"/>
            <a:ext cx="1526641" cy="723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1956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669B05-3A9D-47EB-9946-4304E98B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BB297-71B3-4225-9C7C-EA73AAB6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524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F8A4C"/>
                </a:solidFill>
              </a:defRPr>
            </a:pPr>
            <a:r>
              <a:rPr sz="2550" b="0" i="0">
                <a:solidFill>
                  <a:srgbClr val="1F8A4C"/>
                </a:solidFill>
              </a:rPr>
              <a:t>Korpus und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0973A-C1D8-42F0-8698-13ECFCA9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86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C6F31-E7C1-478A-AC67-7A360F79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086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62461-D2A2-4067-BAA3-6E5E912B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086600"/>
            <a:ext cx="3276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35A6B-57D5-491B-ACFD-E141CCE6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11517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/>
                </a:solidFill>
              </a:defRPr>
            </a:pPr>
            <a:r>
              <a:rPr sz="975" b="0" i="0">
                <a:solidFill>
                  <a:srgbClr val="FFFFFF"/>
                </a:solidFill>
              </a:rPr>
              <a:t>Selvinaz Tiryaki und Salem Debebe (LMU Munich)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14E55-1085-40E2-AF24-FCF9BEB0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1151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Munich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A57C3-5A3A-455A-8B2B-E550B0C1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1151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July 1,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A3FEF-E695-4249-81B3-2236B919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71151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4 / 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6E333-88F2-4A9A-B736-589649AD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6B93A-59EF-4FD4-98D6-50DC64DE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0492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Korpus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C095B-499E-4F8B-8AA6-E2D25A62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2382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C41949-31F7-4321-B120-92BD0E7B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30492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Field-Chunks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3B7E0-C4E1-480C-87E3-D5F86202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2382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8E4A7-E861-4BC8-8D9C-B83A215F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304925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552701-F320-425D-80F3-A0A29FDB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23825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1D047A-124D-4AA4-8C53-27743BDA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304925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Dokumenttypen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5D6D60-CF57-4DD5-933F-4A29D40A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F17A6C-6614-4AA2-AE09-5059B70F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Bachelor CL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8D5E45-6639-41F5-B626-ACDD237D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954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EFD49D-32B8-4F38-A9CA-E8A539B6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6212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362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C39FDC-D8A0-4070-9697-CD96CDA1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954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785C5D-B2C4-4114-8EF9-E1AE36F8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62125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17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19C7D7-416B-44C2-BF05-FB6722A2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9545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3B672A-A5A7-44E0-819A-BC536C85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62125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Modulhandbuch, Prüfungsordnung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C3A789-DF90-478F-9BDF-2FCB83FD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74694A-55C9-4B64-A26A-A87727DA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Master CL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38A9F0-31BF-4665-B009-448C9251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526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FFE6C4-EA5C-4BE6-AC70-057FE82B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1932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151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D9B562-10BF-4965-A397-175ABFE8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79891D-0A43-44E7-BDCE-E667F22F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19325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E87802-7C94-4D83-B0C3-6096ACF2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5265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12DFA1-B79C-48AC-B8E1-434ED8F0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19325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Modulhandbuch, Prüfungsordnung, Studienplan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E75EF2-F454-4CEF-AD58-C572CE0F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B723CF-D0EB-4CA1-AA24-8FCDFBE7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7652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Master Informatik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855A43-4D7D-4C8B-BF39-B8CAACA6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5738AA-B70E-49BE-A7A3-5F7B1FBA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7652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584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637D33-B6A8-4748-AFB4-4963F0E7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94BDFB-D1D5-4EC8-A35D-0517A583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76525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33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A6AD5C-40D2-4F1E-9BA5-D7BB1C83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0985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98B842-CADA-4AA2-AF9D-2FD63C6B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76525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Modulhandbuch, Prüfungsordnung, Zulassungsinfos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BB0061-81DA-41A7-8C7F-BAEFA3E7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257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DF"/>
          </a:solidFill>
          <a:ln xmlns:a="http://schemas.openxmlformats.org/drawingml/2006/main" w="9525">
            <a:solidFill>
              <a:srgbClr val="1F8A4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349F82-5D76-4D93-BE76-A813033F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110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111"/>
                </a:solidFill>
              </a:defRPr>
            </a:pPr>
            <a:r>
              <a:rPr sz="1425" b="1" i="0">
                <a:solidFill>
                  <a:srgbClr val="111111"/>
                </a:solidFill>
              </a:rPr>
              <a:t>PDFs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E80C6D-EA0C-46DF-A611-091552D9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71950"/>
            <a:ext cx="24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F8A4C"/>
                </a:solidFill>
              </a:defRPr>
            </a:pPr>
            <a:r>
              <a:rPr sz="2250" b="1" i="0">
                <a:solidFill>
                  <a:srgbClr val="1F8A4C"/>
                </a:solidFill>
              </a:rPr>
              <a:t>&gt;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68DB4F-E0ED-420D-807E-1E621ED2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00500"/>
            <a:ext cx="1257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8A4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738845-C7A5-45F7-8478-C22AB7A4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52900"/>
            <a:ext cx="110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Text-</a:t>
            </a:r>
          </a:p>
          <a:p xmlns:a="http://schemas.openxmlformats.org/drawingml/2006/main">
            <a:pPr algn="ctr"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extraktion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2615194-7811-4FBC-AD45-2F49BD5C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71950"/>
            <a:ext cx="24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F8A4C"/>
                </a:solidFill>
              </a:defRPr>
            </a:pPr>
            <a:r>
              <a:rPr sz="2250" b="1" i="0">
                <a:solidFill>
                  <a:srgbClr val="1F8A4C"/>
                </a:solidFill>
              </a:rPr>
              <a:t>&gt;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08951C-0375-49F6-A515-1E228556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1257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8A4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AECAC6-CE83-497C-A941-C0A6A332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52900"/>
            <a:ext cx="110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Chunking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81C599A-1013-470D-A8A6-D5933E4E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71950"/>
            <a:ext cx="24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F8A4C"/>
                </a:solidFill>
              </a:defRPr>
            </a:pPr>
            <a:r>
              <a:rPr sz="2250" b="1" i="0">
                <a:solidFill>
                  <a:srgbClr val="1F8A4C"/>
                </a:solidFill>
              </a:rPr>
              <a:t>&gt;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5CDE2F4-D767-40F9-A6F5-1E718528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00500"/>
            <a:ext cx="1257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8A4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F479B25-DCE4-41EC-A17B-2B43F0D9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52900"/>
            <a:ext cx="110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Retrieval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133145-260D-4B23-8743-E146A905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71950"/>
            <a:ext cx="24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F8A4C"/>
                </a:solidFill>
              </a:defRPr>
            </a:pPr>
            <a:r>
              <a:rPr sz="2250" b="1" i="0">
                <a:solidFill>
                  <a:srgbClr val="1F8A4C"/>
                </a:solidFill>
              </a:rPr>
              <a:t>&gt;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6FAD55-91ED-4931-BBA8-572C4CE4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00500"/>
            <a:ext cx="1257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8A4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EBE17E5-2FD8-4F74-B457-2A6F9767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52900"/>
            <a:ext cx="110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Evaluation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49F6B84-3E9B-47DF-B881-2AC955D7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8001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7F2"/>
          </a:solidFill>
          <a:ln xmlns:a="http://schemas.openxmlformats.org/drawingml/2006/main" w="9525">
            <a:solidFill>
              <a:srgbClr val="C8D8C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2F277C8-90EB-4D54-98B5-C39FE04D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05450"/>
            <a:ext cx="758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Die Korpora sind klein, aber realistisch: strukturierte Felder, Fließtext und studienrechtliche Dokumente liegen nebeneinander.</a:t>
            </a:r>
          </a:p>
        </p:txBody>
      </p:sp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3e35e8b9e422c"/>
          <a:stretch xmlns:a="http://schemas.openxmlformats.org/drawingml/2006/main"/>
        </p:blipFill>
        <p:spPr>
          <a:xfrm xmlns:a="http://schemas.openxmlformats.org/drawingml/2006/main">
            <a:off x="8199705" y="0"/>
            <a:ext cx="1526641" cy="723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181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945D50-BA81-4F5A-BE4D-9D55B526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5C54B-3951-4484-A416-9010C907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524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F8A4C"/>
                </a:solidFill>
              </a:defRPr>
            </a:pPr>
            <a:r>
              <a:rPr sz="2550" b="0" i="0">
                <a:solidFill>
                  <a:srgbClr val="1F8A4C"/>
                </a:solidFill>
              </a:rPr>
              <a:t>Chunking-Strategien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3EF90-09C2-47A2-BF99-D2631C7B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86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EB9C8-8610-41A4-AA76-B7203D71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086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B9530-DD6D-4F5F-9878-3A9CE0C3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086600"/>
            <a:ext cx="3276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68611-01C9-4391-9956-94AB5D9E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11517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/>
                </a:solidFill>
              </a:defRPr>
            </a:pPr>
            <a:r>
              <a:rPr sz="975" b="0" i="0">
                <a:solidFill>
                  <a:srgbClr val="FFFFFF"/>
                </a:solidFill>
              </a:rPr>
              <a:t>Selvinaz Tiryaki und Salem Debebe (LMU Munich)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96788-38C5-4D99-B78A-AC16FE58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1151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Munich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A95A1-2E7D-4FCA-BEBB-5DEF09C9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1151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July 1,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EF85F-9CE6-444E-93C6-C5E55C75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71151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5 / 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1966F-00B6-4B30-A1E1-24818F6D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2DC7F2-E208-43A3-BE8C-61834895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85875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Strategie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DE2FE-87E8-4C37-9548-421830E9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2192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AAA16-65A0-423B-925A-D80BD3C3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285875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Idee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BC6FC-FD45-4A7D-9DCB-4371CE9A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2192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FE0C6-9BB8-43EB-8D69-808241EB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285875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Stärke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A3386E-2A3B-47A4-AB01-5D39FF04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2192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C277A5-51BE-411E-8E31-AEB27669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285875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Risiko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1A9B0-032E-4162-8451-A6BFA0F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6CB280-2BED-4B30-81FB-3A886476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Naive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775321-375D-421C-B267-F40625FE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8097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F18A84-1F29-4F33-85FA-29031062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876425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feste Textfenster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A3F9DF-A43E-48DA-B66A-2A8ECC8C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98D7AA-506D-4D96-8CCE-69D61BC0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76425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einfache 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DA0031-5294-4687-A359-EDFE44CB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097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6068F5-2410-41D8-819C-D3D6F22E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76425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trennt Modul- und Feldgrenzen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2C71CE-F3FB-4090-9CF0-985EDFAA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B3412C-1075-4E92-B08E-4469C320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66975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Module-level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A2B3AF-1B9D-4631-A4E0-C0568F49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003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C8811C-F6B2-4977-AD60-97FA289D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66975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ein Chunk pro Modul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0B5B12-7012-4B9E-9653-F5781F93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4D6A67-EE45-4B3C-89EE-DE3D8EF1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66975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robust für breite Fragen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CC61F2-9E12-4E83-9D35-14CA0BED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003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434228-5BE1-4E00-8BD2-ED8CF906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66975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weniger präzise Belege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35410B-C43D-4C2E-B8F8-11CDECB4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58E856-35D6-4F54-A282-DEC575A9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7525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Field-level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2A354F-3F68-486C-8430-067F78ED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9908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D0AC27-1188-4441-80E2-A4DE2F05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57525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ein Chunk pro Abschnitt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2BCA36-74BD-4F51-BCED-4960661A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908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BB7069-0C7F-4073-ABC2-32227CBB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57525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beste Zitierbarkeit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F4E460-740A-41C8-964B-5DA2A295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908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B0F6A0-30D5-4580-91D8-0B87D38B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57525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bei kombinierten Fragen zu eng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C36C20-B6F3-4916-A39A-856BD952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78486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6F2DF"/>
          </a:solidFill>
          <a:ln xmlns:a="http://schemas.openxmlformats.org/drawingml/2006/main" w="9525">
            <a:solidFill>
              <a:srgbClr val="C8D8C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E20F01-6063-4074-9066-A1081D47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770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Praktische Regel: Field-level für Quellenpräzision, Module-level für breiten Kontext, naive nur als Baseline.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642557-8AD1-405E-BD68-4B4D23B9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6735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 i="1">
                <a:solidFill>
                  <a:srgbClr val="555555"/>
                </a:solidFill>
              </a:defRPr>
            </a:pPr>
            <a:r>
              <a:rPr sz="1650" b="0" i="1">
                <a:solidFill>
                  <a:srgbClr val="555555"/>
                </a:solidFill>
              </a:rPr>
              <a:t>Wichtig für die Verteidigung: Field-level ist nicht pauschal immer Top-1-besser. Es ist vor allem besser dokumentierbar.</a:t>
            </a:r>
          </a:p>
        </p:txBody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ce0793be24421"/>
          <a:stretch xmlns:a="http://schemas.openxmlformats.org/drawingml/2006/main"/>
        </p:blipFill>
        <p:spPr>
          <a:xfrm xmlns:a="http://schemas.openxmlformats.org/drawingml/2006/main">
            <a:off x="8199705" y="0"/>
            <a:ext cx="1526641" cy="723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1065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1F121A-6FDB-4A1E-89AA-942FF488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4315B-C436-4AAD-81AC-760607A7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524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F8A4C"/>
                </a:solidFill>
              </a:defRPr>
            </a:pPr>
            <a:r>
              <a:rPr sz="2550" b="0" i="0">
                <a:solidFill>
                  <a:srgbClr val="1F8A4C"/>
                </a:solidFill>
              </a:rPr>
              <a:t>Retrieval-Strategien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6F616-49D6-4ABC-B2C9-D2376B6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86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4B274-F731-437C-9C78-50BE188F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086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76273-77DB-4C05-8424-68F51385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086600"/>
            <a:ext cx="3276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FB580-C6BB-49FA-A312-AF033665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11517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/>
                </a:solidFill>
              </a:defRPr>
            </a:pPr>
            <a:r>
              <a:rPr sz="975" b="0" i="0">
                <a:solidFill>
                  <a:srgbClr val="FFFFFF"/>
                </a:solidFill>
              </a:rPr>
              <a:t>Selvinaz Tiryaki und Salem Debebe (LMU Munich)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02A62-B1D0-41BB-9548-18D73DB1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1151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Munich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E5D3A-D424-4528-BD85-C6130FFF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1151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July 1,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46A7C-DA03-4DE5-A94A-DDC9F01E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71151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6 / 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BC460-2F88-47E9-A1D1-730DFA74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E12B0-6610-47E3-AAF4-576BB982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8725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Methode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83763-D237-4CA5-8D90-6A3A1A4A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1620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A8D118-A562-4C09-81B3-0DDE5A84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228725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Rolle in der Studie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3E3C2B-1713-4D6D-9FB4-1A61F3E6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16205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1AF2D0-CD93-46E9-B2D8-9408767E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28725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63F860-3D9B-4430-A921-A55B2832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E9381E-B782-4E7D-B8A1-98A5EEA8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BM25 baseline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C03F3F-F115-463B-8362-9D193E40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5811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157DE0-6A7E-4F52-B1D5-C83C7A57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47825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lexikalische Suche ohne section_boost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D09A6D-F86E-444F-91D5-EAE823E8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8115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B96E12-18C8-44EE-99DC-F6723D65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47825"/>
            <a:ext cx="327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faire Basislinie für exakte Begriffe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F4BEEE-E087-48DC-8E63-20D1E741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8123F3-D948-489E-8C53-437937CA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BM25 + field heuristic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9A3798-F23F-40FD-829F-AA585DC3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479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5BB04E-EDC7-4F5F-BA43-A7F2E777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14575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Ablation mit section_boost = 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C7A286-2EEC-4D98-9ADE-CAEEB548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479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9294AC-8115-4714-9FDC-8B38A50C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14575"/>
            <a:ext cx="327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zeigt Einfluss von Abschnittsnamen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8E8A82-ADFB-4059-A897-111F55D4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72B013-A7DF-4BC4-88C1-1C160DDB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Dense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4B1788-8A31-4E02-BF70-0022419F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146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41D4A4-F62E-4E0C-9BC0-6770867F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multilinguales Sentence-Transformer-Modell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6C4647-354F-48CF-9F5A-71476E2B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1465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152F39-14AF-46BE-8C6F-C97BE74D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81325"/>
            <a:ext cx="327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semantisch, aber im kleinen Feldkorpus instabil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115824-B3C8-47E5-A327-4A8D0A01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928AC8-97FC-4C25-B61E-27F04796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Hybrid (.5)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66BAA0-C481-4B51-9CCD-47DD8089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5814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F6295C-44DC-4E95-97AD-9455013F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48075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BM25 + Dense mit alpha = 0.5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061706-52E1-4651-982C-EBAB12F0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814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65A0A1-8543-4E29-9AB1-7813B641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48075"/>
            <a:ext cx="327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hilft bei Top-k/Recall und Inhaltsfragen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F66FB7-EBF8-4102-8D7A-A9BD3123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0200"/>
            <a:ext cx="74676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C8D8C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0698B2-8616-4775-93BA-2DCAFAD2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8165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Nicht verwechseln: BM25 + field heuristic ist keine Baseline, sondern eine separate Ablation.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94cab513b4e7a"/>
          <a:stretch xmlns:a="http://schemas.openxmlformats.org/drawingml/2006/main"/>
        </p:blipFill>
        <p:spPr>
          <a:xfrm xmlns:a="http://schemas.openxmlformats.org/drawingml/2006/main">
            <a:off x="8199705" y="0"/>
            <a:ext cx="1526641" cy="723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58517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AC2233-335F-4D46-A7CD-3F757644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3A746-7617-494A-A0CD-45F9DA67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524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F8A4C"/>
                </a:solidFill>
              </a:defRPr>
            </a:pPr>
            <a:r>
              <a:rPr sz="2550" b="0" i="0">
                <a:solidFill>
                  <a:srgbClr val="1F8A4C"/>
                </a:solidFill>
              </a:rPr>
              <a:t>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21134-7E77-47EF-9EF7-5817D96F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86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C89F9-6B94-41DD-9BA0-37657EBA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086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3AE07-BCFD-4AF5-ABD4-9601D93C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086600"/>
            <a:ext cx="3276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3E0EA-7BC7-4E2C-B9FC-BD667E0F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11517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/>
                </a:solidFill>
              </a:defRPr>
            </a:pPr>
            <a:r>
              <a:rPr sz="975" b="0" i="0">
                <a:solidFill>
                  <a:srgbClr val="FFFFFF"/>
                </a:solidFill>
              </a:rPr>
              <a:t>Selvinaz Tiryaki und Salem Debebe (LMU Munich)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7E10E-F2B7-4E32-AB53-68B6CEF0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1151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Munich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84D05-3FC5-4F79-BE37-655D1629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1151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July 1,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3C6D0-004F-4008-B2E5-88B0513E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71151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7 / 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2277D-9083-4870-98F9-ACBA8B49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5B04D4-9F00-4AEE-BCB1-088EE206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620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111"/>
                </a:solidFill>
              </a:defRPr>
            </a:pPr>
            <a:r>
              <a:rPr sz="1725" b="0" i="0">
                <a:solidFill>
                  <a:srgbClr val="111111"/>
                </a:solidFill>
              </a:rPr>
              <a:t>Top-k: alle finalen Evaluationen mit Top-3.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257079-2CFB-4D64-88EA-F06224D6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76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3CA6D-05D0-4BDC-8F9A-9A9B7AC7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716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111"/>
                </a:solidFill>
              </a:defRPr>
            </a:pPr>
            <a:r>
              <a:rPr sz="1725" b="0" i="0">
                <a:solidFill>
                  <a:srgbClr val="111111"/>
                </a:solidFill>
              </a:rPr>
              <a:t>Strict relevance: Quelle, Modul und Abschnitt müssen passen.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0101DB-B245-4301-8B28-762E864A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86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4C9966-2279-4995-8A54-F4921572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111"/>
                </a:solidFill>
              </a:defRPr>
            </a:pPr>
            <a:r>
              <a:rPr sz="1725" b="0" i="0">
                <a:solidFill>
                  <a:srgbClr val="111111"/>
                </a:solidFill>
              </a:rPr>
              <a:t>Metriken: Hit@1, MRR, nDCG@3, Recall@3 und Precision@3.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281E1-19EA-44E5-BE17-FEB29A47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89D35F-BE98-4B5F-BFC9-E5CF7295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111"/>
                </a:solidFill>
              </a:defRPr>
            </a:pPr>
            <a:r>
              <a:rPr sz="1725" b="0" i="0">
                <a:solidFill>
                  <a:srgbClr val="111111"/>
                </a:solidFill>
              </a:rPr>
              <a:t>Fragetypen: factual, numerical, semester, content und broad-topic.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94ADE2-2C24-4100-88B6-66521E70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2652D9-468B-49E3-B981-6F24E8AD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43425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Korpus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FDD79D-657A-485D-93B6-73BAF17D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767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009259-A505-4F4B-9FEC-9946B84F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43425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Queries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9AA761-B855-4359-877F-6B4B05F6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7675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87D1F2-EA2E-44C3-B041-100E55D2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43425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Hauptzweck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FC04D9-C392-473B-9BE0-4D1874C8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339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FB972F-9E01-432C-9250-24A7DE2C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00625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Bachelor CL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0521EE-4D7E-40CB-8668-03182E5E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339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80615D-5475-4BAE-A08B-422B6E79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00625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41BDD6-6BEE-42FF-9762-3E921E1C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93395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34E5F7-0186-4EC4-9E6E-707CF354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000625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Pilot mit Chunking- und Query-Type-Analyse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46A8BE-9437-419A-80BC-EDE895B9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911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A11131-0E88-4663-946C-0DFAAE9A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57825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Master CL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8D674F-A1E2-47E0-AD98-E9C07725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3911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691659-5B86-4FF3-9A17-F2749F7F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57825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61D5F2-5D4F-4978-9029-E3223309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9115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CD2A5E-C11F-4543-9A73-66CC5E1A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457825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zweiter CL-Korpus für Generalisierung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265845-7CF7-4ABF-AE8D-6D71CA3C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483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C6B123-1D90-4E3D-A6E5-0278DE3F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15025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Master Informatik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A801C3-305D-44F6-9C35-D0F7753D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8483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1C593E-5A63-434E-A9D8-642E4AE4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915025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7D0508-69B6-4856-AECA-9B914BFE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84835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9F8DE9-84A7-4860-A27A-04DA2CC6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915025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strukturierter Modulcode- und Feldfragen-Test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4e1ae1d2df4df4"/>
          <a:stretch xmlns:a="http://schemas.openxmlformats.org/drawingml/2006/main"/>
        </p:blipFill>
        <p:spPr>
          <a:xfrm xmlns:a="http://schemas.openxmlformats.org/drawingml/2006/main">
            <a:off x="8199705" y="0"/>
            <a:ext cx="1526641" cy="723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61790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4E3008-74A2-4437-A083-8595706D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F0D43-8C8F-4C16-ACD7-52AAFD95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524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F8A4C"/>
                </a:solidFill>
              </a:defRPr>
            </a:pPr>
            <a:r>
              <a:rPr sz="2550" b="0" i="0">
                <a:solidFill>
                  <a:srgbClr val="1F8A4C"/>
                </a:solidFill>
              </a:rPr>
              <a:t>Hauptergebnisse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757A2-428A-4311-B1FE-49E4682F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86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A10F9-F3B1-44D8-B9E0-F86EEC89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086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6ACE7-925F-460B-993F-4207F137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086600"/>
            <a:ext cx="3276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26ECF-1AE6-41BB-9DA2-1C9A3204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11517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/>
                </a:solidFill>
              </a:defRPr>
            </a:pPr>
            <a:r>
              <a:rPr sz="975" b="0" i="0">
                <a:solidFill>
                  <a:srgbClr val="FFFFFF"/>
                </a:solidFill>
              </a:rPr>
              <a:t>Selvinaz Tiryaki und Salem Debebe (LMU Munich)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C1D9D-E246-468D-B4FB-E7845F5A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1151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Munich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29EB1-8F31-44E5-AF91-5C51BF10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1151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July 1,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1F321-CE2E-4010-B8EB-BD38DAB0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71151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8 / 13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28650" y="1314450"/>
          <a:ext xmlns:a="http://schemas.openxmlformats.org/drawingml/2006/main" cx="5334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49af391d8b4e3e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AC689-69FD-4E95-B30A-B6780BF6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815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Hit@1 nach Korpus und Retriever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CFCAD-FC36-4065-A726-0D2F7025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57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A237F-C79F-4E3B-A6A5-EE7130EB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525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Master Informatik: BM25 ist Top-1-stärkster Retriever.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5BD7C1-B482-4DA6-8045-4D88E876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57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FE9BF4-A7DB-4903-B507-32346632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Dense allein ist im kleinen Feldkorpus nicht stabil genug.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80339-D44A-41B3-82DD-351D9E2D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57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EA7A8E-0EA0-488F-A0F5-B8018C2D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Hybrid verbessert in Master CL vor allem Recall@3: 0.562.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50051F-AD5C-472F-A4EB-55B1BA2D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669F1-9E3B-476D-9FA6-61641A78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528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Bachelor CL: Feldheuristik erreicht Hit@1/MRR = 0.750.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4c2bf4ecc49f7"/>
          <a:stretch xmlns:a="http://schemas.openxmlformats.org/drawingml/2006/main"/>
        </p:blipFill>
        <p:spPr>
          <a:xfrm xmlns:a="http://schemas.openxmlformats.org/drawingml/2006/main">
            <a:off x="8199705" y="0"/>
            <a:ext cx="1526641" cy="723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4657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8427DD-FCF3-46C7-A7DC-2CF9CC0A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715FF-1122-4491-9EDB-A1DE99F7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524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F8A4C"/>
                </a:solidFill>
              </a:defRPr>
            </a:pPr>
            <a:r>
              <a:rPr sz="2550" b="0" i="0">
                <a:solidFill>
                  <a:srgbClr val="1F8A4C"/>
                </a:solidFill>
              </a:rPr>
              <a:t>Fragetypen im Bachelor-CL-Pilot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D3645-99D7-4E75-A03F-BD94554D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86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DAC4D-31EA-418A-9101-BE6BA5EB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086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1F866-FE29-463C-8B5A-60FBAC3B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086600"/>
            <a:ext cx="3276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A10FA-DAC6-4FA0-A572-C1B3B41C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11517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/>
                </a:solidFill>
              </a:defRPr>
            </a:pPr>
            <a:r>
              <a:rPr sz="975" b="0" i="0">
                <a:solidFill>
                  <a:srgbClr val="FFFFFF"/>
                </a:solidFill>
              </a:rPr>
              <a:t>Selvinaz Tiryaki und Salem Debebe (LMU Munich)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CBE9D-296D-4ABD-8441-87233869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1151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Munich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BAC3B-BA27-45D4-9DA6-5A2373DC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1151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July 1,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E2B71-E3C2-45D2-AEC3-671A5CD1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71151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9 / 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78A44-431B-4B08-BC47-2049D3B4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CE658-A669-4EC9-9D6E-32CDA6A2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28725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Fragetyp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06FAB-F2CD-49D2-B8AD-70AB6FC2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162050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493638-258A-4157-9205-6C274511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2287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50B32A-5012-46FA-8015-C88B9CB7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1620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60B635-3D4B-425F-850A-CCC47C88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22872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Recall@3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09C0EB-7DA2-4968-B953-5F0CDC62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1620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4CC462-2D34-4D6B-ABD1-05834305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22872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MRR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8664B2-0E20-4E48-B389-C3008606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1620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875191-8418-4250-AC2D-0A1F5BBF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22872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Hit@1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8B2AEA-9FA7-49A2-8F7C-F906096B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343975-0694-47DC-A087-B06DC240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85925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overall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907F10-EDA6-471E-A0B3-069F5B3C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19250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8FE605-E242-420B-A864-21830479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859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DF96BF-81D0-4BF1-B24F-1338B1B4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192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1633AF-6DB5-4334-A61A-85E58F7C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68592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0.750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02D0D4-1D8F-42B3-98A8-AA88D4B7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192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E4661D-F81B-4AFC-BC73-4DAA9568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8592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0.750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32EE2B-3C67-4944-A39B-88551B16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192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CDC2A7-E362-4B10-AF69-D6388498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8592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0.750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702E8B-555C-4617-8277-0C5C466D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CF35EB-E9FC-4D74-8D80-5CFA2741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43125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factual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836387-A411-43CE-8D88-7957739E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76450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03AB49-B973-405F-85C6-555C40A6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431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5DCFBD-1D74-438D-9981-3E0C5848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764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AB6135-D690-44FC-BBD1-CD901FF7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4312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1.000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203226-26B3-4556-96F6-29B78363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764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5D9CB8-C019-40FF-B77B-C7CD99C1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4312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1.000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4F1C9C-03D6-4F87-A6DD-4780A7A0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5C6A8F-59A9-4F23-BAB4-F8A37CED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4312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1.000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EAADED-CA17-43EB-ABBA-84EE67D7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F9B944-6C73-4BF7-B708-35497688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0325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numerical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463F39-FABC-4000-820F-8C88312D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33650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F78531-847E-444B-B78B-8813173A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003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7EB157-A691-44F7-B2E4-D46255CF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336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A1E888-98B6-4A24-A654-DE3395E7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0032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1.000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B00170-A8AE-49A2-AC65-5347C310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336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AD7532-9D4C-4AE2-B821-E260630A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0032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1.000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6F54BF-613D-488E-90FE-66DACE1B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336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5FC8C44-24B3-4A0F-83D8-892976FB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0032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1.000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F3C784C-7C8D-4F3A-9EC9-79A8AC2E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F8633E-0177-4565-9ECB-6457FF3C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57525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semester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168F6F5-2359-4A60-811F-84DDC7B9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90850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40D4E1-6DD9-4E65-8F2D-885DEB12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575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925A923-DA24-4603-A23E-BC6E9186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908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CC14FC7-DA54-4B7B-9D76-5DF45C07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5752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1.000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87F6BAD-DE4C-4E7C-910F-4519D935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908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845C5D2-09B1-4909-8448-46B9860F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5752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1.000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F16B67D-A122-4846-9813-4D3D12D8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908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165977A-BCCF-4BDE-911E-164C0D6F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5752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1.000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6F3737B-361A-42AF-BB75-DFB2D6E5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1FF11C8-8B46-4D05-B49F-2B4779BA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14725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content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D3357FF-5EAE-4DE7-9F2A-B6B75F80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48050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66484A4-4808-43E2-AB7C-460D8DCB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147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2C1D1C4-465B-42A6-8023-3F015B2A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480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D5F34BE-FCF6-4E30-AFEC-77C7B041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1472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0.500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9C09366-402D-4A1B-A3F8-F7A2C546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480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21EB755-3BF2-4DA3-9731-2707493B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1472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0.500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47B9C0C-61FA-477A-B3CA-CBA79B35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480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8D70BC2-A7CB-44ED-ABB3-7DA72312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1472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0.500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5E5ED7A-1772-48D8-98ED-9A1B70FB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C6EC94A-2B70-4681-A475-AB7E7A28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71925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broad-topic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8BB3E83-E360-48A3-897D-206C170C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05250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EBE00BE-A7EF-4CFC-8E11-A705409E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719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C4E3378-C9EB-493B-8C06-27427CE0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052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F87FB26-A24C-41BD-ADE4-8C0FA22E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7192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0.500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6051FBD-CD39-4AAA-B0C6-7493FC8D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9052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3CBD4B4-CA71-4177-8D0F-6123B75F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7192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0.500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37EEA4B-BAC7-47B7-B6B0-3E53791B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052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2126C10-5E9E-4649-9C41-B905B02B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7192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0.500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E02B13E-B856-4DAD-8627-4A012FB1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74676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F2DF"/>
          </a:solidFill>
          <a:ln xmlns:a="http://schemas.openxmlformats.org/drawingml/2006/main" w="9525">
            <a:solidFill>
              <a:srgbClr val="C8D8C8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794C668-7FF3-4983-970B-9FF76BD3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91150"/>
            <a:ext cx="704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Factual, numerical und semester-Fragen sind mit klaren Feldsignalen stabil. Content und broad-topic bleiben schwieriger, weil Antworten länger oder über mehrere Module verteilt sind.</a:t>
            </a:r>
          </a:p>
        </p:txBody>
      </p:sp>
      <p:pic>
        <p:nvPicPr>
          <p:cNvPr id="1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ec55d56e24e63"/>
          <a:stretch xmlns:a="http://schemas.openxmlformats.org/drawingml/2006/main"/>
        </p:blipFill>
        <p:spPr>
          <a:xfrm xmlns:a="http://schemas.openxmlformats.org/drawingml/2006/main">
            <a:off x="8199705" y="0"/>
            <a:ext cx="1526641" cy="723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88219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7FFAFE-A8D7-49A5-BB9E-80C4D037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20D75-A248-4140-8AEF-F60DE0C2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524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F8A4C"/>
                </a:solidFill>
              </a:defRPr>
            </a:pPr>
            <a:r>
              <a:rPr sz="2550" b="0" i="0">
                <a:solidFill>
                  <a:srgbClr val="1F8A4C"/>
                </a:solidFill>
              </a:rPr>
              <a:t>Beispiel: Inhalte zu P11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E5CA0-8319-47E8-A539-B289D855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86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B2542-B23A-4968-B1BF-128BEF61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086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92803-CAC8-4BA1-989E-1E390919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086600"/>
            <a:ext cx="3276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04967-4B5F-461A-894D-8CEAB6C0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11517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/>
                </a:solidFill>
              </a:defRPr>
            </a:pPr>
            <a:r>
              <a:rPr sz="975" b="0" i="0">
                <a:solidFill>
                  <a:srgbClr val="FFFFFF"/>
                </a:solidFill>
              </a:rPr>
              <a:t>Selvinaz Tiryaki und Salem Debebe (LMU Munich)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2A738-0BE7-40DD-BE59-6138E4C7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1151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Munich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70938-4575-498B-A98F-00843655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1151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July 1,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E5B96-EEF9-4328-9ACE-F3C57642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71151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10 / 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0C2D2-AC18-4606-8527-FE66497E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Query: Welche Inhalte behandelt P11 Informationsextraktion?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F5892-A93B-41C4-AA9F-EB19F40D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9C6AC-A150-47F0-AB78-24C028F1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Retriever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CF636-1F33-4066-B656-A67D55A1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8097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CC19A-89C3-4FD5-811C-2C107BE3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876425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Top-Treffer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EBC69B-B42A-481D-95A6-DD342E37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097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26375E-C700-409B-8AAF-5D2C8019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76425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Passender Inhaltstreffer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F02523-9179-458B-BD16-2957474F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097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7783C4-3932-41CF-999A-9CC34A52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7642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Take-away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6AA9A3-2B4C-4811-8F97-E3C03C48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34FACB-8900-42F1-A631-2BF25851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371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BM25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3C55B5-E7DB-4525-8DE6-C1F7D3AF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2669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71E67B-2316-4442-BBCD-056C7829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333625"/>
            <a:ext cx="1847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P12 Inhalte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89D1AD-FE28-4142-97FC-63D7FE39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669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3CA6B1-56EC-4AFD-A168-116CE55E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324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P11 Inhalte auf Rang 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0FBD22-C9EE-4D3B-808D-F27A665E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6695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9A50A0-1658-4BD5-B824-0682DBD7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33625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lexikalisch nah, aber falsches Modul zuerst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B567E6-CD6D-4881-A75E-DA05BA00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8FE5AF-97DB-464D-AA01-981D2D51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52775"/>
            <a:ext cx="1371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Hybrid (.5)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7F0B32-B706-4AB9-ABA8-E81A3D5A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861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F148EA-74F0-4B9C-9EA5-BBE331DC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152775"/>
            <a:ext cx="1847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P11 header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8AB233-C684-4042-9E44-F1FCB609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08610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22D010-A402-427A-BEEA-90B0B4AE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52775"/>
            <a:ext cx="2324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P11 Inhalte auf Rang 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24E04D-C908-4AB7-984D-BDCAB031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8610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FF7BDE-9DE8-49D7-A815-9E746608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52775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bringt das richtige Modul sofort nach oben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D5DC36-6CD3-4BA3-A2F4-22AE23D4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7467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7F2"/>
          </a:solidFill>
          <a:ln xmlns:a="http://schemas.openxmlformats.org/drawingml/2006/main" w="9525">
            <a:solidFill>
              <a:srgbClr val="C8D8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C8457F-CFA0-4AD7-9C10-9C054389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0055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Das Beispiel ist gut für die Präsentation: gleiche Frage, gleicher field-Korpus, aber unterschiedliche Ranking-Dynamik.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79BFC-CE8B-4483-AC78-26A66712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34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CEA071-D442-456E-871D-2AFD76D7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BM25 trifft Wörter, aber nicht sofort den intendierten Abschnitt.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3419E6-AFCF-4DBE-A853-526E2FF4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10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6DA056-96C9-4F01-8E92-72E0FF35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055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Hybrid kombiniert exakte Signale mit semantischer Nähe.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5795fa4a949a6"/>
          <a:stretch xmlns:a="http://schemas.openxmlformats.org/drawingml/2006/main"/>
        </p:blipFill>
        <p:spPr>
          <a:xfrm xmlns:a="http://schemas.openxmlformats.org/drawingml/2006/main">
            <a:off x="8199705" y="0"/>
            <a:ext cx="1526641" cy="723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05665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F39DF5-5C25-4B3B-8E37-BB57F824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0E50F-FDA9-49A4-A794-8F838404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524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F8A4C"/>
                </a:solidFill>
              </a:defRPr>
            </a:pPr>
            <a:r>
              <a:rPr sz="2550" b="0" i="0">
                <a:solidFill>
                  <a:srgbClr val="1F8A4C"/>
                </a:solidFill>
              </a:rPr>
              <a:t>Grenzen und Fehlerbilder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544E0-2083-4678-AFD6-F82C94B5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86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A842B-F479-4E44-9C9F-CBC611E8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086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10E28-BF99-4943-99C9-1799A35F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086600"/>
            <a:ext cx="3276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91E85-0BEC-45F8-B665-E8A140EE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11517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/>
                </a:solidFill>
              </a:defRPr>
            </a:pPr>
            <a:r>
              <a:rPr sz="975" b="0" i="0">
                <a:solidFill>
                  <a:srgbClr val="FFFFFF"/>
                </a:solidFill>
              </a:rPr>
              <a:t>Selvinaz Tiryaki und Salem Debebe (LMU Munich)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84653-1CE6-4255-820A-F8A7FF48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1151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Munich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27951-BE57-49CD-A2EA-6FC27EAA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1151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July 1,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3E3A9-0E86-49DB-A343-4B9A85E3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71151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11 / 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4AACF-8461-4E4B-84C5-9293B0DF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66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407B3-A174-48A9-8712-F9C521E6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620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Kleine Pilotsets: Ergebnisse als Projektvergleich, nicht als große Benchmark-Studie darstellen.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E04C11-B970-46D7-9E3D-B3BE9D1F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71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103E4-247F-4B7C-B174-6ACEA19A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669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Field-level Chunks sind sauber zitierbar, können aber bei breiten Fragen zu eng sein.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B8C669-5C72-4946-AAE1-45140739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76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89E8C0-FE18-4742-9985-CF9D096A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Dense Retrieval ist nicht automatisch besser, wenn Modulcodes, Zahlen und Feldnamen entscheidend sind.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C23FFE-C60E-4022-AF30-8E54A46C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81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ECE10-CAEC-48C1-8382-A583459A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Mehrsprachige Fragen separat behandeln; Hauptkorpus und Abschnittstitel sind deutsch.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73C6AA-737A-437D-A008-D5466920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10200"/>
            <a:ext cx="7353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C8D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564EF9-2FFB-41B7-B93B-74E567EE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81650"/>
            <a:ext cx="693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Sicher formulieren: Methode nach Fragetyp wählen, statt einen globalen Gewinner zu behaupten.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ace68a17d43e8"/>
          <a:stretch xmlns:a="http://schemas.openxmlformats.org/drawingml/2006/main"/>
        </p:blipFill>
        <p:spPr>
          <a:xfrm xmlns:a="http://schemas.openxmlformats.org/drawingml/2006/main">
            <a:off x="8199705" y="0"/>
            <a:ext cx="1526641" cy="723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0514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1C2589-DB91-4AC6-B0FA-77A15467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44FA8-49FD-40DF-A835-A1918D15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524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F8A4C"/>
                </a:solidFill>
              </a:defRPr>
            </a:pPr>
            <a:r>
              <a:rPr sz="2550" b="0" i="0">
                <a:solidFill>
                  <a:srgbClr val="1F8A4C"/>
                </a:solidFill>
              </a:rPr>
              <a:t>Fazit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BE62E-BCE2-4DF5-8FDC-9F9875E2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86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1D98C-D613-472A-89AC-ABEDA789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086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6E4B6-0B20-44E7-ABC5-130900AA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086600"/>
            <a:ext cx="3276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5070B-9D96-4334-B793-8934089E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11517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/>
                </a:solidFill>
              </a:defRPr>
            </a:pPr>
            <a:r>
              <a:rPr sz="975" b="0" i="0">
                <a:solidFill>
                  <a:srgbClr val="FFFFFF"/>
                </a:solidFill>
              </a:rPr>
              <a:t>Selvinaz Tiryaki und Salem Debebe (LMU Munich)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46835-3106-4814-AF29-8492A03F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1151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Munich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DD5B6-ED65-4782-A928-7C64C378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1151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July 1,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15D96-0B69-4287-BFB4-5F52EAC8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71151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12 / 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222F8-C4F2-4CC4-8C98-CC4629BE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276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EF4F9-124D-405D-8F12-684114B7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85875"/>
            <a:ext cx="260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Frage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363F5-812E-4468-9041-DC25373A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219200"/>
            <a:ext cx="523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2577B-9957-49EF-84CB-443459B1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285875"/>
            <a:ext cx="508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Empfehlung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017A8A-F342-4097-B490-C44A8DD5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76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1529D-8D8F-4B20-8608-7D627F10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76425"/>
            <a:ext cx="260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exakte Feldfrage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BFA41-76DE-41EB-AF61-81EB704E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09750"/>
            <a:ext cx="523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1EDFD5-2839-4566-B519-B3C3B56B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76425"/>
            <a:ext cx="508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BM25 oder BM25 + Feldheuristik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1C63A3-BF15-45F7-9320-F9028C78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76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33D01F-8F5C-4C95-93AC-6A73BE4B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260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belegbare Quellenstelle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9540EF-ECB7-4787-A7C8-80617144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0300"/>
            <a:ext cx="523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A31C51-05B4-4416-9838-2EF79633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66975"/>
            <a:ext cx="508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Field-level Chunks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518A42-00F7-4C6D-A9D4-BB9714AA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276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97B600-E90F-405A-A109-18750054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57525"/>
            <a:ext cx="260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breiter Modulkontext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8313DF-53B9-4249-B6EB-32140351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90850"/>
            <a:ext cx="523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2623E6-555B-4027-864E-AB709222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57525"/>
            <a:ext cx="508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Module-level oder Hybrid Top-k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C6A5BD-41B7-4BC8-9DF9-B240C2D6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276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74E7C4-7EB7-45D2-862A-5A55428A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48075"/>
            <a:ext cx="260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semantische Inhaltsfrage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55690E-3E8F-4F22-825E-452ECEB0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81400"/>
            <a:ext cx="523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471613-7ED9-4106-8A4F-29B5E445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48075"/>
            <a:ext cx="508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Hybrid prüfen und Top-k erklären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A705FF-0A4F-4F3F-96E4-F58CABA1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7620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2DF"/>
          </a:solidFill>
          <a:ln xmlns:a="http://schemas.openxmlformats.org/drawingml/2006/main" w="9525">
            <a:solidFill>
              <a:srgbClr val="C8D8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144D4D-2F26-439E-A548-4B800703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14950"/>
            <a:ext cx="7200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Kernaussage: RAG für Modulhandbücher ist weniger ein einzelnes Modellproblem als eine Kombination aus guter Textstruktur, passender Suche und ehrlicher Evaluation.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1cf8d134d402c"/>
          <a:stretch xmlns:a="http://schemas.openxmlformats.org/drawingml/2006/main"/>
        </p:blipFill>
        <p:spPr>
          <a:xfrm xmlns:a="http://schemas.openxmlformats.org/drawingml/2006/main">
            <a:off x="8199705" y="0"/>
            <a:ext cx="1526641" cy="723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2956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3E9F0C-E147-490B-8FB2-BAE0CFAC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8039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0" i="0">
                <a:solidFill>
                  <a:srgbClr val="111111"/>
                </a:solidFill>
              </a:defRPr>
            </a:pPr>
            <a:r>
              <a:rPr sz="3600" b="0" i="0">
                <a:solidFill>
                  <a:srgbClr val="111111"/>
                </a:solidFill>
              </a:rPr>
              <a:t>Danke für die Aufmerksamkeit!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FC885-2C44-4854-9E1A-134F971B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48100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1F8A4C"/>
                </a:solidFill>
              </a:defRPr>
            </a:pPr>
            <a:r>
              <a:rPr sz="2550" b="0" i="0">
                <a:solidFill>
                  <a:srgbClr val="1F8A4C"/>
                </a:solidFill>
              </a:rPr>
              <a:t>Fragen?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292FA-F434-4045-A703-E9FB6C28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86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6E67D-54C3-4D9E-B321-3C08866A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086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C8D1A-3E12-4F20-B672-9B2F6CA2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086600"/>
            <a:ext cx="3276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C3C73-0698-445F-9A86-56746C95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11517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/>
                </a:solidFill>
              </a:defRPr>
            </a:pPr>
            <a:r>
              <a:rPr sz="975" b="0" i="0">
                <a:solidFill>
                  <a:srgbClr val="FFFFFF"/>
                </a:solidFill>
              </a:rPr>
              <a:t>Selvinaz Tiryaki und Salem Debebe (LMU Munich)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B7EBC-3B70-4BEA-9D60-9979B333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1151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Munich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8E1D7-28AB-456F-B229-6A50A6E3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1151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July 1,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2A484-7047-459E-BE46-C6AAFF7D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71151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06633"/>
                </a:solidFill>
              </a:defRPr>
            </a:pPr>
            <a:r>
              <a:rPr sz="975" b="0" i="0">
                <a:solidFill>
                  <a:srgbClr val="006633"/>
                </a:solidFill>
              </a:rPr>
              <a:t>13 / 13</a:t>
            </a:r>
          </a:p>
        </p:txBody>
      </p:sp>
    </p:spTree>
    <p:extLst>
      <p:ext uri="{BB962C8B-B14F-4D97-AF65-F5344CB8AC3E}">
        <p14:creationId xmlns:p14="http://schemas.microsoft.com/office/powerpoint/2010/main" val="53369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2026-06-30T23:25:30.2300000Z</dcterms:created>
  <dcterms:modified xsi:type="dcterms:W3CDTF">2026-06-30T23:25:30.2300000Z</dcterms:modified>
</coreProperties>
</file>